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defense presentation for my QM640 Data Analytics Capstone. This presentation is structured from the ground up so both AI specialists and non-AI/mathematics committee members can follow every intuition, statistical test choice, sample-size derivation, literature comparison, empirical result across RQ1 to RQ4, and the roadmap to my future doctoral dissertation.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committee through the 8 modules so they see how basic intuition and statistical rigor precede the empirical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relatable real-world scenario. Show how three different customers enter an Online Travel Agency (OTA) portal and get frustrated by a one-size-fits-all chatbot.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we cannot just use standard Retrieval-Augmented Generation (RAG) or naive KATE few-shot prompting.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make sure non-AI professors have crystal-clear intuition for the 6 building blocks used throughout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addresses Committee Question 2 &amp; 3 on prior literature in business hospitality and dialogue datasets.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literature synthesis covering SBERT/Gemini embeddings, KATE k-NN prompting, and NeMo/Tau-bench guardrails.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table row-by-row during the defense to show mastery of the literature and concrete empirical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committee that RQ1, RQ2, RQ3, and RQ4 are not four separate mini-studies—they are four sequential layers of one engineering and scientific argument.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answers Defense Question 4: What is the authenticity of the datasets, why were they created, and do they match our research?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two-tier Pydantic schema, the cleaning audit table (Table 5), and how the 70/30 golden/test split prevents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univariate comparison between Frames and MultiWOZ (Figure 1) and the bivariate parametric/non-parametric correlations (Figure 2 &amp; Table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Figure 3 (Panel A Spearman heatmap and Panel B PCA biplot) shows that travel behavior forms a continuous 3D manifold structured around Exploration, Decisiveness, and Verbosity.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Crucial slide for both math and non-AI professors: explains WHY One-Way ANOVA, Repeated-Measures ANOVA, 2x2 Factorial ANOVA, and 2x3 Factorial ANOVA are the exact right tools, using everyday analogies.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intuition of F = Signal / Noise, eta-squared = % of variance explained, and how to interpret main effects vs.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to statistics professors on the committee why we run THREE layers of tests on every single hypothesis.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addresses Requirement #2 and Defense Question #1: Explain alpha, beta, power, Cohen's f, and the noncentrality parameter lambda.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4 counterfactual scenarios so the committee sees what goes wrong if a researcher picks arbitrary sample sizes or alpha levels.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other two lambda/horizon parameters in our paper: exponential turn decay lambda_d = 0.15 (Eq. 2) and truncation horizon M = 9 user messages.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committee through Figure 4: Layers 1–2 run offline on D_gold; Layers 3–5 run online on D_test.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Figure 5 to orient the committee before diving into the empirical results of RQ1, RQ2, RQ3, and RQ4.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to read Table 12 and Figures D1-D2. Emphasize why K-Means (k=3) is chosen operationally despite HDBSCAN's higher raw Silhouette on retained points.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intellectual honesty and scientific rigor: explain what our diagnostic audit found on the initial whole-dialogue clusters and why that motivated the representation x truncation breakthrough.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we solved the three flaws: (1) user turns only, (2) truncated to first M=9 user messages, and (3) paired with a validated 16-field LLM behavioral profile.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Table 13 and Table C1 in detail. Point out how all 16 fields of the UserBehaviour schema differentiate Decisive Booker, Open Explorer, and Rigid-Constraint Seeker.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strongest scientific stories in the paper: contrasting Figure E2 (interim primary archetypes) against Figure 6 (refined archetypes).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Table 14 and the pairwise Holm-Bonferroni contrasts in Table E3 so math and non-AI professors see every number clearly.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5 YAML policy rules (Table 9) and how we validated the LLM judge using an independent Gemini 2.5 Pro second judge (kappa = .917).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committee through all 4 panels of Figure 7. Explain why Panel A/C/D have parallel lines while Panel B has sharply crossing/diverging lines.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exact numbers in Table 15 and read the real side-by-side LLM output comparison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the RQ4 closed-loop simulation works, why the 4-option package inventory is realistic, and how Gemini 2.5 Pro validated the customer simulator at 95.6% accuracy (kappa = .933).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committee through Panels A and B of Figure 8. Explain why the turn reduction is steepest (−42.7%) for Rigid-Constraint Seekers.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row of Table 16 so the committee sees both raw turns, log turns, RER, Cohen's d, and non-parametric checks.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Table 11 as the master executive summary of all empirical findings, followed by the concrete business ROI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asked Question #1: What are the assumptions taken to arrive at proper sample sizes?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answer Defense Questions #2 and #3 concisely and authoritatively.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when asked Question #4 about dataset authenticity and fit.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defense Q&amp;A slide covering LLM-as-judge validity, cold-start Turn 1 routing, and Gemini 2.5 Flash/Pro model selection.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the overarching synthesis of the entire capstone: how each question's data builds the complete picture.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the master's capstone findings to the bigger doctoral dissertation topic: 'Dialogue Clustering and Methodologies to be Adapted for Human-Like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concrete 4-pillar plan for your upcoming doctoral dissertation.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summary slide to leave on screen during the committee's open questioning.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09728" cy="6858000"/>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777240"/>
            <a:ext cx="4206240" cy="411480"/>
          </a:xfrm>
          <a:prstGeom prst="round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0F2544"/>
                </a:solidFill>
                <a:latin typeface="Calibri"/>
              </a:rPr>
              <a:t>QM640 CAPSTONE DEFENSE PRESENTATION</a:t>
            </a:r>
          </a:p>
        </p:txBody>
      </p:sp>
      <p:sp>
        <p:nvSpPr>
          <p:cNvPr id="6" name="TextBox 5"/>
          <p:cNvSpPr txBox="1"/>
          <p:nvPr/>
        </p:nvSpPr>
        <p:spPr>
          <a:xfrm>
            <a:off x="914400" y="1417320"/>
            <a:ext cx="10424160" cy="1920240"/>
          </a:xfrm>
          <a:prstGeom prst="rect">
            <a:avLst/>
          </a:prstGeom>
          <a:noFill/>
        </p:spPr>
        <p:txBody>
          <a:bodyPr wrap="square">
            <a:spAutoFit/>
          </a:bodyPr>
          <a:lstStyle/>
          <a:p>
            <a:r>
              <a:rPr sz="3400" b="1" i="0">
                <a:solidFill>
                  <a:srgbClr val="FFFFFF"/>
                </a:solidFill>
                <a:latin typeface="Calibri"/>
              </a:rPr>
              <a:t>Cluster-Adaptive Prompting for Multi-Turn Travel and Tourism Conversational Systems</a:t>
            </a:r>
          </a:p>
        </p:txBody>
      </p:sp>
      <p:sp>
        <p:nvSpPr>
          <p:cNvPr id="7" name="TextBox 6"/>
          <p:cNvSpPr txBox="1"/>
          <p:nvPr/>
        </p:nvSpPr>
        <p:spPr>
          <a:xfrm>
            <a:off x="914400" y="3337560"/>
            <a:ext cx="10424160" cy="1005840"/>
          </a:xfrm>
          <a:prstGeom prst="rect">
            <a:avLst/>
          </a:prstGeom>
          <a:noFill/>
        </p:spPr>
        <p:txBody>
          <a:bodyPr wrap="square">
            <a:spAutoFit/>
          </a:bodyPr>
          <a:lstStyle/>
          <a:p>
            <a:r>
              <a:rPr sz="1700" b="0" i="1">
                <a:solidFill>
                  <a:srgbClr val="D2E1F5"/>
                </a:solidFill>
                <a:latin typeface="Calibri"/>
              </a:rPr>
              <a:t>A Neuro-Symbolic Framework Coupling Early-Turn Behavioral-Semantic Archetype Routing, Slot-Masked FAISS In-Context Learning, and Declarative Policy Verification</a:t>
            </a:r>
          </a:p>
        </p:txBody>
      </p:sp>
      <p:sp>
        <p:nvSpPr>
          <p:cNvPr id="8" name="Rectangle 7"/>
          <p:cNvSpPr/>
          <p:nvPr/>
        </p:nvSpPr>
        <p:spPr>
          <a:xfrm>
            <a:off x="914400" y="4434840"/>
            <a:ext cx="10332720" cy="27432"/>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617720"/>
            <a:ext cx="10332720" cy="1737360"/>
          </a:xfrm>
          <a:prstGeom prst="rect">
            <a:avLst/>
          </a:prstGeom>
          <a:noFill/>
        </p:spPr>
        <p:txBody>
          <a:bodyPr wrap="square">
            <a:spAutoFit/>
          </a:bodyPr>
          <a:lstStyle/>
          <a:p>
            <a:pPr>
              <a:spcAft>
                <a:spcPts val="400"/>
              </a:spcAft>
            </a:pPr>
            <a:r>
              <a:rPr sz="1400" b="1" i="0">
                <a:solidFill>
                  <a:srgbClr val="FFFFFF"/>
                </a:solidFill>
                <a:latin typeface="Calibri"/>
              </a:rPr>
              <a:t>Author:</a:t>
            </a:r>
            <a:r>
              <a:rPr sz="1400" b="0" i="0">
                <a:solidFill>
                  <a:srgbClr val="FFFFFF"/>
                </a:solidFill>
                <a:latin typeface="Calibri"/>
              </a:rPr>
              <a:t> Surnella Sandeep  |  </a:t>
            </a:r>
            <a:r>
              <a:rPr sz="1400" b="1" i="0">
                <a:solidFill>
                  <a:srgbClr val="FFFFFF"/>
                </a:solidFill>
                <a:latin typeface="Calibri"/>
              </a:rPr>
              <a:t>Course:</a:t>
            </a:r>
            <a:r>
              <a:rPr sz="1400" b="0" i="0">
                <a:solidFill>
                  <a:srgbClr val="FFFFFF"/>
                </a:solidFill>
                <a:latin typeface="Calibri"/>
              </a:rPr>
              <a:t> QM640: Data Analytics Capstone (Department of Data Analytics, Walsh College)</a:t>
            </a:r>
          </a:p>
          <a:p>
            <a:pPr>
              <a:spcAft>
                <a:spcPts val="400"/>
              </a:spcAft>
            </a:pPr>
            <a:r>
              <a:rPr sz="1400" b="1" i="0">
                <a:solidFill>
                  <a:srgbClr val="FFFFFF"/>
                </a:solidFill>
                <a:latin typeface="Calibri"/>
              </a:rPr>
              <a:t>Instructor &amp; Capstone Mentor:</a:t>
            </a:r>
            <a:r>
              <a:rPr sz="1400" b="0" i="0">
                <a:solidFill>
                  <a:srgbClr val="FFFFFF"/>
                </a:solidFill>
                <a:latin typeface="Calibri"/>
              </a:rPr>
              <a:t> Mr. Smitraj Raut  |  </a:t>
            </a:r>
            <a:r>
              <a:rPr sz="1400" b="1" i="0">
                <a:solidFill>
                  <a:srgbClr val="FFFFFF"/>
                </a:solidFill>
                <a:latin typeface="Calibri"/>
              </a:rPr>
              <a:t>Date:</a:t>
            </a:r>
            <a:r>
              <a:rPr sz="1400" b="0" i="0">
                <a:solidFill>
                  <a:srgbClr val="FFFFFF"/>
                </a:solidFill>
                <a:latin typeface="Calibri"/>
              </a:rPr>
              <a:t> October 2026</a:t>
            </a:r>
          </a:p>
          <a:p>
            <a:pPr>
              <a:spcAft>
                <a:spcPts val="400"/>
              </a:spcAft>
            </a:pPr>
            <a:r>
              <a:rPr sz="1400" b="1" i="0">
                <a:solidFill>
                  <a:srgbClr val="FFFFFF"/>
                </a:solidFill>
                <a:latin typeface="Calibri"/>
              </a:rPr>
              <a:t>Reproducible Code &amp; Data Repository:</a:t>
            </a:r>
            <a:r>
              <a:rPr sz="1400" b="0" i="0">
                <a:solidFill>
                  <a:srgbClr val="FFFFFF"/>
                </a:solidFill>
                <a:latin typeface="Calibri"/>
              </a:rPr>
              <a:t> https://github.com/surnella/QM640-Dialogue-Clustering-Capstone</a:t>
            </a:r>
          </a:p>
          <a:p>
            <a:pPr>
              <a:spcAft>
                <a:spcPts val="400"/>
              </a:spcAft>
            </a:pPr>
            <a:r>
              <a:rPr sz="1400" b="1" i="0">
                <a:solidFill>
                  <a:srgbClr val="FFFFFF"/>
                </a:solidFill>
                <a:latin typeface="Calibri"/>
              </a:rPr>
              <a:t>Empirical Scope:</a:t>
            </a:r>
            <a:r>
              <a:rPr sz="1400" b="0" i="0">
                <a:solidFill>
                  <a:srgbClr val="FFFFFF"/>
                </a:solidFill>
                <a:latin typeface="Calibri"/>
              </a:rPr>
              <a:t> 2,833 Analytic Human Dialogues (Microsoft Frames N = 1,334; MultiWOZ 2.2 N = 1,499) + ~8,900 Gemini 2.5 Flash/Pro Evaluations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1: FOUNDATIONS &amp; STORY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Presentation Roadmap: Building the Story from Basics to Defense Synthesis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An 8-module progressive narrative designed for both AI/ML specialists and statistical/business domain experts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27889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1. Ground-Up Basics (Slides 1–5)</a:t>
            </a:r>
          </a:p>
        </p:txBody>
      </p:sp>
      <p:sp>
        <p:nvSpPr>
          <p:cNvPr id="13" name="TextBox 12"/>
          <p:cNvSpPr txBox="1"/>
          <p:nvPr/>
        </p:nvSpPr>
        <p:spPr>
          <a:xfrm>
            <a:off x="411479" y="17556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Why static travel chatbots frustrate real travelers.</a:t>
            </a:r>
          </a:p>
          <a:p>
            <a:pPr>
              <a:spcAft>
                <a:spcPts val="400"/>
              </a:spcAft>
            </a:pPr>
            <a:r>
              <a:rPr sz="1200" b="0" i="0">
                <a:solidFill>
                  <a:srgbClr val="1E2430"/>
                </a:solidFill>
                <a:latin typeface="Calibri"/>
              </a:rPr>
              <a:t>• Why naive few-shot AI prompts leak entities &amp; break rules.</a:t>
            </a:r>
          </a:p>
          <a:p>
            <a:pPr>
              <a:spcAft>
                <a:spcPts val="400"/>
              </a:spcAft>
            </a:pPr>
            <a:r>
              <a:rPr sz="1200" b="0" i="0">
                <a:solidFill>
                  <a:srgbClr val="1E2430"/>
                </a:solidFill>
                <a:latin typeface="Calibri"/>
              </a:rPr>
              <a:t>• Plain-English glossary: Embeddings, Clustering, FAISS, Symbolic Rules, Turn Economy.</a:t>
            </a:r>
          </a:p>
        </p:txBody>
      </p:sp>
      <p:sp>
        <p:nvSpPr>
          <p:cNvPr id="14" name="Rounded Rectangle 13"/>
          <p:cNvSpPr/>
          <p:nvPr/>
        </p:nvSpPr>
        <p:spPr>
          <a:xfrm>
            <a:off x="3246120" y="13716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46120" y="1371600"/>
            <a:ext cx="2788920"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2. Literature &amp; Novelty (Slides 6–9)</a:t>
            </a:r>
          </a:p>
        </p:txBody>
      </p:sp>
      <p:sp>
        <p:nvSpPr>
          <p:cNvPr id="16" name="TextBox 15"/>
          <p:cNvSpPr txBox="1"/>
          <p:nvPr/>
        </p:nvSpPr>
        <p:spPr>
          <a:xfrm>
            <a:off x="3337560" y="17556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26 peer-reviewed studies across 4 streams.</a:t>
            </a:r>
          </a:p>
          <a:p>
            <a:pPr>
              <a:spcAft>
                <a:spcPts val="400"/>
              </a:spcAft>
            </a:pPr>
            <a:r>
              <a:rPr sz="1200" b="0" i="0">
                <a:solidFill>
                  <a:srgbClr val="1E2430"/>
                </a:solidFill>
                <a:latin typeface="Calibri"/>
              </a:rPr>
              <a:t>• How we build on prior work &amp; where prior papers stop.</a:t>
            </a:r>
          </a:p>
          <a:p>
            <a:pPr>
              <a:spcAft>
                <a:spcPts val="400"/>
              </a:spcAft>
            </a:pPr>
            <a:r>
              <a:rPr sz="1200" b="0" i="0">
                <a:solidFill>
                  <a:srgbClr val="1E2430"/>
                </a:solidFill>
                <a:latin typeface="Calibri"/>
              </a:rPr>
              <a:t>• Concrete data examples from RQ1–RQ4 proving our unique contributions.</a:t>
            </a:r>
          </a:p>
        </p:txBody>
      </p:sp>
      <p:sp>
        <p:nvSpPr>
          <p:cNvPr id="17" name="Rounded Rectangle 16"/>
          <p:cNvSpPr/>
          <p:nvPr/>
        </p:nvSpPr>
        <p:spPr>
          <a:xfrm>
            <a:off x="6172200" y="13716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371600"/>
            <a:ext cx="2788920"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3. Data Authenticity &amp; EDA (Slides 10–13)</a:t>
            </a:r>
          </a:p>
        </p:txBody>
      </p:sp>
      <p:sp>
        <p:nvSpPr>
          <p:cNvPr id="19" name="TextBox 18"/>
          <p:cNvSpPr txBox="1"/>
          <p:nvPr/>
        </p:nvSpPr>
        <p:spPr>
          <a:xfrm>
            <a:off x="6263640" y="17556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Why Microsoft Frames &amp; MultiWOZ 2.2 were created &amp; why they fit.</a:t>
            </a:r>
          </a:p>
          <a:p>
            <a:pPr>
              <a:spcAft>
                <a:spcPts val="400"/>
              </a:spcAft>
            </a:pPr>
            <a:r>
              <a:rPr sz="1200" b="0" i="0">
                <a:solidFill>
                  <a:srgbClr val="1E2430"/>
                </a:solidFill>
                <a:latin typeface="Calibri"/>
              </a:rPr>
              <a:t>• Two-tier Pydantic schema &amp; 70/30 leakage-free split.</a:t>
            </a:r>
          </a:p>
          <a:p>
            <a:pPr>
              <a:spcAft>
                <a:spcPts val="400"/>
              </a:spcAft>
            </a:pPr>
            <a:r>
              <a:rPr sz="1200" b="0" i="0">
                <a:solidFill>
                  <a:srgbClr val="1E2430"/>
                </a:solidFill>
                <a:latin typeface="Calibri"/>
              </a:rPr>
              <a:t>• Univariate, Bivariate &amp; Multivariate PCA insights.</a:t>
            </a:r>
          </a:p>
        </p:txBody>
      </p:sp>
      <p:sp>
        <p:nvSpPr>
          <p:cNvPr id="20" name="Rounded Rectangle 19"/>
          <p:cNvSpPr/>
          <p:nvPr/>
        </p:nvSpPr>
        <p:spPr>
          <a:xfrm>
            <a:off x="9098280" y="1371600"/>
            <a:ext cx="2770632"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98280" y="1371600"/>
            <a:ext cx="2770632" cy="329184"/>
          </a:xfrm>
          <a:prstGeom prst="roundRect">
            <a:avLst>
              <a:gd name="adj" fmla="val 2000"/>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4. Statistical Foundations (Slides 14–19)</a:t>
            </a:r>
          </a:p>
        </p:txBody>
      </p:sp>
      <p:sp>
        <p:nvSpPr>
          <p:cNvPr id="22" name="TextBox 21"/>
          <p:cNvSpPr txBox="1"/>
          <p:nvPr/>
        </p:nvSpPr>
        <p:spPr>
          <a:xfrm>
            <a:off x="9189719" y="1755648"/>
            <a:ext cx="2587751"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Why ANOVA, RM-ANOVA, and 2×2 / 2×3 Factorial ANOVA were chosen.</a:t>
            </a:r>
          </a:p>
          <a:p>
            <a:pPr>
              <a:spcAft>
                <a:spcPts val="400"/>
              </a:spcAft>
            </a:pPr>
            <a:r>
              <a:rPr sz="1200" b="0" i="0">
                <a:solidFill>
                  <a:srgbClr val="1E2430"/>
                </a:solidFill>
                <a:latin typeface="Calibri"/>
              </a:rPr>
              <a:t>• Everyday real-world analogies for every test.</a:t>
            </a:r>
          </a:p>
          <a:p>
            <a:pPr>
              <a:spcAft>
                <a:spcPts val="400"/>
              </a:spcAft>
            </a:pPr>
            <a:r>
              <a:rPr sz="1200" b="0" i="0">
                <a:solidFill>
                  <a:srgbClr val="1E2430"/>
                </a:solidFill>
                <a:latin typeface="Calibri"/>
              </a:rPr>
              <a:t>• Why α=.05, Power=.80, f=.25, λ are standard &amp; what fails if mischosen.</a:t>
            </a:r>
          </a:p>
        </p:txBody>
      </p:sp>
      <p:sp>
        <p:nvSpPr>
          <p:cNvPr id="23" name="Rounded Rectangle 22"/>
          <p:cNvSpPr/>
          <p:nvPr/>
        </p:nvSpPr>
        <p:spPr>
          <a:xfrm>
            <a:off x="320040" y="38862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20040" y="3886200"/>
            <a:ext cx="27889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5. System Architecture (Slides 20–21)</a:t>
            </a:r>
          </a:p>
        </p:txBody>
      </p:sp>
      <p:sp>
        <p:nvSpPr>
          <p:cNvPr id="25" name="TextBox 24"/>
          <p:cNvSpPr txBox="1"/>
          <p:nvPr/>
        </p:nvSpPr>
        <p:spPr>
          <a:xfrm>
            <a:off x="411479" y="42702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5-Layer Neuro-Symbolic Architecture diagram.</a:t>
            </a:r>
          </a:p>
          <a:p>
            <a:pPr>
              <a:spcAft>
                <a:spcPts val="400"/>
              </a:spcAft>
            </a:pPr>
            <a:r>
              <a:rPr sz="1200" b="0" i="0">
                <a:solidFill>
                  <a:srgbClr val="1E2430"/>
                </a:solidFill>
                <a:latin typeface="Calibri"/>
              </a:rPr>
              <a:t>• Offline Golden Discovery (n=933) vs. Online Runtime (n=401).</a:t>
            </a:r>
          </a:p>
          <a:p>
            <a:pPr>
              <a:spcAft>
                <a:spcPts val="400"/>
              </a:spcAft>
            </a:pPr>
            <a:r>
              <a:rPr sz="1200" b="0" i="0">
                <a:solidFill>
                  <a:srgbClr val="1E2430"/>
                </a:solidFill>
                <a:latin typeface="Calibri"/>
              </a:rPr>
              <a:t>• Step-by-step execution workflows for RQ1 to RQ4.</a:t>
            </a:r>
          </a:p>
        </p:txBody>
      </p:sp>
      <p:sp>
        <p:nvSpPr>
          <p:cNvPr id="26" name="Rounded Rectangle 25"/>
          <p:cNvSpPr/>
          <p:nvPr/>
        </p:nvSpPr>
        <p:spPr>
          <a:xfrm>
            <a:off x="3246120" y="38862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46120" y="3886200"/>
            <a:ext cx="2788920"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6. Deep-Dive Results RQ1–RQ4 (Slides 22–34)</a:t>
            </a:r>
          </a:p>
        </p:txBody>
      </p:sp>
      <p:sp>
        <p:nvSpPr>
          <p:cNvPr id="28" name="TextBox 27"/>
          <p:cNvSpPr txBox="1"/>
          <p:nvPr/>
        </p:nvSpPr>
        <p:spPr>
          <a:xfrm>
            <a:off x="3337560" y="42702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RQ1: 159-run clustering + M=9 Blocks router (κ = .535–.958).</a:t>
            </a:r>
          </a:p>
          <a:p>
            <a:pPr>
              <a:spcAft>
                <a:spcPts val="400"/>
              </a:spcAft>
            </a:pPr>
            <a:r>
              <a:rPr sz="1200" b="0" i="0">
                <a:solidFill>
                  <a:srgbClr val="1E2430"/>
                </a:solidFill>
                <a:latin typeface="Calibri"/>
              </a:rPr>
              <a:t>• RQ2: Why Primary failed (p=.211) &amp; Refined succeeded (p&lt;.001).</a:t>
            </a:r>
          </a:p>
          <a:p>
            <a:pPr>
              <a:spcAft>
                <a:spcPts val="400"/>
              </a:spcAft>
            </a:pPr>
            <a:r>
              <a:rPr sz="1200" b="0" i="0">
                <a:solidFill>
                  <a:srgbClr val="1E2430"/>
                </a:solidFill>
                <a:latin typeface="Calibri"/>
              </a:rPr>
              <a:t>• RQ3: 2×2 Rules × Prompting (0% leakage, 98.6% compliance).</a:t>
            </a:r>
          </a:p>
          <a:p>
            <a:pPr>
              <a:spcAft>
                <a:spcPts val="400"/>
              </a:spcAft>
            </a:pPr>
            <a:r>
              <a:rPr sz="1200" b="0" i="0">
                <a:solidFill>
                  <a:srgbClr val="1E2430"/>
                </a:solidFill>
                <a:latin typeface="Calibri"/>
              </a:rPr>
              <a:t>• RQ4: 2×3 Turn Economy (−29.5% to −42.7% turns, 0% RER).</a:t>
            </a:r>
          </a:p>
        </p:txBody>
      </p:sp>
      <p:sp>
        <p:nvSpPr>
          <p:cNvPr id="29" name="Rounded Rectangle 28"/>
          <p:cNvSpPr/>
          <p:nvPr/>
        </p:nvSpPr>
        <p:spPr>
          <a:xfrm>
            <a:off x="6172200" y="3886200"/>
            <a:ext cx="2788920"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72200" y="3886200"/>
            <a:ext cx="2788920"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7. Defense Q&amp;A Bank (Slides 35–38)</a:t>
            </a:r>
          </a:p>
        </p:txBody>
      </p:sp>
      <p:sp>
        <p:nvSpPr>
          <p:cNvPr id="31" name="TextBox 30"/>
          <p:cNvSpPr txBox="1"/>
          <p:nvPr/>
        </p:nvSpPr>
        <p:spPr>
          <a:xfrm>
            <a:off x="6263640" y="4270248"/>
            <a:ext cx="2606039"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Direct answers to anticipated committee questions:</a:t>
            </a:r>
          </a:p>
          <a:p>
            <a:pPr>
              <a:spcAft>
                <a:spcPts val="400"/>
              </a:spcAft>
            </a:pPr>
            <a:r>
              <a:rPr sz="1200" b="0" i="0">
                <a:solidFill>
                  <a:srgbClr val="1E2430"/>
                </a:solidFill>
                <a:latin typeface="Calibri"/>
              </a:rPr>
              <a:t>• (1) Sample size assumptions; (2) Prior work used;</a:t>
            </a:r>
          </a:p>
          <a:p>
            <a:pPr>
              <a:spcAft>
                <a:spcPts val="400"/>
              </a:spcAft>
            </a:pPr>
            <a:r>
              <a:rPr sz="1200" b="0" i="0">
                <a:solidFill>
                  <a:srgbClr val="1E2430"/>
                </a:solidFill>
                <a:latin typeface="Calibri"/>
              </a:rPr>
              <a:t>• (3) Unique novelty; (4) Dataset authenticity &amp; fit;</a:t>
            </a:r>
          </a:p>
          <a:p>
            <a:pPr>
              <a:spcAft>
                <a:spcPts val="400"/>
              </a:spcAft>
            </a:pPr>
            <a:r>
              <a:rPr sz="1200" b="0" i="0">
                <a:solidFill>
                  <a:srgbClr val="1E2430"/>
                </a:solidFill>
                <a:latin typeface="Calibri"/>
              </a:rPr>
              <a:t>• (5) Dual-LLM judge &amp; simulator validity.</a:t>
            </a:r>
          </a:p>
        </p:txBody>
      </p:sp>
      <p:sp>
        <p:nvSpPr>
          <p:cNvPr id="32" name="Rounded Rectangle 31"/>
          <p:cNvSpPr/>
          <p:nvPr/>
        </p:nvSpPr>
        <p:spPr>
          <a:xfrm>
            <a:off x="9098280" y="3886200"/>
            <a:ext cx="2770632" cy="23317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98280" y="3886200"/>
            <a:ext cx="2770632"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8. Dissertation Roadmap (Slides 39–42)</a:t>
            </a:r>
          </a:p>
        </p:txBody>
      </p:sp>
      <p:sp>
        <p:nvSpPr>
          <p:cNvPr id="34" name="TextBox 33"/>
          <p:cNvSpPr txBox="1"/>
          <p:nvPr/>
        </p:nvSpPr>
        <p:spPr>
          <a:xfrm>
            <a:off x="9189719" y="4270248"/>
            <a:ext cx="2587751" cy="1892807"/>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Unified causal story across all 4 RQs.</a:t>
            </a:r>
          </a:p>
          <a:p>
            <a:pPr>
              <a:spcAft>
                <a:spcPts val="400"/>
              </a:spcAft>
            </a:pPr>
            <a:r>
              <a:rPr sz="1200" b="0" i="0">
                <a:solidFill>
                  <a:srgbClr val="1E2430"/>
                </a:solidFill>
                <a:latin typeface="Calibri"/>
              </a:rPr>
              <a:t>• Limitations that bound the master's capstone.</a:t>
            </a:r>
          </a:p>
          <a:p>
            <a:pPr>
              <a:spcAft>
                <a:spcPts val="400"/>
              </a:spcAft>
            </a:pPr>
            <a:r>
              <a:rPr sz="1200" b="0" i="0">
                <a:solidFill>
                  <a:srgbClr val="1E2430"/>
                </a:solidFill>
                <a:latin typeface="Calibri"/>
              </a:rPr>
              <a:t>• Doctoral Dissertation: 'Dialogue Clustering &amp; Methodologies for Human-Like Conversations'.</a:t>
            </a:r>
          </a:p>
        </p:txBody>
      </p:sp>
      <p:sp>
        <p:nvSpPr>
          <p:cNvPr id="35" name="Rounded Rectangle 34"/>
          <p:cNvSpPr/>
          <p:nvPr/>
        </p:nvSpPr>
        <p:spPr>
          <a:xfrm>
            <a:off x="320040" y="6263640"/>
            <a:ext cx="11548872" cy="310896"/>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Core Thesis:</a:t>
            </a:r>
            <a:r>
              <a:rPr sz="1100" b="0" i="0">
                <a:solidFill>
                  <a:srgbClr val="1E2430"/>
                </a:solidFill>
                <a:latin typeface="Calibri"/>
              </a:rPr>
              <a:t> Personalizing chatbot style without symbolic guardrails causes hallucinations (35.9% leakage); enforcing rules without persona routing causes rigid, repetitive dialogues. Combining both yields a Pareto-optimal travel assistant.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1: FOUNDATIONS &amp; STORY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The Real-World Business Problem: Why Static Travel Chatbots Fail</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Travelers do not all shop the same way—yet commercial chatbots force every customer through one static script</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3703320" cy="40690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37033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Customer Type A: The Decisive Booker (45.0%)</a:t>
            </a:r>
          </a:p>
        </p:txBody>
      </p:sp>
      <p:sp>
        <p:nvSpPr>
          <p:cNvPr id="13" name="TextBox 12"/>
          <p:cNvSpPr txBox="1"/>
          <p:nvPr/>
        </p:nvSpPr>
        <p:spPr>
          <a:xfrm>
            <a:off x="411479" y="1755648"/>
            <a:ext cx="3520439" cy="3630168"/>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a:t>
            </a:r>
            <a:r>
              <a:rPr sz="1200" b="1" i="0">
                <a:solidFill>
                  <a:srgbClr val="1E2430"/>
                </a:solidFill>
                <a:latin typeface="Calibri"/>
              </a:rPr>
              <a:t>How they talk (Frames ID e2c09f7a):</a:t>
            </a:r>
          </a:p>
          <a:p>
            <a:pPr>
              <a:spcAft>
                <a:spcPts val="400"/>
              </a:spcAft>
            </a:pPr>
            <a:r>
              <a:rPr sz="1100" b="0" i="0">
                <a:solidFill>
                  <a:srgbClr val="1E2430"/>
                </a:solidFill>
                <a:latin typeface="Calibri"/>
              </a:rPr>
              <a:t>    ▪ </a:t>
            </a:r>
            <a:r>
              <a:rPr sz="1100" b="0" i="1">
                <a:solidFill>
                  <a:srgbClr val="1E2430"/>
                </a:solidFill>
                <a:latin typeface="Calibri"/>
              </a:rPr>
              <a:t>'I need a 5-night package from Dallas to Cancun departing Aug 12 for 2 adults under $2,400.'</a:t>
            </a:r>
          </a:p>
          <a:p>
            <a:pPr>
              <a:spcAft>
                <a:spcPts val="400"/>
              </a:spcAft>
            </a:pPr>
            <a:r>
              <a:rPr sz="1200" b="0" i="0">
                <a:solidFill>
                  <a:srgbClr val="1E2430"/>
                </a:solidFill>
                <a:latin typeface="Calibri"/>
              </a:rPr>
              <a:t>• </a:t>
            </a:r>
            <a:r>
              <a:rPr sz="1200" b="1" i="0">
                <a:solidFill>
                  <a:srgbClr val="1E2430"/>
                </a:solidFill>
                <a:latin typeface="Calibri"/>
              </a:rPr>
              <a:t>What they want:</a:t>
            </a:r>
            <a:r>
              <a:rPr sz="1200" b="0" i="0">
                <a:solidFill>
                  <a:srgbClr val="1E2430"/>
                </a:solidFill>
                <a:latin typeface="Calibri"/>
              </a:rPr>
              <a:t> Immediate confirmation of the best matching package and direct booking.</a:t>
            </a:r>
          </a:p>
          <a:p>
            <a:pPr>
              <a:spcAft>
                <a:spcPts val="400"/>
              </a:spcAft>
            </a:pPr>
            <a:r>
              <a:rPr sz="1200" b="0" i="0">
                <a:solidFill>
                  <a:srgbClr val="1E2430"/>
                </a:solidFill>
                <a:latin typeface="Calibri"/>
              </a:rPr>
              <a:t>• </a:t>
            </a:r>
            <a:r>
              <a:rPr sz="1200" b="1" i="0">
                <a:solidFill>
                  <a:srgbClr val="1E2430"/>
                </a:solidFill>
                <a:latin typeface="Calibri"/>
              </a:rPr>
              <a:t>How a Static Chatbot fails them:</a:t>
            </a:r>
          </a:p>
          <a:p>
            <a:pPr>
              <a:spcAft>
                <a:spcPts val="400"/>
              </a:spcAft>
            </a:pPr>
            <a:r>
              <a:rPr sz="1100" b="0" i="0">
                <a:solidFill>
                  <a:srgbClr val="1E2430"/>
                </a:solidFill>
                <a:latin typeface="Calibri"/>
              </a:rPr>
              <a:t>    ▪ Follows a slow 8-step intake script; re-asks slots already stated in Turn 1 (19.4% Redundant Elicitation Rate in our Zero-Shot baseline).</a:t>
            </a:r>
          </a:p>
          <a:p>
            <a:pPr>
              <a:spcAft>
                <a:spcPts val="400"/>
              </a:spcAft>
            </a:pPr>
            <a:r>
              <a:rPr sz="1100" b="0" i="0">
                <a:solidFill>
                  <a:srgbClr val="1E2430"/>
                </a:solidFill>
                <a:latin typeface="Calibri"/>
              </a:rPr>
              <a:t>    ▪ Writes verbose 35-word paragraphs instead of a crisp 16-word confirmation.</a:t>
            </a:r>
          </a:p>
          <a:p>
            <a:pPr>
              <a:spcAft>
                <a:spcPts val="400"/>
              </a:spcAft>
            </a:pPr>
            <a:r>
              <a:rPr sz="1200" b="0" i="0">
                <a:solidFill>
                  <a:srgbClr val="1E2430"/>
                </a:solidFill>
                <a:latin typeface="Calibri"/>
              </a:rPr>
              <a:t>• </a:t>
            </a:r>
            <a:r>
              <a:rPr sz="1200" b="1" i="0">
                <a:solidFill>
                  <a:srgbClr val="1E2430"/>
                </a:solidFill>
                <a:latin typeface="Calibri"/>
              </a:rPr>
              <a:t>Business Impact:</a:t>
            </a:r>
            <a:r>
              <a:rPr sz="1200" b="0" i="0">
                <a:solidFill>
                  <a:srgbClr val="1E2430"/>
                </a:solidFill>
                <a:latin typeface="Calibri"/>
              </a:rPr>
              <a:t> Impatient high-intent buyers abandon the cart before checkout.</a:t>
            </a:r>
          </a:p>
        </p:txBody>
      </p:sp>
      <p:sp>
        <p:nvSpPr>
          <p:cNvPr id="14" name="Rounded Rectangle 13"/>
          <p:cNvSpPr/>
          <p:nvPr/>
        </p:nvSpPr>
        <p:spPr>
          <a:xfrm>
            <a:off x="4206240" y="1371600"/>
            <a:ext cx="3749039" cy="40690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1371600"/>
            <a:ext cx="3749039"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Customer Type B: The Open Explorer (25.5%)</a:t>
            </a:r>
          </a:p>
        </p:txBody>
      </p:sp>
      <p:sp>
        <p:nvSpPr>
          <p:cNvPr id="16" name="TextBox 15"/>
          <p:cNvSpPr txBox="1"/>
          <p:nvPr/>
        </p:nvSpPr>
        <p:spPr>
          <a:xfrm>
            <a:off x="4297679" y="1755648"/>
            <a:ext cx="3566159" cy="3630168"/>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a:t>
            </a:r>
            <a:r>
              <a:rPr sz="1200" b="1" i="0">
                <a:solidFill>
                  <a:srgbClr val="1E2430"/>
                </a:solidFill>
                <a:latin typeface="Calibri"/>
              </a:rPr>
              <a:t>How they talk (Frames ID b84f11c2):</a:t>
            </a:r>
          </a:p>
          <a:p>
            <a:pPr>
              <a:spcAft>
                <a:spcPts val="400"/>
              </a:spcAft>
            </a:pPr>
            <a:r>
              <a:rPr sz="1100" b="0" i="0">
                <a:solidFill>
                  <a:srgbClr val="1E2430"/>
                </a:solidFill>
                <a:latin typeface="Calibri"/>
              </a:rPr>
              <a:t>    ▪ </a:t>
            </a:r>
            <a:r>
              <a:rPr sz="1100" b="0" i="1">
                <a:solidFill>
                  <a:srgbClr val="1E2430"/>
                </a:solidFill>
                <a:latin typeface="Calibri"/>
              </a:rPr>
              <a:t>'We have a week off in September and $3,000—what beach or European cities could we compare?'</a:t>
            </a:r>
          </a:p>
          <a:p>
            <a:pPr>
              <a:spcAft>
                <a:spcPts val="400"/>
              </a:spcAft>
            </a:pPr>
            <a:r>
              <a:rPr sz="1200" b="0" i="0">
                <a:solidFill>
                  <a:srgbClr val="1E2430"/>
                </a:solidFill>
                <a:latin typeface="Calibri"/>
              </a:rPr>
              <a:t>• </a:t>
            </a:r>
            <a:r>
              <a:rPr sz="1200" b="1" i="0">
                <a:solidFill>
                  <a:srgbClr val="1E2430"/>
                </a:solidFill>
                <a:latin typeface="Calibri"/>
              </a:rPr>
              <a:t>What they want:</a:t>
            </a:r>
            <a:r>
              <a:rPr sz="1200" b="0" i="0">
                <a:solidFill>
                  <a:srgbClr val="1E2430"/>
                </a:solidFill>
                <a:latin typeface="Calibri"/>
              </a:rPr>
              <a:t> Side-by-side comparison of 2–3 distinct options across price and hotel tiers.</a:t>
            </a:r>
          </a:p>
          <a:p>
            <a:pPr>
              <a:spcAft>
                <a:spcPts val="400"/>
              </a:spcAft>
            </a:pPr>
            <a:r>
              <a:rPr sz="1200" b="0" i="0">
                <a:solidFill>
                  <a:srgbClr val="1E2430"/>
                </a:solidFill>
                <a:latin typeface="Calibri"/>
              </a:rPr>
              <a:t>• </a:t>
            </a:r>
            <a:r>
              <a:rPr sz="1200" b="1" i="0">
                <a:solidFill>
                  <a:srgbClr val="1E2430"/>
                </a:solidFill>
                <a:latin typeface="Calibri"/>
              </a:rPr>
              <a:t>How a Static Chatbot fails them:</a:t>
            </a:r>
          </a:p>
          <a:p>
            <a:pPr>
              <a:spcAft>
                <a:spcPts val="400"/>
              </a:spcAft>
            </a:pPr>
            <a:r>
              <a:rPr sz="1100" b="0" i="0">
                <a:solidFill>
                  <a:srgbClr val="1E2430"/>
                </a:solidFill>
                <a:latin typeface="Calibri"/>
              </a:rPr>
              <a:t>    ▪ Presents only one option per turn, forcing the user to ask 'What about another city?' or 'What about 4-star vs 3-star?' across 18+ turns.</a:t>
            </a:r>
          </a:p>
          <a:p>
            <a:pPr>
              <a:spcAft>
                <a:spcPts val="400"/>
              </a:spcAft>
            </a:pPr>
            <a:r>
              <a:rPr sz="1200" b="0" i="0">
                <a:solidFill>
                  <a:srgbClr val="1E2430"/>
                </a:solidFill>
                <a:latin typeface="Calibri"/>
              </a:rPr>
              <a:t>• </a:t>
            </a:r>
            <a:r>
              <a:rPr sz="1200" b="1" i="0">
                <a:solidFill>
                  <a:srgbClr val="1E2430"/>
                </a:solidFill>
                <a:latin typeface="Calibri"/>
              </a:rPr>
              <a:t>Business Impact:</a:t>
            </a:r>
            <a:r>
              <a:rPr sz="1200" b="0" i="0">
                <a:solidFill>
                  <a:srgbClr val="1E2430"/>
                </a:solidFill>
                <a:latin typeface="Calibri"/>
              </a:rPr>
              <a:t> Long, exhausting 18-turn sessions that drive up cloud LLM inference costs and user fatigue.</a:t>
            </a:r>
          </a:p>
        </p:txBody>
      </p:sp>
      <p:sp>
        <p:nvSpPr>
          <p:cNvPr id="17" name="Rounded Rectangle 16"/>
          <p:cNvSpPr/>
          <p:nvPr/>
        </p:nvSpPr>
        <p:spPr>
          <a:xfrm>
            <a:off x="8138160" y="1371600"/>
            <a:ext cx="3730752" cy="40690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1371600"/>
            <a:ext cx="3730752"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Customer Type C: Rigid-Constraint Seeker (29.5%)</a:t>
            </a:r>
          </a:p>
        </p:txBody>
      </p:sp>
      <p:sp>
        <p:nvSpPr>
          <p:cNvPr id="19" name="TextBox 18"/>
          <p:cNvSpPr txBox="1"/>
          <p:nvPr/>
        </p:nvSpPr>
        <p:spPr>
          <a:xfrm>
            <a:off x="8229600" y="1755648"/>
            <a:ext cx="3547872" cy="3630168"/>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a:t>
            </a:r>
            <a:r>
              <a:rPr sz="1200" b="1" i="0">
                <a:solidFill>
                  <a:srgbClr val="1E2430"/>
                </a:solidFill>
                <a:latin typeface="Calibri"/>
              </a:rPr>
              <a:t>How they talk (Frames ID 91a4d0e5):</a:t>
            </a:r>
          </a:p>
          <a:p>
            <a:pPr>
              <a:spcAft>
                <a:spcPts val="400"/>
              </a:spcAft>
            </a:pPr>
            <a:r>
              <a:rPr sz="1100" b="0" i="0">
                <a:solidFill>
                  <a:srgbClr val="1E2430"/>
                </a:solidFill>
                <a:latin typeface="Calibri"/>
              </a:rPr>
              <a:t>    ▪ </a:t>
            </a:r>
            <a:r>
              <a:rPr sz="1100" b="0" i="1">
                <a:solidFill>
                  <a:srgbClr val="1E2430"/>
                </a:solidFill>
                <a:latin typeface="Calibri"/>
              </a:rPr>
              <a:t>'I only want a 5-star hotel in Tokyo on Oct 5 for 10 nights under $2,200—no other dates or stars.'</a:t>
            </a:r>
          </a:p>
          <a:p>
            <a:pPr>
              <a:spcAft>
                <a:spcPts val="400"/>
              </a:spcAft>
            </a:pPr>
            <a:r>
              <a:rPr sz="1200" b="0" i="0">
                <a:solidFill>
                  <a:srgbClr val="1E2430"/>
                </a:solidFill>
                <a:latin typeface="Calibri"/>
              </a:rPr>
              <a:t>• </a:t>
            </a:r>
            <a:r>
              <a:rPr sz="1200" b="1" i="0">
                <a:solidFill>
                  <a:srgbClr val="1E2430"/>
                </a:solidFill>
                <a:latin typeface="Calibri"/>
              </a:rPr>
              <a:t>What they want:</a:t>
            </a:r>
            <a:r>
              <a:rPr sz="1200" b="0" i="0">
                <a:solidFill>
                  <a:srgbClr val="1E2430"/>
                </a:solidFill>
                <a:latin typeface="Calibri"/>
              </a:rPr>
              <a:t> If exact inventory is $2,596 (over budget), they need immediate, transparent trade-off options (4-star on Oct 5 vs. 5-star on Oct 12).</a:t>
            </a:r>
          </a:p>
          <a:p>
            <a:pPr>
              <a:spcAft>
                <a:spcPts val="400"/>
              </a:spcAft>
            </a:pPr>
            <a:r>
              <a:rPr sz="1200" b="0" i="0">
                <a:solidFill>
                  <a:srgbClr val="1E2430"/>
                </a:solidFill>
                <a:latin typeface="Calibri"/>
              </a:rPr>
              <a:t>• </a:t>
            </a:r>
            <a:r>
              <a:rPr sz="1200" b="1" i="0">
                <a:solidFill>
                  <a:srgbClr val="1E2430"/>
                </a:solidFill>
                <a:latin typeface="Calibri"/>
              </a:rPr>
              <a:t>How a Static Chatbot fails them:</a:t>
            </a:r>
          </a:p>
          <a:p>
            <a:pPr>
              <a:spcAft>
                <a:spcPts val="400"/>
              </a:spcAft>
            </a:pPr>
            <a:r>
              <a:rPr sz="1100" b="0" i="0">
                <a:solidFill>
                  <a:srgbClr val="1E2430"/>
                </a:solidFill>
                <a:latin typeface="Calibri"/>
              </a:rPr>
              <a:t>    ▪ Says 'No package found' or argues for 4 turns before revealing alternatives (44.5% end with no suitable option in human corpus).</a:t>
            </a:r>
          </a:p>
          <a:p>
            <a:pPr>
              <a:spcAft>
                <a:spcPts val="400"/>
              </a:spcAft>
            </a:pPr>
            <a:r>
              <a:rPr sz="1200" b="0" i="0">
                <a:solidFill>
                  <a:srgbClr val="1E2430"/>
                </a:solidFill>
                <a:latin typeface="Calibri"/>
              </a:rPr>
              <a:t>• </a:t>
            </a:r>
            <a:r>
              <a:rPr sz="1200" b="1" i="0">
                <a:solidFill>
                  <a:srgbClr val="1E2430"/>
                </a:solidFill>
                <a:latin typeface="Calibri"/>
              </a:rPr>
              <a:t>Business Impact:</a:t>
            </a:r>
            <a:r>
              <a:rPr sz="1200" b="0" i="0">
                <a:solidFill>
                  <a:srgbClr val="1E2430"/>
                </a:solidFill>
                <a:latin typeface="Calibri"/>
              </a:rPr>
              <a:t> 8.73-turn deadlock loops and lost bookings.</a:t>
            </a:r>
          </a:p>
        </p:txBody>
      </p:sp>
      <p:sp>
        <p:nvSpPr>
          <p:cNvPr id="20" name="Rounded Rectangle 19"/>
          <p:cNvSpPr/>
          <p:nvPr/>
        </p:nvSpPr>
        <p:spPr>
          <a:xfrm>
            <a:off x="320040" y="5559552"/>
            <a:ext cx="11548872" cy="932688"/>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50" b="1" i="0">
                <a:solidFill>
                  <a:srgbClr val="1E2430"/>
                </a:solidFill>
                <a:latin typeface="Calibri"/>
              </a:rPr>
              <a:t>Business Problem Statement (Buhalis &amp; Sinarta, 2019; Ivanov &amp; Webster, 2019; Melián-González et al., 2021):</a:t>
            </a:r>
            <a:r>
              <a:rPr sz="1150" b="0" i="0">
                <a:solidFill>
                  <a:srgbClr val="1E2430"/>
                </a:solidFill>
                <a:latin typeface="Calibri"/>
              </a:rPr>
              <a:t>
Online travel agencies (OTAs) and hospitality contact centers suffer from low self-service conversion and high session abandonment because static LLM prompts fail to adapt information density, pacing, and trade-off framing to customer decision-making styles—while unverified generative responses create financial liability from policy violations.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1: FOUNDATIONS &amp; STORY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4</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The Technical Paradox: Why Naive Few-Shot AI Adaptation Fails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Simply pasting retrieved past dialogues into an LLM prompt introduces two severe production hazards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3474720"/>
          </a:xfrm>
          <a:prstGeom prst="roundRect">
            <a:avLst>
              <a:gd name="adj" fmla="val 2000"/>
            </a:avLst>
          </a:prstGeom>
          <a:solidFill>
            <a:srgbClr val="FDEEEC"/>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Hazard 1: Exemplar Entity Leakage (Hallucinated Terms)</a:t>
            </a:r>
          </a:p>
        </p:txBody>
      </p:sp>
      <p:sp>
        <p:nvSpPr>
          <p:cNvPr id="13" name="TextBox 12"/>
          <p:cNvSpPr txBox="1"/>
          <p:nvPr/>
        </p:nvSpPr>
        <p:spPr>
          <a:xfrm>
            <a:off x="411479" y="1755648"/>
            <a:ext cx="5440680" cy="3035808"/>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a:t>
            </a:r>
            <a:r>
              <a:rPr sz="1200" b="1" i="0">
                <a:solidFill>
                  <a:srgbClr val="1E2430"/>
                </a:solidFill>
                <a:latin typeface="Calibri"/>
              </a:rPr>
              <a:t>What happens in standard few-shot prompting (Liu et al., 2022):</a:t>
            </a:r>
          </a:p>
          <a:p>
            <a:pPr>
              <a:spcAft>
                <a:spcPts val="400"/>
              </a:spcAft>
            </a:pPr>
            <a:r>
              <a:rPr sz="1100" b="0" i="0">
                <a:solidFill>
                  <a:srgbClr val="1E2430"/>
                </a:solidFill>
                <a:latin typeface="Calibri"/>
              </a:rPr>
              <a:t>    ▪ To teach the LLM how to talk to an </a:t>
            </a:r>
            <a:r>
              <a:rPr sz="1100" b="0" i="1">
                <a:solidFill>
                  <a:srgbClr val="1E2430"/>
                </a:solidFill>
                <a:latin typeface="Calibri"/>
              </a:rPr>
              <a:t>Open Explorer</a:t>
            </a:r>
            <a:r>
              <a:rPr sz="1100" b="0" i="0">
                <a:solidFill>
                  <a:srgbClr val="1E2430"/>
                </a:solidFill>
                <a:latin typeface="Calibri"/>
              </a:rPr>
              <a:t>, the system retrieves 3 similar past transcripts from the database and puts them in the prompt.</a:t>
            </a:r>
          </a:p>
          <a:p>
            <a:pPr>
              <a:spcAft>
                <a:spcPts val="400"/>
              </a:spcAft>
            </a:pPr>
            <a:r>
              <a:rPr sz="1200" b="0" i="0">
                <a:solidFill>
                  <a:srgbClr val="1E2430"/>
                </a:solidFill>
                <a:latin typeface="Calibri"/>
              </a:rPr>
              <a:t>• </a:t>
            </a:r>
            <a:r>
              <a:rPr sz="1200" b="1" i="0">
                <a:solidFill>
                  <a:srgbClr val="1E2430"/>
                </a:solidFill>
                <a:latin typeface="Calibri"/>
              </a:rPr>
              <a:t>The Contamination Trap (Proven in our RQ3 Experiment):</a:t>
            </a:r>
          </a:p>
          <a:p>
            <a:pPr>
              <a:spcAft>
                <a:spcPts val="400"/>
              </a:spcAft>
            </a:pPr>
            <a:r>
              <a:rPr sz="1100" b="0" i="0">
                <a:solidFill>
                  <a:srgbClr val="1E2430"/>
                </a:solidFill>
                <a:latin typeface="Calibri"/>
              </a:rPr>
              <a:t>    ▪ If those retrieved examples mention </a:t>
            </a:r>
            <a:r>
              <a:rPr sz="1100" b="1" i="0">
                <a:solidFill>
                  <a:srgbClr val="1E2430"/>
                </a:solidFill>
                <a:latin typeface="Calibri"/>
              </a:rPr>
              <a:t>'Sapphire Bay Resort'</a:t>
            </a:r>
            <a:r>
              <a:rPr sz="1100" b="0" i="0">
                <a:solidFill>
                  <a:srgbClr val="1E2430"/>
                </a:solidFill>
                <a:latin typeface="Calibri"/>
              </a:rPr>
              <a:t>, </a:t>
            </a:r>
            <a:r>
              <a:rPr sz="1100" b="1" i="0">
                <a:solidFill>
                  <a:srgbClr val="1E2430"/>
                </a:solidFill>
                <a:latin typeface="Calibri"/>
              </a:rPr>
              <a:t>'SkyBridge Airways'</a:t>
            </a:r>
            <a:r>
              <a:rPr sz="1100" b="0" i="0">
                <a:solidFill>
                  <a:srgbClr val="1E2430"/>
                </a:solidFill>
                <a:latin typeface="Calibri"/>
              </a:rPr>
              <a:t>, </a:t>
            </a:r>
            <a:r>
              <a:rPr sz="1100" b="1" i="0">
                <a:solidFill>
                  <a:srgbClr val="1E2430"/>
                </a:solidFill>
                <a:latin typeface="Calibri"/>
              </a:rPr>
              <a:t>'$1,149'</a:t>
            </a:r>
            <a:r>
              <a:rPr sz="1100" b="0" i="0">
                <a:solidFill>
                  <a:srgbClr val="1E2430"/>
                </a:solidFill>
                <a:latin typeface="Calibri"/>
              </a:rPr>
              <a:t>, or promo code </a:t>
            </a:r>
            <a:r>
              <a:rPr sz="1100" b="1" i="0">
                <a:solidFill>
                  <a:srgbClr val="1E2430"/>
                </a:solidFill>
                <a:latin typeface="Calibri"/>
              </a:rPr>
              <a:t>'VIP25'</a:t>
            </a:r>
            <a:r>
              <a:rPr sz="1100" b="0" i="0">
                <a:solidFill>
                  <a:srgbClr val="1E2430"/>
                </a:solidFill>
                <a:latin typeface="Calibri"/>
              </a:rPr>
              <a:t>, the LLM copies those stale entities into the current customer's reply!</a:t>
            </a:r>
          </a:p>
          <a:p>
            <a:pPr>
              <a:spcAft>
                <a:spcPts val="400"/>
              </a:spcAft>
            </a:pPr>
            <a:r>
              <a:rPr sz="1200" b="0" i="0">
                <a:solidFill>
                  <a:srgbClr val="1E2430"/>
                </a:solidFill>
                <a:latin typeface="Calibri"/>
              </a:rPr>
              <a:t>• </a:t>
            </a:r>
            <a:r>
              <a:rPr sz="1200" b="1" i="0">
                <a:solidFill>
                  <a:srgbClr val="1E2430"/>
                </a:solidFill>
                <a:latin typeface="Calibri"/>
              </a:rPr>
              <a:t>Empirical Proof from Our Data (RQ3 Table 15):</a:t>
            </a:r>
          </a:p>
          <a:p>
            <a:pPr>
              <a:spcAft>
                <a:spcPts val="400"/>
              </a:spcAft>
            </a:pPr>
            <a:r>
              <a:rPr sz="1100" b="0" i="0">
                <a:solidFill>
                  <a:srgbClr val="1E2430"/>
                </a:solidFill>
                <a:latin typeface="Calibri"/>
              </a:rPr>
              <a:t>    ▪ Unguarded Cluster-Adaptive Few-Shot leaked stale exemplar entities in </a:t>
            </a:r>
            <a:r>
              <a:rPr sz="1100" b="1" i="0">
                <a:solidFill>
                  <a:srgbClr val="1E2430"/>
                </a:solidFill>
                <a:latin typeface="Calibri"/>
              </a:rPr>
              <a:t>55.6% of all responses</a:t>
            </a:r>
            <a:r>
              <a:rPr sz="1100" b="0" i="0">
                <a:solidFill>
                  <a:srgbClr val="1E2430"/>
                </a:solidFill>
                <a:latin typeface="Calibri"/>
              </a:rPr>
              <a:t> (mean leakage rate = </a:t>
            </a:r>
            <a:r>
              <a:rPr sz="1100" b="1" i="0">
                <a:solidFill>
                  <a:srgbClr val="1E2430"/>
                </a:solidFill>
                <a:latin typeface="Calibri"/>
              </a:rPr>
              <a:t>0.359</a:t>
            </a:r>
            <a:r>
              <a:rPr sz="1100" b="0" i="0">
                <a:solidFill>
                  <a:srgbClr val="1E2430"/>
                </a:solidFill>
                <a:latin typeface="Calibri"/>
              </a:rPr>
              <a:t>, </a:t>
            </a:r>
            <a:r>
              <a:rPr sz="1100" b="0" i="1">
                <a:solidFill>
                  <a:srgbClr val="1E2430"/>
                </a:solidFill>
                <a:latin typeface="Calibri"/>
              </a:rPr>
              <a:t>p</a:t>
            </a:r>
            <a:r>
              <a:rPr sz="1100" b="0" i="0">
                <a:solidFill>
                  <a:srgbClr val="1E2430"/>
                </a:solidFill>
                <a:latin typeface="Calibri"/>
              </a:rPr>
              <a:t> &lt; .001).</a:t>
            </a:r>
          </a:p>
        </p:txBody>
      </p:sp>
      <p:sp>
        <p:nvSpPr>
          <p:cNvPr id="14" name="Rounded Rectangle 13"/>
          <p:cNvSpPr/>
          <p:nvPr/>
        </p:nvSpPr>
        <p:spPr>
          <a:xfrm>
            <a:off x="6217920" y="1371600"/>
            <a:ext cx="5650992" cy="3474720"/>
          </a:xfrm>
          <a:prstGeom prst="roundRect">
            <a:avLst>
              <a:gd name="adj" fmla="val 2000"/>
            </a:avLst>
          </a:prstGeom>
          <a:solidFill>
            <a:srgbClr val="FDEEEC"/>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Hazard 2: Enterprise Policy Blindness (Rule Violations)</a:t>
            </a:r>
          </a:p>
        </p:txBody>
      </p:sp>
      <p:sp>
        <p:nvSpPr>
          <p:cNvPr id="16" name="TextBox 15"/>
          <p:cNvSpPr txBox="1"/>
          <p:nvPr/>
        </p:nvSpPr>
        <p:spPr>
          <a:xfrm>
            <a:off x="6309359" y="1755648"/>
            <a:ext cx="5468112" cy="3035808"/>
          </a:xfrm>
          <a:prstGeom prst="rect">
            <a:avLst/>
          </a:prstGeom>
          <a:noFill/>
        </p:spPr>
        <p:txBody>
          <a:bodyPr wrap="square" lIns="36576" rIns="36576" tIns="18288" bIns="18288">
            <a:spAutoFit/>
          </a:bodyPr>
          <a:lstStyle/>
          <a:p>
            <a:pPr>
              <a:spcAft>
                <a:spcPts val="400"/>
              </a:spcAft>
            </a:pPr>
            <a:r>
              <a:rPr sz="1200" b="0" i="0">
                <a:solidFill>
                  <a:srgbClr val="1E2430"/>
                </a:solidFill>
                <a:latin typeface="Calibri"/>
              </a:rPr>
              <a:t>• </a:t>
            </a:r>
            <a:r>
              <a:rPr sz="1200" b="1" i="0">
                <a:solidFill>
                  <a:srgbClr val="1E2430"/>
                </a:solidFill>
                <a:latin typeface="Calibri"/>
              </a:rPr>
              <a:t>What happens when rules are only written in the system prompt:</a:t>
            </a:r>
          </a:p>
          <a:p>
            <a:pPr>
              <a:spcAft>
                <a:spcPts val="400"/>
              </a:spcAft>
            </a:pPr>
            <a:r>
              <a:rPr sz="1100" b="0" i="0">
                <a:solidFill>
                  <a:srgbClr val="1E2430"/>
                </a:solidFill>
                <a:latin typeface="Calibri"/>
              </a:rPr>
              <a:t>    ▪ Travel bookings are governed by strict numeric constraints: e.g., international trips require ≥ 15 days visa lead time; passports need ≥ 6 months validity; FIT bookings allow ≤ 4 adults; promo discounts cap at 15%.</a:t>
            </a:r>
          </a:p>
          <a:p>
            <a:pPr>
              <a:spcAft>
                <a:spcPts val="400"/>
              </a:spcAft>
            </a:pPr>
            <a:r>
              <a:rPr sz="1200" b="0" i="0">
                <a:solidFill>
                  <a:srgbClr val="1E2430"/>
                </a:solidFill>
                <a:latin typeface="Calibri"/>
              </a:rPr>
              <a:t>• </a:t>
            </a:r>
            <a:r>
              <a:rPr sz="1200" b="1" i="0">
                <a:solidFill>
                  <a:srgbClr val="1E2430"/>
                </a:solidFill>
                <a:latin typeface="Calibri"/>
              </a:rPr>
              <a:t>The Attention Competition Trap (Yao et al., 2024):</a:t>
            </a:r>
          </a:p>
          <a:p>
            <a:pPr>
              <a:spcAft>
                <a:spcPts val="400"/>
              </a:spcAft>
            </a:pPr>
            <a:r>
              <a:rPr sz="1100" b="0" i="0">
                <a:solidFill>
                  <a:srgbClr val="1E2430"/>
                </a:solidFill>
                <a:latin typeface="Calibri"/>
              </a:rPr>
              <a:t>    ▪ When the LLM focuses on matching conversational style, it overlooks arithmetic thresholds buried in long text prompts.</a:t>
            </a:r>
          </a:p>
          <a:p>
            <a:pPr>
              <a:spcAft>
                <a:spcPts val="400"/>
              </a:spcAft>
            </a:pPr>
            <a:r>
              <a:rPr sz="1200" b="0" i="0">
                <a:solidFill>
                  <a:srgbClr val="1E2430"/>
                </a:solidFill>
                <a:latin typeface="Calibri"/>
              </a:rPr>
              <a:t>• </a:t>
            </a:r>
            <a:r>
              <a:rPr sz="1200" b="1" i="0">
                <a:solidFill>
                  <a:srgbClr val="1E2430"/>
                </a:solidFill>
                <a:latin typeface="Calibri"/>
              </a:rPr>
              <a:t>Empirical Proof from Our Data (RQ3 Table 15):</a:t>
            </a:r>
          </a:p>
          <a:p>
            <a:pPr>
              <a:spcAft>
                <a:spcPts val="400"/>
              </a:spcAft>
            </a:pPr>
            <a:r>
              <a:rPr sz="1100" b="0" i="0">
                <a:solidFill>
                  <a:srgbClr val="1E2430"/>
                </a:solidFill>
                <a:latin typeface="Calibri"/>
              </a:rPr>
              <a:t>    ▪ Without an external symbolic rule engine (</a:t>
            </a:r>
            <a:r>
              <a:rPr sz="1100" b="0" i="1">
                <a:solidFill>
                  <a:srgbClr val="1E2430"/>
                </a:solidFill>
                <a:latin typeface="Calibri"/>
              </a:rPr>
              <a:t>Rules Off</a:t>
            </a:r>
            <a:r>
              <a:rPr sz="1100" b="0" i="0">
                <a:solidFill>
                  <a:srgbClr val="1E2430"/>
                </a:solidFill>
                <a:latin typeface="Calibri"/>
              </a:rPr>
              <a:t>), Gemini 2.5 Flash enforced violated booking rules in only </a:t>
            </a:r>
            <a:r>
              <a:rPr sz="1100" b="1" i="0">
                <a:solidFill>
                  <a:srgbClr val="1E2430"/>
                </a:solidFill>
                <a:latin typeface="Calibri"/>
              </a:rPr>
              <a:t>5.6% of violating sessions</a:t>
            </a:r>
            <a:r>
              <a:rPr sz="1100" b="0" i="0">
                <a:solidFill>
                  <a:srgbClr val="1E2430"/>
                </a:solidFill>
                <a:latin typeface="Calibri"/>
              </a:rPr>
              <a:t> (missing </a:t>
            </a:r>
            <a:r>
              <a:rPr sz="1100" b="1" i="0">
                <a:solidFill>
                  <a:srgbClr val="1E2430"/>
                </a:solidFill>
                <a:latin typeface="Calibri"/>
              </a:rPr>
              <a:t>94.4%</a:t>
            </a:r>
            <a:r>
              <a:rPr sz="1100" b="0" i="0">
                <a:solidFill>
                  <a:srgbClr val="1E2430"/>
                </a:solidFill>
                <a:latin typeface="Calibri"/>
              </a:rPr>
              <a:t> of violations!).</a:t>
            </a:r>
          </a:p>
        </p:txBody>
      </p:sp>
      <p:sp>
        <p:nvSpPr>
          <p:cNvPr id="17" name="Rounded Rectangle 16"/>
          <p:cNvSpPr/>
          <p:nvPr/>
        </p:nvSpPr>
        <p:spPr>
          <a:xfrm>
            <a:off x="320040" y="4983480"/>
            <a:ext cx="11548872" cy="1508760"/>
          </a:xfrm>
          <a:prstGeom prst="roundRect">
            <a:avLst>
              <a:gd name="adj" fmla="val 2000"/>
            </a:avLst>
          </a:prstGeom>
          <a:solidFill>
            <a:srgbClr val="EBF7F0"/>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4983480"/>
            <a:ext cx="1154887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Our Solution: A Neuro-Symbolic Cluster-Adaptive Architecture</a:t>
            </a:r>
          </a:p>
        </p:txBody>
      </p:sp>
      <p:sp>
        <p:nvSpPr>
          <p:cNvPr id="19" name="TextBox 18"/>
          <p:cNvSpPr txBox="1"/>
          <p:nvPr/>
        </p:nvSpPr>
        <p:spPr>
          <a:xfrm>
            <a:off x="411479" y="5367528"/>
            <a:ext cx="11365992" cy="1069848"/>
          </a:xfrm>
          <a:prstGeom prst="rect">
            <a:avLst/>
          </a:prstGeom>
          <a:noFill/>
        </p:spPr>
        <p:txBody>
          <a:bodyPr wrap="square" lIns="36576" rIns="36576" tIns="18288" bIns="18288">
            <a:spAutoFit/>
          </a:bodyPr>
          <a:lstStyle/>
          <a:p>
            <a:pPr>
              <a:spcAft>
                <a:spcPts val="400"/>
              </a:spcAft>
            </a:pPr>
            <a:r>
              <a:rPr sz="1150" b="0" i="0">
                <a:solidFill>
                  <a:srgbClr val="1E2430"/>
                </a:solidFill>
                <a:latin typeface="Calibri"/>
              </a:rPr>
              <a:t>• </a:t>
            </a:r>
            <a:r>
              <a:rPr sz="1150" b="1" i="0">
                <a:solidFill>
                  <a:srgbClr val="1E2430"/>
                </a:solidFill>
                <a:latin typeface="Calibri"/>
              </a:rPr>
              <a:t>1. Early-Turn Hybrid Archetype Routing (RQ1):</a:t>
            </a:r>
            <a:r>
              <a:rPr sz="1150" b="0" i="0">
                <a:solidFill>
                  <a:srgbClr val="1E2430"/>
                </a:solidFill>
                <a:latin typeface="Calibri"/>
              </a:rPr>
              <a:t> Identify whether the user is a </a:t>
            </a:r>
            <a:r>
              <a:rPr sz="1150" b="0" i="1">
                <a:solidFill>
                  <a:srgbClr val="1E2430"/>
                </a:solidFill>
                <a:latin typeface="Calibri"/>
              </a:rPr>
              <a:t>Decisive Booker</a:t>
            </a:r>
            <a:r>
              <a:rPr sz="1150" b="0" i="0">
                <a:solidFill>
                  <a:srgbClr val="1E2430"/>
                </a:solidFill>
                <a:latin typeface="Calibri"/>
              </a:rPr>
              <a:t>, </a:t>
            </a:r>
            <a:r>
              <a:rPr sz="1150" b="0" i="1">
                <a:solidFill>
                  <a:srgbClr val="1E2430"/>
                </a:solidFill>
                <a:latin typeface="Calibri"/>
              </a:rPr>
              <a:t>Open Explorer</a:t>
            </a:r>
            <a:r>
              <a:rPr sz="1150" b="0" i="0">
                <a:solidFill>
                  <a:srgbClr val="1E2430"/>
                </a:solidFill>
                <a:latin typeface="Calibri"/>
              </a:rPr>
              <a:t>, or </a:t>
            </a:r>
            <a:r>
              <a:rPr sz="1150" b="0" i="1">
                <a:solidFill>
                  <a:srgbClr val="1E2430"/>
                </a:solidFill>
                <a:latin typeface="Calibri"/>
              </a:rPr>
              <a:t>Rigid-Constraint Seeker</a:t>
            </a:r>
            <a:r>
              <a:rPr sz="1150" b="0" i="0">
                <a:solidFill>
                  <a:srgbClr val="1E2430"/>
                </a:solidFill>
                <a:latin typeface="Calibri"/>
              </a:rPr>
              <a:t> from opening user messages without leaking end-of-dialogue outcomes.</a:t>
            </a:r>
          </a:p>
          <a:p>
            <a:pPr>
              <a:spcAft>
                <a:spcPts val="400"/>
              </a:spcAft>
            </a:pPr>
            <a:r>
              <a:rPr sz="1150" b="0" i="0">
                <a:solidFill>
                  <a:srgbClr val="1E2430"/>
                </a:solidFill>
                <a:latin typeface="Calibri"/>
              </a:rPr>
              <a:t>• </a:t>
            </a:r>
            <a:r>
              <a:rPr sz="1150" b="1" i="0">
                <a:solidFill>
                  <a:srgbClr val="1E2430"/>
                </a:solidFill>
                <a:latin typeface="Calibri"/>
              </a:rPr>
              <a:t>2. Slot-Masked FAISS Exemplar Retrieval (RQ2):</a:t>
            </a:r>
            <a:r>
              <a:rPr sz="1150" b="0" i="0">
                <a:solidFill>
                  <a:srgbClr val="1E2430"/>
                </a:solidFill>
                <a:latin typeface="Calibri"/>
              </a:rPr>
              <a:t> Replace all entities in retrieved examples with `[SLOT]` placeholders (e.g., `[HOTEL_NAME]`, `[BUDGET_USD]`) so the LLM learns </a:t>
            </a:r>
            <a:r>
              <a:rPr sz="1150" b="0" i="1">
                <a:solidFill>
                  <a:srgbClr val="1E2430"/>
                </a:solidFill>
                <a:latin typeface="Calibri"/>
              </a:rPr>
              <a:t>conversational style and pacing</a:t>
            </a:r>
            <a:r>
              <a:rPr sz="1150" b="0" i="0">
                <a:solidFill>
                  <a:srgbClr val="1E2430"/>
                </a:solidFill>
                <a:latin typeface="Calibri"/>
              </a:rPr>
              <a:t> without copying stale facts.</a:t>
            </a:r>
          </a:p>
          <a:p>
            <a:pPr>
              <a:spcAft>
                <a:spcPts val="400"/>
              </a:spcAft>
            </a:pPr>
            <a:r>
              <a:rPr sz="1150" b="0" i="0">
                <a:solidFill>
                  <a:srgbClr val="1E2430"/>
                </a:solidFill>
                <a:latin typeface="Calibri"/>
              </a:rPr>
              <a:t>• </a:t>
            </a:r>
            <a:r>
              <a:rPr sz="1150" b="1" i="0">
                <a:solidFill>
                  <a:srgbClr val="1E2430"/>
                </a:solidFill>
                <a:latin typeface="Calibri"/>
              </a:rPr>
              <a:t>3. Deterministic Declarative Rule Engine + Informed Slot Ledger (RQ3 &amp; RQ4):</a:t>
            </a:r>
            <a:r>
              <a:rPr sz="1150" b="0" i="0">
                <a:solidFill>
                  <a:srgbClr val="1E2430"/>
                </a:solidFill>
                <a:latin typeface="Calibri"/>
              </a:rPr>
              <a:t> Enforce YAML booking policies (0.0% leakage, 98.6% compliance) and lock stated user slots so the bot never re-asks known information (0.0% redundant elicitation).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1: FOUNDATIONS &amp; STORY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5</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Core Concepts Explained from the Ground Up (Plain-English Primer)</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Bridging AI/NLP terminology and statistical measurement for interdisciplinary defense committee members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70" cy="5074920"/>
        </p:xfrm>
        <a:graphic>
          <a:graphicData uri="http://schemas.openxmlformats.org/drawingml/2006/table">
            <a:tbl>
              <a:tblPr firstRow="1" bandRow="1">
                <a:tableStyleId>{5C22544A-7EE6-4342-B048-85BDC9FD1C3A}</a:tableStyleId>
              </a:tblPr>
              <a:tblGrid>
                <a:gridCol w="1649838"/>
                <a:gridCol w="3024704"/>
                <a:gridCol w="3208020"/>
                <a:gridCol w="3666308"/>
              </a:tblGrid>
              <a:tr h="724988">
                <a:tc>
                  <a:txBody>
                    <a:bodyPr/>
                    <a:lstStyle/>
                    <a:p>
                      <a:pPr algn="l"/>
                      <a:r>
                        <a:rPr sz="1100" b="1" i="0">
                          <a:solidFill>
                            <a:srgbClr val="FFFFFF"/>
                          </a:solidFill>
                          <a:latin typeface="Calibri"/>
                        </a:rPr>
                        <a:t>Concept / Term</a:t>
                      </a:r>
                    </a:p>
                  </a:txBody>
                  <a:tcPr anchor="ctr" marL="54864" marR="54864" marT="27432" marB="27432">
                    <a:solidFill>
                      <a:srgbClr val="14325C"/>
                    </a:solidFill>
                  </a:tcPr>
                </a:tc>
                <a:tc>
                  <a:txBody>
                    <a:bodyPr/>
                    <a:lstStyle/>
                    <a:p>
                      <a:pPr algn="l"/>
                      <a:r>
                        <a:rPr sz="1100" b="1" i="0">
                          <a:solidFill>
                            <a:srgbClr val="FFFFFF"/>
                          </a:solidFill>
                          <a:latin typeface="Calibri"/>
                        </a:rPr>
                        <a:t>Plain-English Meaning</a:t>
                      </a:r>
                    </a:p>
                  </a:txBody>
                  <a:tcPr anchor="ctr" marL="54864" marR="54864" marT="27432" marB="27432">
                    <a:solidFill>
                      <a:srgbClr val="14325C"/>
                    </a:solidFill>
                  </a:tcPr>
                </a:tc>
                <a:tc>
                  <a:txBody>
                    <a:bodyPr/>
                    <a:lstStyle/>
                    <a:p>
                      <a:pPr algn="l"/>
                      <a:r>
                        <a:rPr sz="1100" b="1" i="0">
                          <a:solidFill>
                            <a:srgbClr val="FFFFFF"/>
                          </a:solidFill>
                          <a:latin typeface="Calibri"/>
                        </a:rPr>
                        <a:t>Real-World Analogy</a:t>
                      </a:r>
                    </a:p>
                  </a:txBody>
                  <a:tcPr anchor="ctr" marL="54864" marR="54864" marT="27432" marB="27432">
                    <a:solidFill>
                      <a:srgbClr val="14325C"/>
                    </a:solidFill>
                  </a:tcPr>
                </a:tc>
                <a:tc>
                  <a:txBody>
                    <a:bodyPr/>
                    <a:lstStyle/>
                    <a:p>
                      <a:pPr algn="l"/>
                      <a:r>
                        <a:rPr sz="1100" b="1" i="0">
                          <a:solidFill>
                            <a:srgbClr val="FFFFFF"/>
                          </a:solidFill>
                          <a:latin typeface="Calibri"/>
                        </a:rPr>
                        <a:t>How It Is Measured in This Study</a:t>
                      </a:r>
                    </a:p>
                  </a:txBody>
                  <a:tcPr anchor="ctr" marL="54864" marR="54864" marT="27432" marB="27432">
                    <a:solidFill>
                      <a:srgbClr val="14325C"/>
                    </a:solidFill>
                  </a:tcPr>
                </a:tc>
              </a:tr>
              <a:tr h="724988">
                <a:tc>
                  <a:txBody>
                    <a:bodyPr/>
                    <a:lstStyle/>
                    <a:p>
                      <a:pPr algn="l"/>
                      <a:r>
                        <a:rPr sz="1050" b="0" i="0">
                          <a:solidFill>
                            <a:srgbClr val="1E2430"/>
                          </a:solidFill>
                          <a:latin typeface="Calibri"/>
                        </a:rPr>
                        <a:t>1. Vector Embedding
(SBERT 384-d &amp;
Gemini 3,072-d)</a:t>
                      </a:r>
                    </a:p>
                  </a:txBody>
                  <a:tcPr anchor="ctr" marL="54864" marR="54864" marT="22860" marB="22860">
                    <a:solidFill>
                      <a:srgbClr val="FFFFFF"/>
                    </a:solidFill>
                  </a:tcPr>
                </a:tc>
                <a:tc>
                  <a:txBody>
                    <a:bodyPr/>
                    <a:lstStyle/>
                    <a:p>
                      <a:pPr algn="l"/>
                      <a:r>
                        <a:rPr sz="1050" b="0" i="0">
                          <a:solidFill>
                            <a:srgbClr val="1E2430"/>
                          </a:solidFill>
                          <a:latin typeface="Calibri"/>
                        </a:rPr>
                        <a:t>Converting a sentence or dialogue into a list of numbers (coordinates) so dialogues with similar meaning sit close together in geometry.</a:t>
                      </a:r>
                    </a:p>
                  </a:txBody>
                  <a:tcPr anchor="ctr" marL="54864" marR="54864" marT="22860" marB="22860">
                    <a:solidFill>
                      <a:srgbClr val="FFFFFF"/>
                    </a:solidFill>
                  </a:tcPr>
                </a:tc>
                <a:tc>
                  <a:txBody>
                    <a:bodyPr/>
                    <a:lstStyle/>
                    <a:p>
                      <a:pPr algn="l"/>
                      <a:r>
                        <a:rPr sz="1050" b="0" i="0">
                          <a:solidFill>
                            <a:srgbClr val="1E2430"/>
                          </a:solidFill>
                          <a:latin typeface="Calibri"/>
                        </a:rPr>
                        <a:t>Like GPS coordinates (latitude, longitude) on a map, but with 384 or 3,072 dimensions capturing meaning and tone.</a:t>
                      </a:r>
                    </a:p>
                  </a:txBody>
                  <a:tcPr anchor="ctr" marL="54864" marR="54864" marT="22860" marB="22860">
                    <a:solidFill>
                      <a:srgbClr val="FFFFFF"/>
                    </a:solidFill>
                  </a:tcPr>
                </a:tc>
                <a:tc>
                  <a:txBody>
                    <a:bodyPr/>
                    <a:lstStyle/>
                    <a:p>
                      <a:pPr algn="l"/>
                      <a:r>
                        <a:rPr sz="1050" b="0" i="0">
                          <a:solidFill>
                            <a:srgbClr val="1E2430"/>
                          </a:solidFill>
                          <a:latin typeface="Calibri"/>
                        </a:rPr>
                        <a:t>Cosine similarity [-1, +1] between vectors: +1 = identical direction/style; 0 = unrelated.</a:t>
                      </a:r>
                    </a:p>
                  </a:txBody>
                  <a:tcPr anchor="ctr" marL="54864" marR="54864" marT="22860" marB="22860">
                    <a:solidFill>
                      <a:srgbClr val="FFFFFF"/>
                    </a:solidFill>
                  </a:tcPr>
                </a:tc>
              </a:tr>
              <a:tr h="724988">
                <a:tc>
                  <a:txBody>
                    <a:bodyPr/>
                    <a:lstStyle/>
                    <a:p>
                      <a:pPr algn="l"/>
                      <a:r>
                        <a:rPr sz="1050" b="0" i="0">
                          <a:solidFill>
                            <a:srgbClr val="1E2430"/>
                          </a:solidFill>
                          <a:latin typeface="Calibri"/>
                        </a:rPr>
                        <a:t>2. Unsupervised
Trajectory Clustering
(K-Means, Ward, HDBSCAN)</a:t>
                      </a:r>
                    </a:p>
                  </a:txBody>
                  <a:tcPr anchor="ctr" marL="54864" marR="54864" marT="22860" marB="22860">
                    <a:solidFill>
                      <a:srgbClr val="F2F6FC"/>
                    </a:solidFill>
                  </a:tcPr>
                </a:tc>
                <a:tc>
                  <a:txBody>
                    <a:bodyPr/>
                    <a:lstStyle/>
                    <a:p>
                      <a:pPr algn="l"/>
                      <a:r>
                        <a:rPr sz="1050" b="0" i="0">
                          <a:solidFill>
                            <a:srgbClr val="1E2430"/>
                          </a:solidFill>
                          <a:latin typeface="Calibri"/>
                        </a:rPr>
                        <a:t>Automatically grouping 933 training dialogues into natural customer segments without pre-labeled categories.</a:t>
                      </a:r>
                    </a:p>
                  </a:txBody>
                  <a:tcPr anchor="ctr" marL="54864" marR="54864" marT="22860" marB="22860">
                    <a:solidFill>
                      <a:srgbClr val="F2F6FC"/>
                    </a:solidFill>
                  </a:tcPr>
                </a:tc>
                <a:tc>
                  <a:txBody>
                    <a:bodyPr/>
                    <a:lstStyle/>
                    <a:p>
                      <a:pPr algn="l"/>
                      <a:r>
                        <a:rPr sz="1050" b="0" i="0">
                          <a:solidFill>
                            <a:srgbClr val="1E2430"/>
                          </a:solidFill>
                          <a:latin typeface="Calibri"/>
                        </a:rPr>
                        <a:t>Sorting thousands of retail shoppers into 'Quick Grab-and-Go', 'Window Browsers', and 'Coupon Bargain Hunters' by watching how they walk.</a:t>
                      </a:r>
                    </a:p>
                  </a:txBody>
                  <a:tcPr anchor="ctr" marL="54864" marR="54864" marT="22860" marB="22860">
                    <a:solidFill>
                      <a:srgbClr val="F2F6FC"/>
                    </a:solidFill>
                  </a:tcPr>
                </a:tc>
                <a:tc>
                  <a:txBody>
                    <a:bodyPr/>
                    <a:lstStyle/>
                    <a:p>
                      <a:pPr algn="l"/>
                      <a:r>
                        <a:rPr sz="1050" b="0" i="0">
                          <a:solidFill>
                            <a:srgbClr val="1E2430"/>
                          </a:solidFill>
                          <a:latin typeface="Calibri"/>
                        </a:rPr>
                        <a:t>Silhouette score [-1, +1] (higher = tighter, well-separated clusters), Davies–Bouldin index (lower = better), and Bootstrap ARI stability [0, 1].</a:t>
                      </a:r>
                    </a:p>
                  </a:txBody>
                  <a:tcPr anchor="ctr" marL="54864" marR="54864" marT="22860" marB="22860">
                    <a:solidFill>
                      <a:srgbClr val="F2F6FC"/>
                    </a:solidFill>
                  </a:tcPr>
                </a:tc>
              </a:tr>
              <a:tr h="724988">
                <a:tc>
                  <a:txBody>
                    <a:bodyPr/>
                    <a:lstStyle/>
                    <a:p>
                      <a:pPr algn="l"/>
                      <a:r>
                        <a:rPr sz="1050" b="0" i="0">
                          <a:solidFill>
                            <a:srgbClr val="1E2430"/>
                          </a:solidFill>
                          <a:latin typeface="Calibri"/>
                        </a:rPr>
                        <a:t>3. Early-Turn Prefix
Routing
(RefinedArchetypeRouter)</a:t>
                      </a:r>
                    </a:p>
                  </a:txBody>
                  <a:tcPr anchor="ctr" marL="54864" marR="54864" marT="22860" marB="22860">
                    <a:solidFill>
                      <a:srgbClr val="FFFFFF"/>
                    </a:solidFill>
                  </a:tcPr>
                </a:tc>
                <a:tc>
                  <a:txBody>
                    <a:bodyPr/>
                    <a:lstStyle/>
                    <a:p>
                      <a:pPr algn="l"/>
                      <a:r>
                        <a:rPr sz="1050" b="0" i="0">
                          <a:solidFill>
                            <a:srgbClr val="1E2430"/>
                          </a:solidFill>
                          <a:latin typeface="Calibri"/>
                        </a:rPr>
                        <a:t>Predicting which archetype a new customer belongs to after reading only their first M (e.g., 5 to 9) messages.</a:t>
                      </a:r>
                    </a:p>
                  </a:txBody>
                  <a:tcPr anchor="ctr" marL="54864" marR="54864" marT="22860" marB="22860">
                    <a:solidFill>
                      <a:srgbClr val="FFFFFF"/>
                    </a:solidFill>
                  </a:tcPr>
                </a:tc>
                <a:tc>
                  <a:txBody>
                    <a:bodyPr/>
                    <a:lstStyle/>
                    <a:p>
                      <a:pPr algn="l"/>
                      <a:r>
                        <a:rPr sz="1050" b="0" i="0">
                          <a:solidFill>
                            <a:srgbClr val="1E2430"/>
                          </a:solidFill>
                          <a:latin typeface="Calibri"/>
                        </a:rPr>
                        <a:t>An experienced hotel concierge recognizing a guest's style within the first 60 seconds of conversation.</a:t>
                      </a:r>
                    </a:p>
                  </a:txBody>
                  <a:tcPr anchor="ctr" marL="54864" marR="54864" marT="22860" marB="22860">
                    <a:solidFill>
                      <a:srgbClr val="FFFFFF"/>
                    </a:solidFill>
                  </a:tcPr>
                </a:tc>
                <a:tc>
                  <a:txBody>
                    <a:bodyPr/>
                    <a:lstStyle/>
                    <a:p>
                      <a:pPr algn="l"/>
                      <a:r>
                        <a:rPr sz="1050" b="0" i="0">
                          <a:solidFill>
                            <a:srgbClr val="1E2430"/>
                          </a:solidFill>
                          <a:latin typeface="Calibri"/>
                        </a:rPr>
                        <a:t>Out-of-sample Routing Accuracy (%) and chance-corrected Cohen's Kappa (κ) on 401 held-out test dialogues.</a:t>
                      </a:r>
                    </a:p>
                  </a:txBody>
                  <a:tcPr anchor="ctr" marL="54864" marR="54864" marT="22860" marB="22860">
                    <a:solidFill>
                      <a:srgbClr val="FFFFFF"/>
                    </a:solidFill>
                  </a:tcPr>
                </a:tc>
              </a:tr>
              <a:tr h="724988">
                <a:tc>
                  <a:txBody>
                    <a:bodyPr/>
                    <a:lstStyle/>
                    <a:p>
                      <a:pPr algn="l"/>
                      <a:r>
                        <a:rPr sz="1050" b="0" i="0">
                          <a:solidFill>
                            <a:srgbClr val="1E2430"/>
                          </a:solidFill>
                          <a:latin typeface="Calibri"/>
                        </a:rPr>
                        <a:t>4. Slot-Masked FAISS
Few-Shot Prompting</a:t>
                      </a:r>
                    </a:p>
                  </a:txBody>
                  <a:tcPr anchor="ctr" marL="54864" marR="54864" marT="22860" marB="22860">
                    <a:solidFill>
                      <a:srgbClr val="F2F6FC"/>
                    </a:solidFill>
                  </a:tcPr>
                </a:tc>
                <a:tc>
                  <a:txBody>
                    <a:bodyPr/>
                    <a:lstStyle/>
                    <a:p>
                      <a:pPr algn="l"/>
                      <a:r>
                        <a:rPr sz="1050" b="0" i="0">
                          <a:solidFill>
                            <a:srgbClr val="1E2430"/>
                          </a:solidFill>
                          <a:latin typeface="Calibri"/>
                        </a:rPr>
                        <a:t>Retrieving the 3 closest past dialogues from the customer's archetype with hotel/price names masked as [SLOT], showing them to the LLM as style templates.</a:t>
                      </a:r>
                    </a:p>
                  </a:txBody>
                  <a:tcPr anchor="ctr" marL="54864" marR="54864" marT="22860" marB="22860">
                    <a:solidFill>
                      <a:srgbClr val="F2F6FC"/>
                    </a:solidFill>
                  </a:tcPr>
                </a:tc>
                <a:tc>
                  <a:txBody>
                    <a:bodyPr/>
                    <a:lstStyle/>
                    <a:p>
                      <a:pPr algn="l"/>
                      <a:r>
                        <a:rPr sz="1050" b="0" i="0">
                          <a:solidFill>
                            <a:srgbClr val="1E2430"/>
                          </a:solidFill>
                          <a:latin typeface="Calibri"/>
                        </a:rPr>
                        <a:t>Giving a new sales associate 3 redacted scripts showing *how* to structure an answer without letting them quote last week's prices.</a:t>
                      </a:r>
                    </a:p>
                  </a:txBody>
                  <a:tcPr anchor="ctr" marL="54864" marR="54864" marT="22860" marB="22860">
                    <a:solidFill>
                      <a:srgbClr val="F2F6FC"/>
                    </a:solidFill>
                  </a:tcPr>
                </a:tc>
                <a:tc>
                  <a:txBody>
                    <a:bodyPr/>
                    <a:lstStyle/>
                    <a:p>
                      <a:pPr algn="l"/>
                      <a:r>
                        <a:rPr sz="1050" b="0" i="0">
                          <a:solidFill>
                            <a:srgbClr val="1E2430"/>
                          </a:solidFill>
                          <a:latin typeface="Calibri"/>
                        </a:rPr>
                        <a:t>Style Convergence Cosine (similarity to human wizard style) and Pacing Calibration Error (|generated words − target archetype words|).</a:t>
                      </a:r>
                    </a:p>
                  </a:txBody>
                  <a:tcPr anchor="ctr" marL="54864" marR="54864" marT="22860" marB="22860">
                    <a:solidFill>
                      <a:srgbClr val="F2F6FC"/>
                    </a:solidFill>
                  </a:tcPr>
                </a:tc>
              </a:tr>
              <a:tr h="724988">
                <a:tc>
                  <a:txBody>
                    <a:bodyPr/>
                    <a:lstStyle/>
                    <a:p>
                      <a:pPr algn="l"/>
                      <a:r>
                        <a:rPr sz="1050" b="0" i="0">
                          <a:solidFill>
                            <a:srgbClr val="1E2430"/>
                          </a:solidFill>
                          <a:latin typeface="Calibri"/>
                        </a:rPr>
                        <a:t>5. Neuro-Symbolic
Guardrail
(Declarative Rule Engine)</a:t>
                      </a:r>
                    </a:p>
                  </a:txBody>
                  <a:tcPr anchor="ctr" marL="54864" marR="54864" marT="22860" marB="22860">
                    <a:solidFill>
                      <a:srgbClr val="FFFFFF"/>
                    </a:solidFill>
                  </a:tcPr>
                </a:tc>
                <a:tc>
                  <a:txBody>
                    <a:bodyPr/>
                    <a:lstStyle/>
                    <a:p>
                      <a:pPr algn="l"/>
                      <a:r>
                        <a:rPr sz="1050" b="0" i="0">
                          <a:solidFill>
                            <a:srgbClr val="1E2430"/>
                          </a:solidFill>
                          <a:latin typeface="Calibri"/>
                        </a:rPr>
                        <a:t>Combining a neural LLM (for fluent language) with deterministic code rules (if/then YAML policies) that audit facts before &amp; after generation.</a:t>
                      </a:r>
                    </a:p>
                  </a:txBody>
                  <a:tcPr anchor="ctr" marL="54864" marR="54864" marT="22860" marB="22860">
                    <a:solidFill>
                      <a:srgbClr val="FFFFFF"/>
                    </a:solidFill>
                  </a:tcPr>
                </a:tc>
                <a:tc>
                  <a:txBody>
                    <a:bodyPr/>
                    <a:lstStyle/>
                    <a:p>
                      <a:pPr algn="l"/>
                      <a:r>
                        <a:rPr sz="1050" b="0" i="0">
                          <a:solidFill>
                            <a:srgbClr val="1E2430"/>
                          </a:solidFill>
                          <a:latin typeface="Calibri"/>
                        </a:rPr>
                        <a:t>An architect designing a creative building (Neural LLM) checked by a structural engineer's building-code calculator (Symbolic Engine).</a:t>
                      </a:r>
                    </a:p>
                  </a:txBody>
                  <a:tcPr anchor="ctr" marL="54864" marR="54864" marT="22860" marB="22860">
                    <a:solidFill>
                      <a:srgbClr val="FFFFFF"/>
                    </a:solidFill>
                  </a:tcPr>
                </a:tc>
                <a:tc>
                  <a:txBody>
                    <a:bodyPr/>
                    <a:lstStyle/>
                    <a:p>
                      <a:pPr algn="l"/>
                      <a:r>
                        <a:rPr sz="1050" b="0" i="0">
                          <a:solidFill>
                            <a:srgbClr val="1E2430"/>
                          </a:solidFill>
                          <a:latin typeface="Calibri"/>
                        </a:rPr>
                        <a:t>Rule Adherence Rate (RAR), Exemplar Entity Leakage Rate (ELR), and Factual Slot Coverage F1 [0, 1].</a:t>
                      </a:r>
                    </a:p>
                  </a:txBody>
                  <a:tcPr anchor="ctr" marL="54864" marR="54864" marT="22860" marB="22860">
                    <a:solidFill>
                      <a:srgbClr val="FFFFFF"/>
                    </a:solidFill>
                  </a:tcPr>
                </a:tc>
              </a:tr>
              <a:tr h="724992">
                <a:tc>
                  <a:txBody>
                    <a:bodyPr/>
                    <a:lstStyle/>
                    <a:p>
                      <a:pPr algn="l"/>
                      <a:r>
                        <a:rPr sz="1050" b="0" i="0">
                          <a:solidFill>
                            <a:srgbClr val="1E2430"/>
                          </a:solidFill>
                          <a:latin typeface="Calibri"/>
                        </a:rPr>
                        <a:t>6. Turn Economy &amp;
Redundant Elicitation
Rate (RER)</a:t>
                      </a:r>
                    </a:p>
                  </a:txBody>
                  <a:tcPr anchor="ctr" marL="54864" marR="54864" marT="22860" marB="22860">
                    <a:solidFill>
                      <a:srgbClr val="F2F6FC"/>
                    </a:solidFill>
                  </a:tcPr>
                </a:tc>
                <a:tc>
                  <a:txBody>
                    <a:bodyPr/>
                    <a:lstStyle/>
                    <a:p>
                      <a:pPr algn="l"/>
                      <a:r>
                        <a:rPr sz="1050" b="0" i="0">
                          <a:solidFill>
                            <a:srgbClr val="1E2430"/>
                          </a:solidFill>
                          <a:latin typeface="Calibri"/>
                        </a:rPr>
                        <a:t>How many back-and-forth turns it takes to reach a successful booking, and how often the bot wastes turns re-asking already-stated facts.</a:t>
                      </a:r>
                    </a:p>
                  </a:txBody>
                  <a:tcPr anchor="ctr" marL="54864" marR="54864" marT="22860" marB="22860">
                    <a:solidFill>
                      <a:srgbClr val="F2F6FC"/>
                    </a:solidFill>
                  </a:tcPr>
                </a:tc>
                <a:tc>
                  <a:txBody>
                    <a:bodyPr/>
                    <a:lstStyle/>
                    <a:p>
                      <a:pPr algn="l"/>
                      <a:r>
                        <a:rPr sz="1050" b="0" i="0">
                          <a:solidFill>
                            <a:srgbClr val="1E2430"/>
                          </a:solidFill>
                          <a:latin typeface="Calibri"/>
                        </a:rPr>
                        <a:t>Closing a travel booking in 5 focused turns instead of 9 repetitive turns asking 'Where are you flying from?' twice.</a:t>
                      </a:r>
                    </a:p>
                  </a:txBody>
                  <a:tcPr anchor="ctr" marL="54864" marR="54864" marT="22860" marB="22860">
                    <a:solidFill>
                      <a:srgbClr val="F2F6FC"/>
                    </a:solidFill>
                  </a:tcPr>
                </a:tc>
                <a:tc>
                  <a:txBody>
                    <a:bodyPr/>
                    <a:lstStyle/>
                    <a:p>
                      <a:pPr algn="l"/>
                      <a:r>
                        <a:rPr sz="1050" b="0" i="0">
                          <a:solidFill>
                            <a:srgbClr val="1E2430"/>
                          </a:solidFill>
                          <a:latin typeface="Calibri"/>
                        </a:rPr>
                        <a:t>Turns to Goal Completion (TGC, raw &amp; log-transformed) and RER = redundant slot questions / total agent turns.</a:t>
                      </a:r>
                    </a:p>
                  </a:txBody>
                  <a:tcPr anchor="ctr" marL="54864" marR="54864" marT="22860" marB="22860">
                    <a:solidFill>
                      <a:srgbClr val="F2F6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2: LITERATURE ANALYSIS &amp; UNIQUENESS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6</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Literature Review (Part 1): Hospitality AI Value &amp; Task-Oriented Corpora</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What prior business and corpus studies discovered, how we use their foundations, and what they left unsolved</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Stream 1: Travel &amp; Hospitality AI Business Value</a:t>
            </a:r>
          </a:p>
        </p:txBody>
      </p:sp>
      <p:sp>
        <p:nvSpPr>
          <p:cNvPr id="13" name="TextBox 12"/>
          <p:cNvSpPr txBox="1"/>
          <p:nvPr/>
        </p:nvSpPr>
        <p:spPr>
          <a:xfrm>
            <a:off x="411479" y="1755648"/>
            <a:ext cx="5440680" cy="4544568"/>
          </a:xfrm>
          <a:prstGeom prst="rect">
            <a:avLst/>
          </a:prstGeom>
          <a:noFill/>
        </p:spPr>
        <p:txBody>
          <a:bodyPr wrap="square" lIns="36576" rIns="36576" tIns="18288" bIns="18288">
            <a:spAutoFit/>
          </a:bodyPr>
          <a:lstStyle/>
          <a:p>
            <a:pPr>
              <a:spcAft>
                <a:spcPts val="400"/>
              </a:spcAft>
            </a:pPr>
            <a:r>
              <a:rPr sz="1100" b="0" i="0">
                <a:solidFill>
                  <a:srgbClr val="1E2430"/>
                </a:solidFill>
                <a:latin typeface="Calibri"/>
              </a:rPr>
              <a:t>• </a:t>
            </a:r>
            <a:r>
              <a:rPr sz="1100" b="1" i="0">
                <a:solidFill>
                  <a:srgbClr val="1E2430"/>
                </a:solidFill>
                <a:latin typeface="Calibri"/>
              </a:rPr>
              <a:t>What Prior Papers Tried &amp; Found:</a:t>
            </a:r>
          </a:p>
          <a:p>
            <a:pPr>
              <a:spcAft>
                <a:spcPts val="400"/>
              </a:spcAft>
            </a:pPr>
            <a:r>
              <a:rPr sz="1000" b="0" i="0">
                <a:solidFill>
                  <a:srgbClr val="1E2430"/>
                </a:solidFill>
                <a:latin typeface="Calibri"/>
              </a:rPr>
              <a:t>    ▪ </a:t>
            </a:r>
            <a:r>
              <a:rPr sz="1000" b="1" i="0">
                <a:solidFill>
                  <a:srgbClr val="1E2430"/>
                </a:solidFill>
                <a:latin typeface="Calibri"/>
              </a:rPr>
              <a:t>Buhalis &amp; Sinarta (2019)</a:t>
            </a:r>
            <a:r>
              <a:rPr sz="1000" b="0" i="0">
                <a:solidFill>
                  <a:srgbClr val="1E2430"/>
                </a:solidFill>
                <a:latin typeface="Calibri"/>
              </a:rPr>
              <a:t> introduced real-time 'nowness' co-creation in tourism: travelers expect instant, personalized itinerary synthesis.</a:t>
            </a:r>
          </a:p>
          <a:p>
            <a:pPr>
              <a:spcAft>
                <a:spcPts val="400"/>
              </a:spcAft>
            </a:pPr>
            <a:r>
              <a:rPr sz="1000" b="0" i="0">
                <a:solidFill>
                  <a:srgbClr val="1E2430"/>
                </a:solidFill>
                <a:latin typeface="Calibri"/>
              </a:rPr>
              <a:t>    ▪ </a:t>
            </a:r>
            <a:r>
              <a:rPr sz="1000" b="1" i="0">
                <a:solidFill>
                  <a:srgbClr val="1E2430"/>
                </a:solidFill>
                <a:latin typeface="Calibri"/>
              </a:rPr>
              <a:t>Ivanov &amp; Webster (2019)</a:t>
            </a:r>
            <a:r>
              <a:rPr sz="1000" b="0" i="0">
                <a:solidFill>
                  <a:srgbClr val="1E2430"/>
                </a:solidFill>
                <a:latin typeface="Calibri"/>
              </a:rPr>
              <a:t> established the ROI framework for hospitality automation: chatbots create net economic value only when they resolve complex consultative queries without human escalation.</a:t>
            </a:r>
          </a:p>
          <a:p>
            <a:pPr>
              <a:spcAft>
                <a:spcPts val="400"/>
              </a:spcAft>
            </a:pPr>
            <a:r>
              <a:rPr sz="1000" b="0" i="0">
                <a:solidFill>
                  <a:srgbClr val="1E2430"/>
                </a:solidFill>
                <a:latin typeface="Calibri"/>
              </a:rPr>
              <a:t>    ▪ </a:t>
            </a:r>
            <a:r>
              <a:rPr sz="1000" b="1" i="0">
                <a:solidFill>
                  <a:srgbClr val="1E2430"/>
                </a:solidFill>
                <a:latin typeface="Calibri"/>
              </a:rPr>
              <a:t>Melián-González et al. (2021)</a:t>
            </a:r>
            <a:r>
              <a:rPr sz="1000" b="0" i="0">
                <a:solidFill>
                  <a:srgbClr val="1E2430"/>
                </a:solidFill>
                <a:latin typeface="Calibri"/>
              </a:rPr>
              <a:t> surveyed </a:t>
            </a:r>
            <a:r>
              <a:rPr sz="1000" b="0" i="1">
                <a:solidFill>
                  <a:srgbClr val="1E2430"/>
                </a:solidFill>
                <a:latin typeface="Calibri"/>
              </a:rPr>
              <a:t>N</a:t>
            </a:r>
            <a:r>
              <a:rPr sz="1000" b="0" i="0">
                <a:solidFill>
                  <a:srgbClr val="1E2430"/>
                </a:solidFill>
                <a:latin typeface="Calibri"/>
              </a:rPr>
              <a:t> = 1,476 consumers and proved that perceived interaction efficiency and task fit drive chatbot adoption.</a:t>
            </a:r>
          </a:p>
          <a:p>
            <a:pPr>
              <a:spcAft>
                <a:spcPts val="400"/>
              </a:spcAft>
            </a:pPr>
            <a:r>
              <a:rPr sz="1000" b="0" i="0">
                <a:solidFill>
                  <a:srgbClr val="1E2430"/>
                </a:solidFill>
                <a:latin typeface="Calibri"/>
              </a:rPr>
              <a:t>    ▪ </a:t>
            </a:r>
            <a:r>
              <a:rPr sz="1000" b="1" i="0">
                <a:solidFill>
                  <a:srgbClr val="1E2430"/>
                </a:solidFill>
                <a:latin typeface="Calibri"/>
              </a:rPr>
              <a:t>Jannach et al. (2021) &amp; Inaba et al. (2022)</a:t>
            </a:r>
            <a:r>
              <a:rPr sz="1000" b="0" i="0">
                <a:solidFill>
                  <a:srgbClr val="1E2430"/>
                </a:solidFill>
                <a:latin typeface="Calibri"/>
              </a:rPr>
              <a:t> showed qualitatively that travelers exhibit heterogeneous initiative and constraint rigidity.</a:t>
            </a:r>
          </a:p>
          <a:p>
            <a:pPr>
              <a:spcAft>
                <a:spcPts val="400"/>
              </a:spcAft>
            </a:pPr>
            <a:r>
              <a:rPr sz="1100" b="0" i="0">
                <a:solidFill>
                  <a:srgbClr val="1E2430"/>
                </a:solidFill>
                <a:latin typeface="Calibri"/>
              </a:rPr>
              <a:t>• </a:t>
            </a:r>
            <a:r>
              <a:rPr sz="1100" b="1" i="0">
                <a:solidFill>
                  <a:srgbClr val="1E2430"/>
                </a:solidFill>
                <a:latin typeface="Calibri"/>
              </a:rPr>
              <a:t>How We Use This Knowledge:</a:t>
            </a:r>
          </a:p>
          <a:p>
            <a:pPr>
              <a:spcAft>
                <a:spcPts val="400"/>
              </a:spcAft>
            </a:pPr>
            <a:r>
              <a:rPr sz="1000" b="0" i="0">
                <a:solidFill>
                  <a:srgbClr val="1E2430"/>
                </a:solidFill>
                <a:latin typeface="Calibri"/>
              </a:rPr>
              <a:t>    ▪ We operationalize their qualitative constructs—</a:t>
            </a:r>
            <a:r>
              <a:rPr sz="1000" b="0" i="1">
                <a:solidFill>
                  <a:srgbClr val="1E2430"/>
                </a:solidFill>
                <a:latin typeface="Calibri"/>
              </a:rPr>
              <a:t>decisiveness, exploration breadth, constraint rigidity, and interaction effort</a:t>
            </a:r>
            <a:r>
              <a:rPr sz="1000" b="0" i="0">
                <a:solidFill>
                  <a:srgbClr val="1E2430"/>
                </a:solidFill>
                <a:latin typeface="Calibri"/>
              </a:rPr>
              <a:t>—into 16 quantitative behavioral variables and multi-turn turn-economy metrics.</a:t>
            </a:r>
          </a:p>
          <a:p>
            <a:pPr>
              <a:spcAft>
                <a:spcPts val="400"/>
              </a:spcAft>
            </a:pPr>
            <a:r>
              <a:rPr sz="1100" b="0" i="0">
                <a:solidFill>
                  <a:srgbClr val="1E2430"/>
                </a:solidFill>
                <a:latin typeface="Calibri"/>
              </a:rPr>
              <a:t>• </a:t>
            </a:r>
            <a:r>
              <a:rPr sz="1100" b="1" i="0">
                <a:solidFill>
                  <a:srgbClr val="1E2430"/>
                </a:solidFill>
                <a:latin typeface="Calibri"/>
              </a:rPr>
              <a:t>What Is Uniquely New in Our Study (With Data Proof):</a:t>
            </a:r>
          </a:p>
          <a:p>
            <a:pPr>
              <a:spcAft>
                <a:spcPts val="400"/>
              </a:spcAft>
            </a:pPr>
            <a:r>
              <a:rPr sz="1000" b="0" i="0">
                <a:solidFill>
                  <a:srgbClr val="1E2430"/>
                </a:solidFill>
                <a:latin typeface="Calibri"/>
              </a:rPr>
              <a:t>    ▪ Prior tourism papers relied on </a:t>
            </a:r>
            <a:r>
              <a:rPr sz="1000" b="0" i="1">
                <a:solidFill>
                  <a:srgbClr val="1E2430"/>
                </a:solidFill>
                <a:latin typeface="Calibri"/>
              </a:rPr>
              <a:t>post-hoc user surveys</a:t>
            </a:r>
            <a:r>
              <a:rPr sz="1000" b="0" i="0">
                <a:solidFill>
                  <a:srgbClr val="1E2430"/>
                </a:solidFill>
                <a:latin typeface="Calibri"/>
              </a:rPr>
              <a:t>. We are the first to instrument actual LLM turn economy, proving a </a:t>
            </a:r>
            <a:r>
              <a:rPr sz="1000" b="1" i="0">
                <a:solidFill>
                  <a:srgbClr val="1E2430"/>
                </a:solidFill>
                <a:latin typeface="Calibri"/>
              </a:rPr>
              <a:t>35.8% reduction in turns (7.93 → 5.09 turns, p &lt; .001)</a:t>
            </a:r>
            <a:r>
              <a:rPr sz="1000" b="0" i="0">
                <a:solidFill>
                  <a:srgbClr val="1E2430"/>
                </a:solidFill>
                <a:latin typeface="Calibri"/>
              </a:rPr>
              <a:t> and </a:t>
            </a:r>
            <a:r>
              <a:rPr sz="1000" b="1" i="0">
                <a:solidFill>
                  <a:srgbClr val="1E2430"/>
                </a:solidFill>
                <a:latin typeface="Calibri"/>
              </a:rPr>
              <a:t>0.0% redundant questions</a:t>
            </a:r>
            <a:r>
              <a:rPr sz="1000" b="0" i="0">
                <a:solidFill>
                  <a:srgbClr val="1E2430"/>
                </a:solidFill>
                <a:latin typeface="Calibri"/>
              </a:rPr>
              <a:t>.</a:t>
            </a:r>
          </a:p>
        </p:txBody>
      </p:sp>
      <p:sp>
        <p:nvSpPr>
          <p:cNvPr id="14" name="Rounded Rectangle 13"/>
          <p:cNvSpPr/>
          <p:nvPr/>
        </p:nvSpPr>
        <p:spPr>
          <a:xfrm>
            <a:off x="6217920" y="1371600"/>
            <a:ext cx="5650992"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Stream 2: Task-Oriented Dialogue Corpora (Frames &amp; MultiWOZ)</a:t>
            </a:r>
          </a:p>
        </p:txBody>
      </p:sp>
      <p:sp>
        <p:nvSpPr>
          <p:cNvPr id="16" name="TextBox 15"/>
          <p:cNvSpPr txBox="1"/>
          <p:nvPr/>
        </p:nvSpPr>
        <p:spPr>
          <a:xfrm>
            <a:off x="6309359" y="1755648"/>
            <a:ext cx="5468112" cy="4544568"/>
          </a:xfrm>
          <a:prstGeom prst="rect">
            <a:avLst/>
          </a:prstGeom>
          <a:noFill/>
        </p:spPr>
        <p:txBody>
          <a:bodyPr wrap="square" lIns="36576" rIns="36576" tIns="18288" bIns="18288">
            <a:spAutoFit/>
          </a:bodyPr>
          <a:lstStyle/>
          <a:p>
            <a:pPr>
              <a:spcAft>
                <a:spcPts val="400"/>
              </a:spcAft>
            </a:pPr>
            <a:r>
              <a:rPr sz="1100" b="0" i="0">
                <a:solidFill>
                  <a:srgbClr val="1E2430"/>
                </a:solidFill>
                <a:latin typeface="Calibri"/>
              </a:rPr>
              <a:t>• </a:t>
            </a:r>
            <a:r>
              <a:rPr sz="1100" b="1" i="0">
                <a:solidFill>
                  <a:srgbClr val="1E2430"/>
                </a:solidFill>
                <a:latin typeface="Calibri"/>
              </a:rPr>
              <a:t>What Prior Papers Tried &amp; Found:</a:t>
            </a:r>
          </a:p>
          <a:p>
            <a:pPr>
              <a:spcAft>
                <a:spcPts val="400"/>
              </a:spcAft>
            </a:pPr>
            <a:r>
              <a:rPr sz="1000" b="0" i="0">
                <a:solidFill>
                  <a:srgbClr val="1E2430"/>
                </a:solidFill>
                <a:latin typeface="Calibri"/>
              </a:rPr>
              <a:t>    ▪ </a:t>
            </a:r>
            <a:r>
              <a:rPr sz="1000" b="1" i="0">
                <a:solidFill>
                  <a:srgbClr val="1E2430"/>
                </a:solidFill>
                <a:latin typeface="Calibri"/>
              </a:rPr>
              <a:t>El Asri et al. (2017) [Microsoft Frames]</a:t>
            </a:r>
            <a:r>
              <a:rPr sz="1000" b="0" i="0">
                <a:solidFill>
                  <a:srgbClr val="1E2430"/>
                </a:solidFill>
                <a:latin typeface="Calibri"/>
              </a:rPr>
              <a:t> collected 1,369 human–human Wizard-of-Oz vacation package negotiations to study non-linear </a:t>
            </a:r>
            <a:r>
              <a:rPr sz="1000" b="0" i="1">
                <a:solidFill>
                  <a:srgbClr val="1E2430"/>
                </a:solidFill>
                <a:latin typeface="Calibri"/>
              </a:rPr>
              <a:t>frame-switching</a:t>
            </a:r>
            <a:r>
              <a:rPr sz="1000" b="0" i="0">
                <a:solidFill>
                  <a:srgbClr val="1E2430"/>
                </a:solidFill>
                <a:latin typeface="Calibri"/>
              </a:rPr>
              <a:t> (comparing multiple flight+hotel packages under budget ceilings).</a:t>
            </a:r>
          </a:p>
          <a:p>
            <a:pPr>
              <a:spcAft>
                <a:spcPts val="400"/>
              </a:spcAft>
            </a:pPr>
            <a:r>
              <a:rPr sz="1000" b="0" i="0">
                <a:solidFill>
                  <a:srgbClr val="1E2430"/>
                </a:solidFill>
                <a:latin typeface="Calibri"/>
              </a:rPr>
              <a:t>    ▪ </a:t>
            </a:r>
            <a:r>
              <a:rPr sz="1000" b="1" i="0">
                <a:solidFill>
                  <a:srgbClr val="1E2430"/>
                </a:solidFill>
                <a:latin typeface="Calibri"/>
              </a:rPr>
              <a:t>Budzianowski et al. (2018) &amp; Zang et al. (2020) [MultiWOZ 2.2]</a:t>
            </a:r>
            <a:r>
              <a:rPr sz="1000" b="0" i="0">
                <a:solidFill>
                  <a:srgbClr val="1E2430"/>
                </a:solidFill>
                <a:latin typeface="Calibri"/>
              </a:rPr>
              <a:t> created a 10,438-dialogue benchmark for supervised slot-filling across city services (hotel, train, attraction, taxi, restaurant).</a:t>
            </a:r>
          </a:p>
          <a:p>
            <a:pPr>
              <a:spcAft>
                <a:spcPts val="400"/>
              </a:spcAft>
            </a:pPr>
            <a:r>
              <a:rPr sz="1100" b="0" i="0">
                <a:solidFill>
                  <a:srgbClr val="1E2430"/>
                </a:solidFill>
                <a:latin typeface="Calibri"/>
              </a:rPr>
              <a:t>• </a:t>
            </a:r>
            <a:r>
              <a:rPr sz="1100" b="1" i="0">
                <a:solidFill>
                  <a:srgbClr val="1E2430"/>
                </a:solidFill>
                <a:latin typeface="Calibri"/>
              </a:rPr>
              <a:t>How We Use This Knowledge:</a:t>
            </a:r>
          </a:p>
          <a:p>
            <a:pPr>
              <a:spcAft>
                <a:spcPts val="400"/>
              </a:spcAft>
            </a:pPr>
            <a:r>
              <a:rPr sz="1000" b="0" i="0">
                <a:solidFill>
                  <a:srgbClr val="1E2430"/>
                </a:solidFill>
                <a:latin typeface="Calibri"/>
              </a:rPr>
              <a:t>    ▪ We use Frames (</a:t>
            </a:r>
            <a:r>
              <a:rPr sz="1000" b="0" i="1">
                <a:solidFill>
                  <a:srgbClr val="1E2430"/>
                </a:solidFill>
                <a:latin typeface="Calibri"/>
              </a:rPr>
              <a:t>N</a:t>
            </a:r>
            <a:r>
              <a:rPr sz="1000" b="0" i="0">
                <a:solidFill>
                  <a:srgbClr val="1E2430"/>
                </a:solidFill>
                <a:latin typeface="Calibri"/>
              </a:rPr>
              <a:t> = 1,334 analytic) as our primary consultative travel testbed and MultiWOZ 2.2 (</a:t>
            </a:r>
            <a:r>
              <a:rPr sz="1000" b="0" i="1">
                <a:solidFill>
                  <a:srgbClr val="1E2430"/>
                </a:solidFill>
                <a:latin typeface="Calibri"/>
              </a:rPr>
              <a:t>N</a:t>
            </a:r>
            <a:r>
              <a:rPr sz="1000" b="0" i="0">
                <a:solidFill>
                  <a:srgbClr val="1E2430"/>
                </a:solidFill>
                <a:latin typeface="Calibri"/>
              </a:rPr>
              <a:t> = 1,499) as an external structural transfer benchmark.</a:t>
            </a:r>
          </a:p>
          <a:p>
            <a:pPr>
              <a:spcAft>
                <a:spcPts val="400"/>
              </a:spcAft>
            </a:pPr>
            <a:r>
              <a:rPr sz="1100" b="0" i="0">
                <a:solidFill>
                  <a:srgbClr val="1E2430"/>
                </a:solidFill>
                <a:latin typeface="Calibri"/>
              </a:rPr>
              <a:t>• </a:t>
            </a:r>
            <a:r>
              <a:rPr sz="1100" b="1" i="0">
                <a:solidFill>
                  <a:srgbClr val="1E2430"/>
                </a:solidFill>
                <a:latin typeface="Calibri"/>
              </a:rPr>
              <a:t>What Is Uniquely New in Our Study (With Data Proof):</a:t>
            </a:r>
          </a:p>
          <a:p>
            <a:pPr>
              <a:spcAft>
                <a:spcPts val="400"/>
              </a:spcAft>
            </a:pPr>
            <a:r>
              <a:rPr sz="1000" b="0" i="0">
                <a:solidFill>
                  <a:srgbClr val="1E2430"/>
                </a:solidFill>
                <a:latin typeface="Calibri"/>
              </a:rPr>
              <a:t>    ▪ Both corpora were built for </a:t>
            </a:r>
            <a:r>
              <a:rPr sz="1000" b="0" i="1">
                <a:solidFill>
                  <a:srgbClr val="1E2430"/>
                </a:solidFill>
                <a:latin typeface="Calibri"/>
              </a:rPr>
              <a:t>supervised slot state tracking</a:t>
            </a:r>
            <a:r>
              <a:rPr sz="1000" b="0" i="0">
                <a:solidFill>
                  <a:srgbClr val="1E2430"/>
                </a:solidFill>
                <a:latin typeface="Calibri"/>
              </a:rPr>
              <a:t>, treating all users as uniform. Neither clustered user decision-making archetypes nor audited policy compliance.</a:t>
            </a:r>
          </a:p>
          <a:p>
            <a:pPr>
              <a:spcAft>
                <a:spcPts val="400"/>
              </a:spcAft>
            </a:pPr>
            <a:r>
              <a:rPr sz="1000" b="0" i="0">
                <a:solidFill>
                  <a:srgbClr val="1E2430"/>
                </a:solidFill>
                <a:latin typeface="Calibri"/>
              </a:rPr>
              <a:t>    ▪ Our cross-corpus test in RQ1 proves that Frames negotiation archetypes do not transfer trivially to simple MultiWOZ slot-filling (centroid cosine </a:t>
            </a:r>
            <a:r>
              <a:rPr sz="1000" b="1" i="0">
                <a:solidFill>
                  <a:srgbClr val="1E2430"/>
                </a:solidFill>
                <a:latin typeface="Calibri"/>
              </a:rPr>
              <a:t>.467 vs. .269, t = 28.08, p &lt; .001</a:t>
            </a:r>
            <a:r>
              <a:rPr sz="1000" b="0" i="0">
                <a:solidFill>
                  <a:srgbClr val="1E2430"/>
                </a:solidFill>
                <a:latin typeface="Calibri"/>
              </a:rPr>
              <a:t>), proving consultative travel requires its own archetype taxonomy.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2: LITERATURE ANALYSIS &amp; UNIQUENESS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7</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Literature Review (Part 2): Representation Learning, FAISS ICL &amp; Guardrails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How we integrate vector geometry, dynamic in-context learning, and programmable rails—and overcome their failure modes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Stream 3: Embeddings &amp; Unsupervised Clustering</a:t>
            </a:r>
          </a:p>
        </p:txBody>
      </p:sp>
      <p:sp>
        <p:nvSpPr>
          <p:cNvPr id="13" name="TextBox 12"/>
          <p:cNvSpPr txBox="1"/>
          <p:nvPr/>
        </p:nvSpPr>
        <p:spPr>
          <a:xfrm>
            <a:off x="411479" y="1755648"/>
            <a:ext cx="5440680" cy="4544568"/>
          </a:xfrm>
          <a:prstGeom prst="rect">
            <a:avLst/>
          </a:prstGeom>
          <a:noFill/>
        </p:spPr>
        <p:txBody>
          <a:bodyPr wrap="square" lIns="36576" rIns="36576" tIns="18288" bIns="18288">
            <a:spAutoFit/>
          </a:bodyPr>
          <a:lstStyle/>
          <a:p>
            <a:pPr>
              <a:spcAft>
                <a:spcPts val="400"/>
              </a:spcAft>
            </a:pPr>
            <a:r>
              <a:rPr sz="1100" b="0" i="0">
                <a:solidFill>
                  <a:srgbClr val="1E2430"/>
                </a:solidFill>
                <a:latin typeface="Calibri"/>
              </a:rPr>
              <a:t>• </a:t>
            </a:r>
            <a:r>
              <a:rPr sz="1100" b="1" i="0">
                <a:solidFill>
                  <a:srgbClr val="1E2430"/>
                </a:solidFill>
                <a:latin typeface="Calibri"/>
              </a:rPr>
              <a:t>What Prior Papers Tried &amp; Found:</a:t>
            </a:r>
          </a:p>
          <a:p>
            <a:pPr>
              <a:spcAft>
                <a:spcPts val="400"/>
              </a:spcAft>
            </a:pPr>
            <a:r>
              <a:rPr sz="1000" b="0" i="0">
                <a:solidFill>
                  <a:srgbClr val="1E2430"/>
                </a:solidFill>
                <a:latin typeface="Calibri"/>
              </a:rPr>
              <a:t>    ▪ </a:t>
            </a:r>
            <a:r>
              <a:rPr sz="1000" b="1" i="0">
                <a:solidFill>
                  <a:srgbClr val="1E2430"/>
                </a:solidFill>
                <a:latin typeface="Calibri"/>
              </a:rPr>
              <a:t>Reimers &amp; Gurevych (2019) [Sentence-BERT]</a:t>
            </a:r>
            <a:r>
              <a:rPr sz="1000" b="0" i="0">
                <a:solidFill>
                  <a:srgbClr val="1E2430"/>
                </a:solidFill>
                <a:latin typeface="Calibri"/>
              </a:rPr>
              <a:t> and </a:t>
            </a:r>
            <a:r>
              <a:rPr sz="1000" b="1" i="0">
                <a:solidFill>
                  <a:srgbClr val="1E2430"/>
                </a:solidFill>
                <a:latin typeface="Calibri"/>
              </a:rPr>
              <a:t>Lee et al. (2025) [Gemini Embeddings]</a:t>
            </a:r>
            <a:r>
              <a:rPr sz="1000" b="0" i="0">
                <a:solidFill>
                  <a:srgbClr val="1E2430"/>
                </a:solidFill>
                <a:latin typeface="Calibri"/>
              </a:rPr>
              <a:t> showed that bi-encoder transformers map text into cosine spaces suitable for clustering.</a:t>
            </a:r>
          </a:p>
          <a:p>
            <a:pPr>
              <a:spcAft>
                <a:spcPts val="400"/>
              </a:spcAft>
            </a:pPr>
            <a:r>
              <a:rPr sz="1000" b="0" i="0">
                <a:solidFill>
                  <a:srgbClr val="1E2430"/>
                </a:solidFill>
                <a:latin typeface="Calibri"/>
              </a:rPr>
              <a:t>    ▪ </a:t>
            </a:r>
            <a:r>
              <a:rPr sz="1000" b="1" i="0">
                <a:solidFill>
                  <a:srgbClr val="1E2430"/>
                </a:solidFill>
                <a:latin typeface="Calibri"/>
              </a:rPr>
              <a:t>McInnes et al. (2017, 2018) [HDBSCAN &amp; UMAP]</a:t>
            </a:r>
            <a:r>
              <a:rPr sz="1000" b="0" i="0">
                <a:solidFill>
                  <a:srgbClr val="1E2430"/>
                </a:solidFill>
                <a:latin typeface="Calibri"/>
              </a:rPr>
              <a:t> and </a:t>
            </a:r>
            <a:r>
              <a:rPr sz="1000" b="1" i="0">
                <a:solidFill>
                  <a:srgbClr val="1E2430"/>
                </a:solidFill>
                <a:latin typeface="Calibri"/>
              </a:rPr>
              <a:t>Hennig (2007) [Bootstrap ARI]</a:t>
            </a:r>
            <a:r>
              <a:rPr sz="1000" b="0" i="0">
                <a:solidFill>
                  <a:srgbClr val="1E2430"/>
                </a:solidFill>
                <a:latin typeface="Calibri"/>
              </a:rPr>
              <a:t> established density clustering and resampling stability.</a:t>
            </a:r>
          </a:p>
          <a:p>
            <a:pPr>
              <a:spcAft>
                <a:spcPts val="400"/>
              </a:spcAft>
            </a:pPr>
            <a:r>
              <a:rPr sz="1000" b="0" i="0">
                <a:solidFill>
                  <a:srgbClr val="1E2430"/>
                </a:solidFill>
                <a:latin typeface="Calibri"/>
              </a:rPr>
              <a:t>    ▪ </a:t>
            </a:r>
            <a:r>
              <a:rPr sz="1000" b="1" i="0">
                <a:solidFill>
                  <a:srgbClr val="1E2430"/>
                </a:solidFill>
                <a:latin typeface="Calibri"/>
              </a:rPr>
              <a:t>Gilardi et al. (2023)</a:t>
            </a:r>
            <a:r>
              <a:rPr sz="1000" b="0" i="0">
                <a:solidFill>
                  <a:srgbClr val="1E2430"/>
                </a:solidFill>
                <a:latin typeface="Calibri"/>
              </a:rPr>
              <a:t> proved zero-temp LLMs achieve high annotation reliability.</a:t>
            </a:r>
          </a:p>
          <a:p>
            <a:pPr>
              <a:spcAft>
                <a:spcPts val="400"/>
              </a:spcAft>
            </a:pPr>
            <a:r>
              <a:rPr sz="1100" b="0" i="0">
                <a:solidFill>
                  <a:srgbClr val="1E2430"/>
                </a:solidFill>
                <a:latin typeface="Calibri"/>
              </a:rPr>
              <a:t>• </a:t>
            </a:r>
            <a:r>
              <a:rPr sz="1100" b="1" i="0">
                <a:solidFill>
                  <a:srgbClr val="1E2430"/>
                </a:solidFill>
                <a:latin typeface="Calibri"/>
              </a:rPr>
              <a:t>What Failed When Applied Directly (Our Interim Discovery):</a:t>
            </a:r>
          </a:p>
          <a:p>
            <a:pPr>
              <a:spcAft>
                <a:spcPts val="400"/>
              </a:spcAft>
            </a:pPr>
            <a:r>
              <a:rPr sz="1000" b="0" i="0">
                <a:solidFill>
                  <a:srgbClr val="1E2430"/>
                </a:solidFill>
                <a:latin typeface="Calibri"/>
              </a:rPr>
              <a:t>    ▪ When we clustered whole-dialogue embeddings directly (as standard papers do), clusters captured </a:t>
            </a:r>
            <a:r>
              <a:rPr sz="1000" b="0" i="1">
                <a:solidFill>
                  <a:srgbClr val="1E2430"/>
                </a:solidFill>
                <a:latin typeface="Calibri"/>
              </a:rPr>
              <a:t>end-of-dialogue outcomes</a:t>
            </a:r>
            <a:r>
              <a:rPr sz="1000" b="0" i="0">
                <a:solidFill>
                  <a:srgbClr val="1E2430"/>
                </a:solidFill>
                <a:latin typeface="Calibri"/>
              </a:rPr>
              <a:t> and </a:t>
            </a:r>
            <a:r>
              <a:rPr sz="1000" b="0" i="1">
                <a:solidFill>
                  <a:srgbClr val="1E2430"/>
                </a:solidFill>
                <a:latin typeface="Calibri"/>
              </a:rPr>
              <a:t>wizard identity</a:t>
            </a:r>
            <a:r>
              <a:rPr sz="1000" b="0" i="0">
                <a:solidFill>
                  <a:srgbClr val="1E2430"/>
                </a:solidFill>
                <a:latin typeface="Calibri"/>
              </a:rPr>
              <a:t> (Cramér's </a:t>
            </a:r>
            <a:r>
              <a:rPr sz="1000" b="0" i="1">
                <a:solidFill>
                  <a:srgbClr val="1E2430"/>
                </a:solidFill>
                <a:latin typeface="Calibri"/>
              </a:rPr>
              <a:t>V</a:t>
            </a:r>
            <a:r>
              <a:rPr sz="1000" b="0" i="0">
                <a:solidFill>
                  <a:srgbClr val="1E2430"/>
                </a:solidFill>
                <a:latin typeface="Calibri"/>
              </a:rPr>
              <a:t> = .45) rather than user behavior, giving terrible early-turn routing (</a:t>
            </a:r>
            <a:r>
              <a:rPr sz="1000" b="1" i="0">
                <a:solidFill>
                  <a:srgbClr val="1E2430"/>
                </a:solidFill>
                <a:latin typeface="Calibri"/>
              </a:rPr>
              <a:t>κ = .24</a:t>
            </a:r>
            <a:r>
              <a:rPr sz="1000" b="0" i="0">
                <a:solidFill>
                  <a:srgbClr val="1E2430"/>
                </a:solidFill>
                <a:latin typeface="Calibri"/>
              </a:rPr>
              <a:t>) and a null RQ2 prompting result (</a:t>
            </a:r>
            <a:r>
              <a:rPr sz="1000" b="1" i="0">
                <a:solidFill>
                  <a:srgbClr val="1E2430"/>
                </a:solidFill>
                <a:latin typeface="Calibri"/>
              </a:rPr>
              <a:t>p = .211</a:t>
            </a:r>
            <a:r>
              <a:rPr sz="1000" b="0" i="0">
                <a:solidFill>
                  <a:srgbClr val="1E2430"/>
                </a:solidFill>
                <a:latin typeface="Calibri"/>
              </a:rPr>
              <a:t>)!</a:t>
            </a:r>
          </a:p>
          <a:p>
            <a:pPr>
              <a:spcAft>
                <a:spcPts val="400"/>
              </a:spcAft>
            </a:pPr>
            <a:r>
              <a:rPr sz="1100" b="0" i="0">
                <a:solidFill>
                  <a:srgbClr val="1E2430"/>
                </a:solidFill>
                <a:latin typeface="Calibri"/>
              </a:rPr>
              <a:t>• </a:t>
            </a:r>
            <a:r>
              <a:rPr sz="1100" b="1" i="0">
                <a:solidFill>
                  <a:srgbClr val="1E2430"/>
                </a:solidFill>
                <a:latin typeface="Calibri"/>
              </a:rPr>
              <a:t>Our Unique Innovation (RQ1 Breakthrough):</a:t>
            </a:r>
          </a:p>
          <a:p>
            <a:pPr>
              <a:spcAft>
                <a:spcPts val="400"/>
              </a:spcAft>
            </a:pPr>
            <a:r>
              <a:rPr sz="1000" b="0" i="0">
                <a:solidFill>
                  <a:srgbClr val="1E2430"/>
                </a:solidFill>
                <a:latin typeface="Calibri"/>
              </a:rPr>
              <a:t>    ▪ We combined </a:t>
            </a:r>
            <a:r>
              <a:rPr sz="1000" b="1" i="0">
                <a:solidFill>
                  <a:srgbClr val="1E2430"/>
                </a:solidFill>
                <a:latin typeface="Calibri"/>
              </a:rPr>
              <a:t>truncated opening user prefixes (first M = 9 user messages)</a:t>
            </a:r>
            <a:r>
              <a:rPr sz="1000" b="0" i="0">
                <a:solidFill>
                  <a:srgbClr val="1E2430"/>
                </a:solidFill>
                <a:latin typeface="Calibri"/>
              </a:rPr>
              <a:t> with a </a:t>
            </a:r>
            <a:r>
              <a:rPr sz="1000" b="1" i="0">
                <a:solidFill>
                  <a:srgbClr val="1E2430"/>
                </a:solidFill>
                <a:latin typeface="Calibri"/>
              </a:rPr>
              <a:t>16-field LLM behavioral profile (`Blocks`)</a:t>
            </a:r>
            <a:r>
              <a:rPr sz="1000" b="0" i="0">
                <a:solidFill>
                  <a:srgbClr val="1E2430"/>
                </a:solidFill>
                <a:latin typeface="Calibri"/>
              </a:rPr>
              <a:t>, raising bootstrap stability to </a:t>
            </a:r>
            <a:r>
              <a:rPr sz="1000" b="1" i="0">
                <a:solidFill>
                  <a:srgbClr val="1E2430"/>
                </a:solidFill>
                <a:latin typeface="Calibri"/>
              </a:rPr>
              <a:t>ARI = .76</a:t>
            </a:r>
            <a:r>
              <a:rPr sz="1000" b="0" i="0">
                <a:solidFill>
                  <a:srgbClr val="1E2430"/>
                </a:solidFill>
                <a:latin typeface="Calibri"/>
              </a:rPr>
              <a:t> and out-of-sample routing to </a:t>
            </a:r>
            <a:r>
              <a:rPr sz="1000" b="1" i="0">
                <a:solidFill>
                  <a:srgbClr val="1E2430"/>
                </a:solidFill>
                <a:latin typeface="Calibri"/>
              </a:rPr>
              <a:t>κ = .535 (M=5) and κ = .958 (M=9)</a:t>
            </a:r>
            <a:r>
              <a:rPr sz="1000" b="0" i="0">
                <a:solidFill>
                  <a:srgbClr val="1E2430"/>
                </a:solidFill>
                <a:latin typeface="Calibri"/>
              </a:rPr>
              <a:t>.</a:t>
            </a:r>
          </a:p>
        </p:txBody>
      </p:sp>
      <p:sp>
        <p:nvSpPr>
          <p:cNvPr id="14" name="Rounded Rectangle 13"/>
          <p:cNvSpPr/>
          <p:nvPr/>
        </p:nvSpPr>
        <p:spPr>
          <a:xfrm>
            <a:off x="6217920" y="1371600"/>
            <a:ext cx="5650992"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Stream 4: Dynamic Few-Shot Retrieval &amp; Symbolic Guardrails</a:t>
            </a:r>
          </a:p>
        </p:txBody>
      </p:sp>
      <p:sp>
        <p:nvSpPr>
          <p:cNvPr id="16" name="TextBox 15"/>
          <p:cNvSpPr txBox="1"/>
          <p:nvPr/>
        </p:nvSpPr>
        <p:spPr>
          <a:xfrm>
            <a:off x="6309359" y="1755648"/>
            <a:ext cx="5468112" cy="4544568"/>
          </a:xfrm>
          <a:prstGeom prst="rect">
            <a:avLst/>
          </a:prstGeom>
          <a:noFill/>
        </p:spPr>
        <p:txBody>
          <a:bodyPr wrap="square" lIns="36576" rIns="36576" tIns="18288" bIns="18288">
            <a:spAutoFit/>
          </a:bodyPr>
          <a:lstStyle/>
          <a:p>
            <a:pPr>
              <a:spcAft>
                <a:spcPts val="400"/>
              </a:spcAft>
            </a:pPr>
            <a:r>
              <a:rPr sz="1100" b="0" i="0">
                <a:solidFill>
                  <a:srgbClr val="1E2430"/>
                </a:solidFill>
                <a:latin typeface="Calibri"/>
              </a:rPr>
              <a:t>• </a:t>
            </a:r>
            <a:r>
              <a:rPr sz="1100" b="1" i="0">
                <a:solidFill>
                  <a:srgbClr val="1E2430"/>
                </a:solidFill>
                <a:latin typeface="Calibri"/>
              </a:rPr>
              <a:t>What Prior Papers Tried &amp; Found:</a:t>
            </a:r>
          </a:p>
          <a:p>
            <a:pPr>
              <a:spcAft>
                <a:spcPts val="400"/>
              </a:spcAft>
            </a:pPr>
            <a:r>
              <a:rPr sz="1000" b="0" i="0">
                <a:solidFill>
                  <a:srgbClr val="1E2430"/>
                </a:solidFill>
                <a:latin typeface="Calibri"/>
              </a:rPr>
              <a:t>    ▪ </a:t>
            </a:r>
            <a:r>
              <a:rPr sz="1000" b="1" i="0">
                <a:solidFill>
                  <a:srgbClr val="1E2430"/>
                </a:solidFill>
                <a:latin typeface="Calibri"/>
              </a:rPr>
              <a:t>Brown et al. (2020)</a:t>
            </a:r>
            <a:r>
              <a:rPr sz="1000" b="0" i="0">
                <a:solidFill>
                  <a:srgbClr val="1E2430"/>
                </a:solidFill>
                <a:latin typeface="Calibri"/>
              </a:rPr>
              <a:t> &amp; </a:t>
            </a:r>
            <a:r>
              <a:rPr sz="1000" b="1" i="0">
                <a:solidFill>
                  <a:srgbClr val="1E2430"/>
                </a:solidFill>
                <a:latin typeface="Calibri"/>
              </a:rPr>
              <a:t>Liu et al. (2022) [KATE]</a:t>
            </a:r>
            <a:r>
              <a:rPr sz="1000" b="0" i="0">
                <a:solidFill>
                  <a:srgbClr val="1E2430"/>
                </a:solidFill>
                <a:latin typeface="Calibri"/>
              </a:rPr>
              <a:t> showed that retrieving nearest-neighbor in-context examples via </a:t>
            </a:r>
            <a:r>
              <a:rPr sz="1000" b="1" i="0">
                <a:solidFill>
                  <a:srgbClr val="1E2430"/>
                </a:solidFill>
                <a:latin typeface="Calibri"/>
              </a:rPr>
              <a:t>FAISS (Johnson et al., 2021)</a:t>
            </a:r>
            <a:r>
              <a:rPr sz="1000" b="0" i="0">
                <a:solidFill>
                  <a:srgbClr val="1E2430"/>
                </a:solidFill>
                <a:latin typeface="Calibri"/>
              </a:rPr>
              <a:t> beats random static examples on single-turn NLP tasks.</a:t>
            </a:r>
          </a:p>
          <a:p>
            <a:pPr>
              <a:spcAft>
                <a:spcPts val="400"/>
              </a:spcAft>
            </a:pPr>
            <a:r>
              <a:rPr sz="1000" b="0" i="0">
                <a:solidFill>
                  <a:srgbClr val="1E2430"/>
                </a:solidFill>
                <a:latin typeface="Calibri"/>
              </a:rPr>
              <a:t>    ▪ </a:t>
            </a:r>
            <a:r>
              <a:rPr sz="1000" b="1" i="0">
                <a:solidFill>
                  <a:srgbClr val="1E2430"/>
                </a:solidFill>
                <a:latin typeface="Calibri"/>
              </a:rPr>
              <a:t>Rebedea et al. (2023) [NeMo Guardrails]</a:t>
            </a:r>
            <a:r>
              <a:rPr sz="1000" b="0" i="0">
                <a:solidFill>
                  <a:srgbClr val="1E2430"/>
                </a:solidFill>
                <a:latin typeface="Calibri"/>
              </a:rPr>
              <a:t> &amp; </a:t>
            </a:r>
            <a:r>
              <a:rPr sz="1000" b="1" i="0">
                <a:solidFill>
                  <a:srgbClr val="1E2430"/>
                </a:solidFill>
                <a:latin typeface="Calibri"/>
              </a:rPr>
              <a:t>Yao et al. (2024) [τ-bench]</a:t>
            </a:r>
            <a:r>
              <a:rPr sz="1000" b="0" i="0">
                <a:solidFill>
                  <a:srgbClr val="1E2430"/>
                </a:solidFill>
                <a:latin typeface="Calibri"/>
              </a:rPr>
              <a:t> showed that prompt-only LLMs violate domain rules over 50% of the time.</a:t>
            </a:r>
          </a:p>
          <a:p>
            <a:pPr>
              <a:spcAft>
                <a:spcPts val="400"/>
              </a:spcAft>
            </a:pPr>
            <a:r>
              <a:rPr sz="1100" b="0" i="0">
                <a:solidFill>
                  <a:srgbClr val="1E2430"/>
                </a:solidFill>
                <a:latin typeface="Calibri"/>
              </a:rPr>
              <a:t>• </a:t>
            </a:r>
            <a:r>
              <a:rPr sz="1100" b="1" i="0">
                <a:solidFill>
                  <a:srgbClr val="1E2430"/>
                </a:solidFill>
                <a:latin typeface="Calibri"/>
              </a:rPr>
              <a:t>Where Prior Papers Stopped:</a:t>
            </a:r>
          </a:p>
          <a:p>
            <a:pPr>
              <a:spcAft>
                <a:spcPts val="400"/>
              </a:spcAft>
            </a:pPr>
            <a:r>
              <a:rPr sz="1000" b="0" i="0">
                <a:solidFill>
                  <a:srgbClr val="1E2430"/>
                </a:solidFill>
                <a:latin typeface="Calibri"/>
              </a:rPr>
              <a:t>    ▪ KATE retrieves from one </a:t>
            </a:r>
            <a:r>
              <a:rPr sz="1000" b="0" i="1">
                <a:solidFill>
                  <a:srgbClr val="1E2430"/>
                </a:solidFill>
                <a:latin typeface="Calibri"/>
              </a:rPr>
              <a:t>unpartitioned global pool</a:t>
            </a:r>
            <a:r>
              <a:rPr sz="1000" b="0" i="0">
                <a:solidFill>
                  <a:srgbClr val="1E2430"/>
                </a:solidFill>
                <a:latin typeface="Calibri"/>
              </a:rPr>
              <a:t> with raw unmasked entities. NeMo and τ-bench test safety rails in isolation without studying how rails interact with dynamic style prompting.</a:t>
            </a:r>
          </a:p>
          <a:p>
            <a:pPr>
              <a:spcAft>
                <a:spcPts val="400"/>
              </a:spcAft>
            </a:pPr>
            <a:r>
              <a:rPr sz="1100" b="0" i="0">
                <a:solidFill>
                  <a:srgbClr val="1E2430"/>
                </a:solidFill>
                <a:latin typeface="Calibri"/>
              </a:rPr>
              <a:t>• </a:t>
            </a:r>
            <a:r>
              <a:rPr sz="1100" b="1" i="0">
                <a:solidFill>
                  <a:srgbClr val="1E2430"/>
                </a:solidFill>
                <a:latin typeface="Calibri"/>
              </a:rPr>
              <a:t>Our Unique Innovation (RQ2 &amp; RQ3 Breakthrough):</a:t>
            </a:r>
          </a:p>
          <a:p>
            <a:pPr>
              <a:spcAft>
                <a:spcPts val="400"/>
              </a:spcAft>
            </a:pPr>
            <a:r>
              <a:rPr sz="1000" b="0" i="0">
                <a:solidFill>
                  <a:srgbClr val="1E2430"/>
                </a:solidFill>
                <a:latin typeface="Calibri"/>
              </a:rPr>
              <a:t>    ▪ We partition FAISS into </a:t>
            </a:r>
            <a:r>
              <a:rPr sz="1000" b="1" i="0">
                <a:solidFill>
                  <a:srgbClr val="1E2430"/>
                </a:solidFill>
                <a:latin typeface="Calibri"/>
              </a:rPr>
              <a:t>archetype-specific sub-indices with `[SLOT]` masking</a:t>
            </a:r>
            <a:r>
              <a:rPr sz="1000" b="0" i="0">
                <a:solidFill>
                  <a:srgbClr val="1E2430"/>
                </a:solidFill>
                <a:latin typeface="Calibri"/>
              </a:rPr>
              <a:t>, boosting style convergence over static few-shot by </a:t>
            </a:r>
            <a:r>
              <a:rPr sz="1000" b="1" i="0">
                <a:solidFill>
                  <a:srgbClr val="1E2430"/>
                </a:solidFill>
                <a:latin typeface="Calibri"/>
              </a:rPr>
              <a:t>+31.8% (.597 vs. .453, p &lt; .001, d_z = 0.74)</a:t>
            </a:r>
            <a:r>
              <a:rPr sz="1000" b="0" i="0">
                <a:solidFill>
                  <a:srgbClr val="1E2430"/>
                </a:solidFill>
                <a:latin typeface="Calibri"/>
              </a:rPr>
              <a:t>.</a:t>
            </a:r>
          </a:p>
          <a:p>
            <a:pPr>
              <a:spcAft>
                <a:spcPts val="400"/>
              </a:spcAft>
            </a:pPr>
            <a:r>
              <a:rPr sz="1000" b="0" i="0">
                <a:solidFill>
                  <a:srgbClr val="1E2430"/>
                </a:solidFill>
                <a:latin typeface="Calibri"/>
              </a:rPr>
              <a:t>    ▪ In RQ3, we prove a </a:t>
            </a:r>
            <a:r>
              <a:rPr sz="1000" b="1" i="0">
                <a:solidFill>
                  <a:srgbClr val="1E2430"/>
                </a:solidFill>
                <a:latin typeface="Calibri"/>
              </a:rPr>
              <a:t>significant 2 × 2 interaction (F = 34.82, p &lt; .001)</a:t>
            </a:r>
            <a:r>
              <a:rPr sz="1000" b="0" i="0">
                <a:solidFill>
                  <a:srgbClr val="1E2430"/>
                </a:solidFill>
                <a:latin typeface="Calibri"/>
              </a:rPr>
              <a:t>: our declarative rule layer eliminates the </a:t>
            </a:r>
            <a:r>
              <a:rPr sz="1000" b="1" i="0">
                <a:solidFill>
                  <a:srgbClr val="1E2430"/>
                </a:solidFill>
                <a:latin typeface="Calibri"/>
              </a:rPr>
              <a:t>35.9% entity leakage</a:t>
            </a:r>
            <a:r>
              <a:rPr sz="1000" b="0" i="0">
                <a:solidFill>
                  <a:srgbClr val="1E2430"/>
                </a:solidFill>
                <a:latin typeface="Calibri"/>
              </a:rPr>
              <a:t> of unguarded few-shot prompting down to </a:t>
            </a:r>
            <a:r>
              <a:rPr sz="1000" b="1" i="0">
                <a:solidFill>
                  <a:srgbClr val="1E2430"/>
                </a:solidFill>
                <a:latin typeface="Calibri"/>
              </a:rPr>
              <a:t>0.0%</a:t>
            </a:r>
            <a:r>
              <a:rPr sz="1000" b="0" i="0">
                <a:solidFill>
                  <a:srgbClr val="1E2430"/>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2: LITERATURE ANALYSIS &amp; UNIQUENESS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8</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Literature Synthesis Matrix: Prior Approaches vs. Our Empirical Findings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Concrete examples quoted directly from our RQ1–RQ4 data illustrating what prior methods miss and what our framework solves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5074920"/>
        </p:xfrm>
        <a:graphic>
          <a:graphicData uri="http://schemas.openxmlformats.org/drawingml/2006/table">
            <a:tbl>
              <a:tblPr firstRow="1" bandRow="1">
                <a:tableStyleId>{5C22544A-7EE6-4342-B048-85BDC9FD1C3A}</a:tableStyleId>
              </a:tblPr>
              <a:tblGrid>
                <a:gridCol w="1649838"/>
                <a:gridCol w="1741496"/>
                <a:gridCol w="2108127"/>
                <a:gridCol w="2291442"/>
                <a:gridCol w="3757966"/>
              </a:tblGrid>
              <a:tr h="845820">
                <a:tc>
                  <a:txBody>
                    <a:bodyPr/>
                    <a:lstStyle/>
                    <a:p>
                      <a:pPr algn="l"/>
                      <a:r>
                        <a:rPr sz="1100" b="1" i="0">
                          <a:solidFill>
                            <a:srgbClr val="FFFFFF"/>
                          </a:solidFill>
                          <a:latin typeface="Calibri"/>
                        </a:rPr>
                        <a:t>Prior Literature Benchmark</a:t>
                      </a:r>
                    </a:p>
                  </a:txBody>
                  <a:tcPr anchor="ctr" marL="54864" marR="54864" marT="27432" marB="27432">
                    <a:solidFill>
                      <a:srgbClr val="14325C"/>
                    </a:solidFill>
                  </a:tcPr>
                </a:tc>
                <a:tc>
                  <a:txBody>
                    <a:bodyPr/>
                    <a:lstStyle/>
                    <a:p>
                      <a:pPr algn="l"/>
                      <a:r>
                        <a:rPr sz="1100" b="1" i="0">
                          <a:solidFill>
                            <a:srgbClr val="FFFFFF"/>
                          </a:solidFill>
                          <a:latin typeface="Calibri"/>
                        </a:rPr>
                        <a:t>What Prior Paper Did</a:t>
                      </a:r>
                    </a:p>
                  </a:txBody>
                  <a:tcPr anchor="ctr" marL="54864" marR="54864" marT="27432" marB="27432">
                    <a:solidFill>
                      <a:srgbClr val="14325C"/>
                    </a:solidFill>
                  </a:tcPr>
                </a:tc>
                <a:tc>
                  <a:txBody>
                    <a:bodyPr/>
                    <a:lstStyle/>
                    <a:p>
                      <a:pPr algn="l"/>
                      <a:r>
                        <a:rPr sz="1100" b="1" i="0">
                          <a:solidFill>
                            <a:srgbClr val="FFFFFF"/>
                          </a:solidFill>
                          <a:latin typeface="Calibri"/>
                        </a:rPr>
                        <a:t>Limitation When Applied to Travel Dialogues</a:t>
                      </a:r>
                    </a:p>
                  </a:txBody>
                  <a:tcPr anchor="ctr" marL="54864" marR="54864" marT="27432" marB="27432">
                    <a:solidFill>
                      <a:srgbClr val="14325C"/>
                    </a:solidFill>
                  </a:tcPr>
                </a:tc>
                <a:tc>
                  <a:txBody>
                    <a:bodyPr/>
                    <a:lstStyle/>
                    <a:p>
                      <a:pPr algn="l"/>
                      <a:r>
                        <a:rPr sz="1100" b="1" i="0">
                          <a:solidFill>
                            <a:srgbClr val="FFFFFF"/>
                          </a:solidFill>
                          <a:latin typeface="Calibri"/>
                        </a:rPr>
                        <a:t>Our Unique Methodological Addition</a:t>
                      </a:r>
                    </a:p>
                  </a:txBody>
                  <a:tcPr anchor="ctr" marL="54864" marR="54864" marT="27432" marB="27432">
                    <a:solidFill>
                      <a:srgbClr val="14325C"/>
                    </a:solidFill>
                  </a:tcPr>
                </a:tc>
                <a:tc>
                  <a:txBody>
                    <a:bodyPr/>
                    <a:lstStyle/>
                    <a:p>
                      <a:pPr algn="l"/>
                      <a:r>
                        <a:rPr sz="1100" b="1" i="0">
                          <a:solidFill>
                            <a:srgbClr val="FFFFFF"/>
                          </a:solidFill>
                          <a:latin typeface="Calibri"/>
                        </a:rPr>
                        <a:t>Concrete Proof Quoted from Our Data (RQ1–RQ4)</a:t>
                      </a:r>
                    </a:p>
                  </a:txBody>
                  <a:tcPr anchor="ctr" marL="54864" marR="54864" marT="27432" marB="27432">
                    <a:solidFill>
                      <a:srgbClr val="14325C"/>
                    </a:solidFill>
                  </a:tcPr>
                </a:tc>
              </a:tr>
              <a:tr h="845820">
                <a:tc>
                  <a:txBody>
                    <a:bodyPr/>
                    <a:lstStyle/>
                    <a:p>
                      <a:pPr algn="l"/>
                      <a:r>
                        <a:rPr sz="980" b="1" i="0">
                          <a:solidFill>
                            <a:srgbClr val="1E2430"/>
                          </a:solidFill>
                          <a:latin typeface="Calibri"/>
                        </a:rPr>
                        <a:t>Whole-Text Embedding Clustering
(Reimers &amp; Gurevych, 2019;
McInnes et al., 2017)</a:t>
                      </a:r>
                    </a:p>
                  </a:txBody>
                  <a:tcPr anchor="ctr" marL="54864" marR="54864" marT="22860" marB="22860">
                    <a:solidFill>
                      <a:srgbClr val="E1F3E8"/>
                    </a:solidFill>
                  </a:tcPr>
                </a:tc>
                <a:tc>
                  <a:txBody>
                    <a:bodyPr/>
                    <a:lstStyle/>
                    <a:p>
                      <a:pPr algn="l"/>
                      <a:r>
                        <a:rPr sz="980" b="1" i="0">
                          <a:solidFill>
                            <a:srgbClr val="1E2430"/>
                          </a:solidFill>
                          <a:latin typeface="Calibri"/>
                        </a:rPr>
                        <a:t>Clustered full documents using SBERT / HDBSCAN.</a:t>
                      </a:r>
                    </a:p>
                  </a:txBody>
                  <a:tcPr anchor="ctr" marL="54864" marR="54864" marT="22860" marB="22860">
                    <a:solidFill>
                      <a:srgbClr val="E1F3E8"/>
                    </a:solidFill>
                  </a:tcPr>
                </a:tc>
                <a:tc>
                  <a:txBody>
                    <a:bodyPr/>
                    <a:lstStyle/>
                    <a:p>
                      <a:pPr algn="l"/>
                      <a:r>
                        <a:rPr sz="980" b="1" i="0">
                          <a:solidFill>
                            <a:srgbClr val="1E2430"/>
                          </a:solidFill>
                          <a:latin typeface="Calibri"/>
                        </a:rPr>
                        <a:t>HDBSCAN discards 71.7% of travel dialogues as noise; full-dialogue vectors leak end-of-session booking outcomes.</a:t>
                      </a:r>
                    </a:p>
                  </a:txBody>
                  <a:tcPr anchor="ctr" marL="54864" marR="54864" marT="22860" marB="22860">
                    <a:solidFill>
                      <a:srgbClr val="E1F3E8"/>
                    </a:solidFill>
                  </a:tcPr>
                </a:tc>
                <a:tc>
                  <a:txBody>
                    <a:bodyPr/>
                    <a:lstStyle/>
                    <a:p>
                      <a:pPr algn="l"/>
                      <a:r>
                        <a:rPr sz="980" b="1" i="0">
                          <a:solidFill>
                            <a:srgbClr val="1E2430"/>
                          </a:solidFill>
                          <a:latin typeface="Calibri"/>
                        </a:rPr>
                        <a:t>Prefix-truncated (M=9 user msgs) hybrid Blocks (PCA-20 Gemini + 16 LLM behavioral ratings) with K-Means (k=3).</a:t>
                      </a:r>
                    </a:p>
                  </a:txBody>
                  <a:tcPr anchor="ctr" marL="54864" marR="54864" marT="22860" marB="22860">
                    <a:solidFill>
                      <a:srgbClr val="E1F3E8"/>
                    </a:solidFill>
                  </a:tcPr>
                </a:tc>
                <a:tc>
                  <a:txBody>
                    <a:bodyPr/>
                    <a:lstStyle/>
                    <a:p>
                      <a:pPr algn="l"/>
                      <a:r>
                        <a:rPr sz="980" b="1" i="0">
                          <a:solidFill>
                            <a:srgbClr val="1E2430"/>
                          </a:solidFill>
                          <a:latin typeface="Calibri"/>
                        </a:rPr>
                        <a:t>RQ1: HDBSCAN failed in 53/53 default runs. Our M=9 Blocks router achieved ARI = .76 and raised held-out routing from κ = .24 (39.4%) to κ = .535 (70.1% at M=5) and κ = .958 (97.3% at M=9).</a:t>
                      </a:r>
                    </a:p>
                  </a:txBody>
                  <a:tcPr anchor="ctr" marL="54864" marR="54864" marT="22860" marB="22860">
                    <a:solidFill>
                      <a:srgbClr val="E1F3E8"/>
                    </a:solidFill>
                  </a:tcPr>
                </a:tc>
              </a:tr>
              <a:tr h="845820">
                <a:tc>
                  <a:txBody>
                    <a:bodyPr/>
                    <a:lstStyle/>
                    <a:p>
                      <a:pPr algn="l"/>
                      <a:r>
                        <a:rPr sz="980" b="1" i="0">
                          <a:solidFill>
                            <a:srgbClr val="1E2430"/>
                          </a:solidFill>
                          <a:latin typeface="Calibri"/>
                        </a:rPr>
                        <a:t>Global k-NN Few-Shot (KATE)
(Liu et al., 2022;
Brown et al., 2020)</a:t>
                      </a:r>
                    </a:p>
                  </a:txBody>
                  <a:tcPr anchor="ctr" marL="54864" marR="54864" marT="22860" marB="22860">
                    <a:solidFill>
                      <a:srgbClr val="E1F3E8"/>
                    </a:solidFill>
                  </a:tcPr>
                </a:tc>
                <a:tc>
                  <a:txBody>
                    <a:bodyPr/>
                    <a:lstStyle/>
                    <a:p>
                      <a:pPr algn="l"/>
                      <a:r>
                        <a:rPr sz="980" b="1" i="0">
                          <a:solidFill>
                            <a:srgbClr val="1E2430"/>
                          </a:solidFill>
                          <a:latin typeface="Calibri"/>
                        </a:rPr>
                        <a:t>Retrieved k nearest examples from one global pool without persona routing.</a:t>
                      </a:r>
                    </a:p>
                  </a:txBody>
                  <a:tcPr anchor="ctr" marL="54864" marR="54864" marT="22860" marB="22860">
                    <a:solidFill>
                      <a:srgbClr val="E1F3E8"/>
                    </a:solidFill>
                  </a:tcPr>
                </a:tc>
                <a:tc>
                  <a:txBody>
                    <a:bodyPr/>
                    <a:lstStyle/>
                    <a:p>
                      <a:pPr algn="l"/>
                      <a:r>
                        <a:rPr sz="980" b="1" i="0">
                          <a:solidFill>
                            <a:srgbClr val="1E2430"/>
                          </a:solidFill>
                          <a:latin typeface="Calibri"/>
                        </a:rPr>
                        <a:t>Static/unrouted examples mismatch user pacing; coarse routing (κ=.24) fails to improve style.</a:t>
                      </a:r>
                    </a:p>
                  </a:txBody>
                  <a:tcPr anchor="ctr" marL="54864" marR="54864" marT="22860" marB="22860">
                    <a:solidFill>
                      <a:srgbClr val="E1F3E8"/>
                    </a:solidFill>
                  </a:tcPr>
                </a:tc>
                <a:tc>
                  <a:txBody>
                    <a:bodyPr/>
                    <a:lstStyle/>
                    <a:p>
                      <a:pPr algn="l"/>
                      <a:r>
                        <a:rPr sz="980" b="1" i="0">
                          <a:solidFill>
                            <a:srgbClr val="1E2430"/>
                          </a:solidFill>
                          <a:latin typeface="Calibri"/>
                        </a:rPr>
                        <a:t>Archetype-partitioned FAISS sub-indices + archetype pacing directives routed via Blocks.</a:t>
                      </a:r>
                    </a:p>
                  </a:txBody>
                  <a:tcPr anchor="ctr" marL="54864" marR="54864" marT="22860" marB="22860">
                    <a:solidFill>
                      <a:srgbClr val="E1F3E8"/>
                    </a:solidFill>
                  </a:tcPr>
                </a:tc>
                <a:tc>
                  <a:txBody>
                    <a:bodyPr/>
                    <a:lstStyle/>
                    <a:p>
                      <a:pPr algn="l"/>
                      <a:r>
                        <a:rPr sz="980" b="1" i="0">
                          <a:solidFill>
                            <a:srgbClr val="1E2430"/>
                          </a:solidFill>
                          <a:latin typeface="Calibri"/>
                        </a:rPr>
                        <a:t>RQ2: Coarse Primary RQ2 failed (F = 1.61, p = .211). Refined RQ2 succeeded (F = 9.79, p &lt; .001, ηp² = .234): style cosine rose from .453 (Static) to .597, and word pacing error fell from 10.12w to 3.87w.</a:t>
                      </a:r>
                    </a:p>
                  </a:txBody>
                  <a:tcPr anchor="ctr" marL="54864" marR="54864" marT="22860" marB="22860">
                    <a:solidFill>
                      <a:srgbClr val="E1F3E8"/>
                    </a:solidFill>
                  </a:tcPr>
                </a:tc>
              </a:tr>
              <a:tr h="845820">
                <a:tc>
                  <a:txBody>
                    <a:bodyPr/>
                    <a:lstStyle/>
                    <a:p>
                      <a:pPr algn="l"/>
                      <a:r>
                        <a:rPr sz="980" b="1" i="0">
                          <a:solidFill>
                            <a:srgbClr val="1E2430"/>
                          </a:solidFill>
                          <a:latin typeface="Calibri"/>
                        </a:rPr>
                        <a:t>Unmasked In-Context Examples
(Standard RAG / Few-Shot)</a:t>
                      </a:r>
                    </a:p>
                  </a:txBody>
                  <a:tcPr anchor="ctr" marL="54864" marR="54864" marT="22860" marB="22860">
                    <a:solidFill>
                      <a:srgbClr val="E1F3E8"/>
                    </a:solidFill>
                  </a:tcPr>
                </a:tc>
                <a:tc>
                  <a:txBody>
                    <a:bodyPr/>
                    <a:lstStyle/>
                    <a:p>
                      <a:pPr algn="l"/>
                      <a:r>
                        <a:rPr sz="980" b="1" i="0">
                          <a:solidFill>
                            <a:srgbClr val="1E2430"/>
                          </a:solidFill>
                          <a:latin typeface="Calibri"/>
                        </a:rPr>
                        <a:t>Inserted raw historical text examples directly into the LLM prompt.</a:t>
                      </a:r>
                    </a:p>
                  </a:txBody>
                  <a:tcPr anchor="ctr" marL="54864" marR="54864" marT="22860" marB="22860">
                    <a:solidFill>
                      <a:srgbClr val="E1F3E8"/>
                    </a:solidFill>
                  </a:tcPr>
                </a:tc>
                <a:tc>
                  <a:txBody>
                    <a:bodyPr/>
                    <a:lstStyle/>
                    <a:p>
                      <a:pPr algn="l"/>
                      <a:r>
                        <a:rPr sz="980" b="1" i="0">
                          <a:solidFill>
                            <a:srgbClr val="1E2430"/>
                          </a:solidFill>
                          <a:latin typeface="Calibri"/>
                        </a:rPr>
                        <a:t>LLM copies stale hotel names, prices, and promo codes from examples into the active user session.</a:t>
                      </a:r>
                    </a:p>
                  </a:txBody>
                  <a:tcPr anchor="ctr" marL="54864" marR="54864" marT="22860" marB="22860">
                    <a:solidFill>
                      <a:srgbClr val="E1F3E8"/>
                    </a:solidFill>
                  </a:tcPr>
                </a:tc>
                <a:tc>
                  <a:txBody>
                    <a:bodyPr/>
                    <a:lstStyle/>
                    <a:p>
                      <a:pPr algn="l"/>
                      <a:r>
                        <a:rPr sz="980" b="1" i="0">
                          <a:solidFill>
                            <a:srgbClr val="1E2430"/>
                          </a:solidFill>
                          <a:latin typeface="Calibri"/>
                        </a:rPr>
                        <a:t>Regex/Schema [SLOT] masking in FAISS exemplars + post-generation entity leakage sanitizer.</a:t>
                      </a:r>
                    </a:p>
                  </a:txBody>
                  <a:tcPr anchor="ctr" marL="54864" marR="54864" marT="22860" marB="22860">
                    <a:solidFill>
                      <a:srgbClr val="E1F3E8"/>
                    </a:solidFill>
                  </a:tcPr>
                </a:tc>
                <a:tc>
                  <a:txBody>
                    <a:bodyPr/>
                    <a:lstStyle/>
                    <a:p>
                      <a:pPr algn="l"/>
                      <a:r>
                        <a:rPr sz="980" b="1" i="0">
                          <a:solidFill>
                            <a:srgbClr val="1E2430"/>
                          </a:solidFill>
                          <a:latin typeface="Calibri"/>
                        </a:rPr>
                        <a:t>RQ3: Unguarded Cluster-Adaptive leaked stale entities ('Sapphire Bay Resort', '$1,149', 'VIP25') in 55.6% of cases (ELR = .359). Rules Active × Cluster-Adaptive reduced leakage to 0.0% (Interaction F = 34.82, p &lt; .001).</a:t>
                      </a:r>
                    </a:p>
                  </a:txBody>
                  <a:tcPr anchor="ctr" marL="54864" marR="54864" marT="22860" marB="22860">
                    <a:solidFill>
                      <a:srgbClr val="E1F3E8"/>
                    </a:solidFill>
                  </a:tcPr>
                </a:tc>
              </a:tr>
              <a:tr h="845820">
                <a:tc>
                  <a:txBody>
                    <a:bodyPr/>
                    <a:lstStyle/>
                    <a:p>
                      <a:pPr algn="l"/>
                      <a:r>
                        <a:rPr sz="980" b="1" i="0">
                          <a:solidFill>
                            <a:srgbClr val="1E2430"/>
                          </a:solidFill>
                          <a:latin typeface="Calibri"/>
                        </a:rPr>
                        <a:t>Prompt-Only Policy Instructions
(Yao et al., 2024 τ-bench;
Rebedea et al., 2023)</a:t>
                      </a:r>
                    </a:p>
                  </a:txBody>
                  <a:tcPr anchor="ctr" marL="54864" marR="54864" marT="22860" marB="22860">
                    <a:solidFill>
                      <a:srgbClr val="E1F3E8"/>
                    </a:solidFill>
                  </a:tcPr>
                </a:tc>
                <a:tc>
                  <a:txBody>
                    <a:bodyPr/>
                    <a:lstStyle/>
                    <a:p>
                      <a:pPr algn="l"/>
                      <a:r>
                        <a:rPr sz="980" b="1" i="0">
                          <a:solidFill>
                            <a:srgbClr val="1E2430"/>
                          </a:solidFill>
                          <a:latin typeface="Calibri"/>
                        </a:rPr>
                        <a:t>Evaluated LLM adherence to domain rules stated only in natural language prompts.</a:t>
                      </a:r>
                    </a:p>
                  </a:txBody>
                  <a:tcPr anchor="ctr" marL="54864" marR="54864" marT="22860" marB="22860">
                    <a:solidFill>
                      <a:srgbClr val="E1F3E8"/>
                    </a:solidFill>
                  </a:tcPr>
                </a:tc>
                <a:tc>
                  <a:txBody>
                    <a:bodyPr/>
                    <a:lstStyle/>
                    <a:p>
                      <a:pPr algn="l"/>
                      <a:r>
                        <a:rPr sz="980" b="1" i="0">
                          <a:solidFill>
                            <a:srgbClr val="1E2430"/>
                          </a:solidFill>
                          <a:latin typeface="Calibri"/>
                        </a:rPr>
                        <a:t>LLMs ignore numeric visa, passport, adult-cap, and discount thresholds when optimizing for conversational tone.</a:t>
                      </a:r>
                    </a:p>
                  </a:txBody>
                  <a:tcPr anchor="ctr" marL="54864" marR="54864" marT="22860" marB="22860">
                    <a:solidFill>
                      <a:srgbClr val="E1F3E8"/>
                    </a:solidFill>
                  </a:tcPr>
                </a:tc>
                <a:tc>
                  <a:txBody>
                    <a:bodyPr/>
                    <a:lstStyle/>
                    <a:p>
                      <a:pPr algn="l"/>
                      <a:r>
                        <a:rPr sz="980" b="1" i="0">
                          <a:solidFill>
                            <a:srgbClr val="1E2430"/>
                          </a:solidFill>
                          <a:latin typeface="Calibri"/>
                        </a:rPr>
                        <a:t>Deterministic YAML RuleEngine (5 Tier-2 rules) executing pre-generation checks &amp; post-generation verification.</a:t>
                      </a:r>
                    </a:p>
                  </a:txBody>
                  <a:tcPr anchor="ctr" marL="54864" marR="54864" marT="22860" marB="22860">
                    <a:solidFill>
                      <a:srgbClr val="E1F3E8"/>
                    </a:solidFill>
                  </a:tcPr>
                </a:tc>
                <a:tc>
                  <a:txBody>
                    <a:bodyPr/>
                    <a:lstStyle/>
                    <a:p>
                      <a:pPr algn="l"/>
                      <a:r>
                        <a:rPr sz="980" b="1" i="0">
                          <a:solidFill>
                            <a:srgbClr val="1E2430"/>
                          </a:solidFill>
                          <a:latin typeface="Calibri"/>
                        </a:rPr>
                        <a:t>RQ3: Under Rules Off, Gemini 2.5 Flash enforced policy violations in only 5.6% of violating sessions. Activating RuleEngine raised violation enforcement to 98.6% (F = 43.92, p &lt; .001) and Slot F1 from .485 to .952.</a:t>
                      </a:r>
                    </a:p>
                  </a:txBody>
                  <a:tcPr anchor="ctr" marL="54864" marR="54864" marT="22860" marB="22860">
                    <a:solidFill>
                      <a:srgbClr val="E1F3E8"/>
                    </a:solidFill>
                  </a:tcPr>
                </a:tc>
              </a:tr>
              <a:tr h="845820">
                <a:tc>
                  <a:txBody>
                    <a:bodyPr/>
                    <a:lstStyle/>
                    <a:p>
                      <a:pPr algn="l"/>
                      <a:r>
                        <a:rPr sz="980" b="1" i="0">
                          <a:solidFill>
                            <a:srgbClr val="1E2430"/>
                          </a:solidFill>
                          <a:latin typeface="Calibri"/>
                        </a:rPr>
                        <a:t>Static Sequential Slot-Filling
(Budzianowski et al., 2018;
Inaba et al., 2022)</a:t>
                      </a:r>
                    </a:p>
                  </a:txBody>
                  <a:tcPr anchor="ctr" marL="54864" marR="54864" marT="22860" marB="22860">
                    <a:solidFill>
                      <a:srgbClr val="E1F3E8"/>
                    </a:solidFill>
                  </a:tcPr>
                </a:tc>
                <a:tc>
                  <a:txBody>
                    <a:bodyPr/>
                    <a:lstStyle/>
                    <a:p>
                      <a:pPr algn="l"/>
                      <a:r>
                        <a:rPr sz="980" b="1" i="0">
                          <a:solidFill>
                            <a:srgbClr val="1E2430"/>
                          </a:solidFill>
                          <a:latin typeface="Calibri"/>
                        </a:rPr>
                        <a:t>Used a single dialogue policy across all users without tracking informed slots.</a:t>
                      </a:r>
                    </a:p>
                  </a:txBody>
                  <a:tcPr anchor="ctr" marL="54864" marR="54864" marT="22860" marB="22860">
                    <a:solidFill>
                      <a:srgbClr val="E1F3E8"/>
                    </a:solidFill>
                  </a:tcPr>
                </a:tc>
                <a:tc>
                  <a:txBody>
                    <a:bodyPr/>
                    <a:lstStyle/>
                    <a:p>
                      <a:pPr algn="l"/>
                      <a:r>
                        <a:rPr sz="980" b="1" i="0">
                          <a:solidFill>
                            <a:srgbClr val="1E2430"/>
                          </a:solidFill>
                          <a:latin typeface="Calibri"/>
                        </a:rPr>
                        <a:t>Re-asks already stated constraints and causes 8.7-turn deadlocks for Rigid-Constraint Seekers.</a:t>
                      </a:r>
                    </a:p>
                  </a:txBody>
                  <a:tcPr anchor="ctr" marL="54864" marR="54864" marT="22860" marB="22860">
                    <a:solidFill>
                      <a:srgbClr val="E1F3E8"/>
                    </a:solidFill>
                  </a:tcPr>
                </a:tc>
                <a:tc>
                  <a:txBody>
                    <a:bodyPr/>
                    <a:lstStyle/>
                    <a:p>
                      <a:pPr algn="l"/>
                      <a:r>
                        <a:rPr sz="980" b="1" i="0">
                          <a:solidFill>
                            <a:srgbClr val="1E2430"/>
                          </a:solidFill>
                          <a:latin typeface="Calibri"/>
                        </a:rPr>
                        <a:t>Verified Informed Slot Ledger + Archetype-Specific Turn-Economy Policy (bundle vs. compare vs. proactive trade-off).</a:t>
                      </a:r>
                    </a:p>
                  </a:txBody>
                  <a:tcPr anchor="ctr" marL="54864" marR="54864" marT="22860" marB="22860">
                    <a:solidFill>
                      <a:srgbClr val="E1F3E8"/>
                    </a:solidFill>
                  </a:tcPr>
                </a:tc>
                <a:tc>
                  <a:txBody>
                    <a:bodyPr/>
                    <a:lstStyle/>
                    <a:p>
                      <a:pPr algn="l"/>
                      <a:r>
                        <a:rPr sz="980" b="1" i="0">
                          <a:solidFill>
                            <a:srgbClr val="1E2430"/>
                          </a:solidFill>
                          <a:latin typeface="Calibri"/>
                        </a:rPr>
                        <a:t>RQ4: Cut turns to booking by −42.7% for Rigid-Constraint Seekers (8.73 → 5.00 turns, d = −3.40), −34.2% for Decisive Bookers (7.60 → 5.00), and −29.5% for Open Explorers (7.47 → 5.27), while cutting RER from .109 to .000.</a:t>
                      </a:r>
                    </a:p>
                  </a:txBody>
                  <a:tcPr anchor="ctr" marL="54864" marR="54864" marT="22860" marB="22860">
                    <a:solidFill>
                      <a:srgbClr val="E1F3E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2: LITERATURE ANALYSIS &amp; UNIQUENESS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9</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How the Four Research Questions Form One Integrated Causal Chain</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Each research question solves a specific bottleneck and feeds its validated output directly into the next stage</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4069080"/>
        </p:xfrm>
        <a:graphic>
          <a:graphicData uri="http://schemas.openxmlformats.org/drawingml/2006/table">
            <a:tbl>
              <a:tblPr firstRow="1" bandRow="1">
                <a:tableStyleId>{5C22544A-7EE6-4342-B048-85BDC9FD1C3A}</a:tableStyleId>
              </a:tblPr>
              <a:tblGrid>
                <a:gridCol w="1008234"/>
                <a:gridCol w="2108127"/>
                <a:gridCol w="2016469"/>
                <a:gridCol w="1924812"/>
                <a:gridCol w="2108127"/>
                <a:gridCol w="2383100"/>
              </a:tblGrid>
              <a:tr h="813816">
                <a:tc>
                  <a:txBody>
                    <a:bodyPr/>
                    <a:lstStyle/>
                    <a:p>
                      <a:pPr algn="l"/>
                      <a:r>
                        <a:rPr sz="1100" b="1" i="0">
                          <a:solidFill>
                            <a:srgbClr val="FFFFFF"/>
                          </a:solidFill>
                          <a:latin typeface="Calibri"/>
                        </a:rPr>
                        <a:t>RQ</a:t>
                      </a:r>
                    </a:p>
                  </a:txBody>
                  <a:tcPr anchor="ctr" marL="54864" marR="54864" marT="27432" marB="27432">
                    <a:solidFill>
                      <a:srgbClr val="14325C"/>
                    </a:solidFill>
                  </a:tcPr>
                </a:tc>
                <a:tc>
                  <a:txBody>
                    <a:bodyPr/>
                    <a:lstStyle/>
                    <a:p>
                      <a:pPr algn="l"/>
                      <a:r>
                        <a:rPr sz="1100" b="1" i="0">
                          <a:solidFill>
                            <a:srgbClr val="FFFFFF"/>
                          </a:solidFill>
                          <a:latin typeface="Calibri"/>
                        </a:rPr>
                        <a:t>Research Question</a:t>
                      </a:r>
                    </a:p>
                  </a:txBody>
                  <a:tcPr anchor="ctr" marL="54864" marR="54864" marT="27432" marB="27432">
                    <a:solidFill>
                      <a:srgbClr val="14325C"/>
                    </a:solidFill>
                  </a:tcPr>
                </a:tc>
                <a:tc>
                  <a:txBody>
                    <a:bodyPr/>
                    <a:lstStyle/>
                    <a:p>
                      <a:pPr algn="l"/>
                      <a:r>
                        <a:rPr sz="1100" b="1" i="0">
                          <a:solidFill>
                            <a:srgbClr val="FFFFFF"/>
                          </a:solidFill>
                          <a:latin typeface="Calibri"/>
                        </a:rPr>
                        <a:t>Manipulated IV (X)</a:t>
                      </a:r>
                    </a:p>
                  </a:txBody>
                  <a:tcPr anchor="ctr" marL="54864" marR="54864" marT="27432" marB="27432">
                    <a:solidFill>
                      <a:srgbClr val="14325C"/>
                    </a:solidFill>
                  </a:tcPr>
                </a:tc>
                <a:tc>
                  <a:txBody>
                    <a:bodyPr/>
                    <a:lstStyle/>
                    <a:p>
                      <a:pPr algn="l"/>
                      <a:r>
                        <a:rPr sz="1100" b="1" i="0">
                          <a:solidFill>
                            <a:srgbClr val="FFFFFF"/>
                          </a:solidFill>
                          <a:latin typeface="Calibri"/>
                        </a:rPr>
                        <a:t>Measured DV (Y)</a:t>
                      </a:r>
                    </a:p>
                  </a:txBody>
                  <a:tcPr anchor="ctr" marL="54864" marR="54864" marT="27432" marB="27432">
                    <a:solidFill>
                      <a:srgbClr val="14325C"/>
                    </a:solidFill>
                  </a:tcPr>
                </a:tc>
                <a:tc>
                  <a:txBody>
                    <a:bodyPr/>
                    <a:lstStyle/>
                    <a:p>
                      <a:pPr algn="l"/>
                      <a:r>
                        <a:rPr sz="1100" b="1" i="0">
                          <a:solidFill>
                            <a:srgbClr val="FFFFFF"/>
                          </a:solidFill>
                          <a:latin typeface="Calibri"/>
                        </a:rPr>
                        <a:t>Hypotheses (H0 vs. Ha)</a:t>
                      </a:r>
                    </a:p>
                  </a:txBody>
                  <a:tcPr anchor="ctr" marL="54864" marR="54864" marT="27432" marB="27432">
                    <a:solidFill>
                      <a:srgbClr val="14325C"/>
                    </a:solidFill>
                  </a:tcPr>
                </a:tc>
                <a:tc>
                  <a:txBody>
                    <a:bodyPr/>
                    <a:lstStyle/>
                    <a:p>
                      <a:pPr algn="l"/>
                      <a:r>
                        <a:rPr sz="1100" b="1" i="0">
                          <a:solidFill>
                            <a:srgbClr val="FFFFFF"/>
                          </a:solidFill>
                          <a:latin typeface="Calibri"/>
                        </a:rPr>
                        <a:t>Why This Step Is Essential in the Story</a:t>
                      </a:r>
                    </a:p>
                  </a:txBody>
                  <a:tcPr anchor="ctr" marL="54864" marR="54864" marT="27432" marB="27432">
                    <a:solidFill>
                      <a:srgbClr val="14325C"/>
                    </a:solidFill>
                  </a:tcPr>
                </a:tc>
              </a:tr>
              <a:tr h="813816">
                <a:tc>
                  <a:txBody>
                    <a:bodyPr/>
                    <a:lstStyle/>
                    <a:p>
                      <a:pPr algn="l"/>
                      <a:r>
                        <a:rPr sz="1000" b="0" i="0">
                          <a:solidFill>
                            <a:srgbClr val="1E2430"/>
                          </a:solidFill>
                          <a:latin typeface="Calibri"/>
                        </a:rPr>
                        <a:t>RQ1
(Discovery &amp;
Routing)</a:t>
                      </a:r>
                    </a:p>
                  </a:txBody>
                  <a:tcPr anchor="ctr" marL="54864" marR="54864" marT="22860" marB="22860">
                    <a:solidFill>
                      <a:srgbClr val="FFFFFF"/>
                    </a:solidFill>
                  </a:tcPr>
                </a:tc>
                <a:tc>
                  <a:txBody>
                    <a:bodyPr/>
                    <a:lstStyle/>
                    <a:p>
                      <a:pPr algn="l"/>
                      <a:r>
                        <a:rPr sz="1000" b="0" i="0">
                          <a:solidFill>
                            <a:srgbClr val="1E2430"/>
                          </a:solidFill>
                          <a:latin typeface="Calibri"/>
                        </a:rPr>
                        <a:t>Which clustering algorithm best separates travel trajectories, and which early-routable user archetypes emerge?</a:t>
                      </a:r>
                    </a:p>
                  </a:txBody>
                  <a:tcPr anchor="ctr" marL="54864" marR="54864" marT="22860" marB="22860">
                    <a:solidFill>
                      <a:srgbClr val="FFFFFF"/>
                    </a:solidFill>
                  </a:tcPr>
                </a:tc>
                <a:tc>
                  <a:txBody>
                    <a:bodyPr/>
                    <a:lstStyle/>
                    <a:p>
                      <a:pPr algn="l"/>
                      <a:r>
                        <a:rPr sz="1000" b="0" i="0">
                          <a:solidFill>
                            <a:srgbClr val="1E2430"/>
                          </a:solidFill>
                          <a:latin typeface="Calibri"/>
                        </a:rPr>
                        <a:t>X1: Algorithm (K-Means, Ward, HDBSCAN) × Prefix Horizon M ∈ {3,5,7,9,whole} × Representation</a:t>
                      </a:r>
                    </a:p>
                  </a:txBody>
                  <a:tcPr anchor="ctr" marL="54864" marR="54864" marT="22860" marB="22860">
                    <a:solidFill>
                      <a:srgbClr val="FFFFFF"/>
                    </a:solidFill>
                  </a:tcPr>
                </a:tc>
                <a:tc>
                  <a:txBody>
                    <a:bodyPr/>
                    <a:lstStyle/>
                    <a:p>
                      <a:pPr algn="l"/>
                      <a:r>
                        <a:rPr sz="1000" b="0" i="0">
                          <a:solidFill>
                            <a:srgbClr val="1E2430"/>
                          </a:solidFill>
                          <a:latin typeface="Calibri"/>
                        </a:rPr>
                        <a:t>Y1: Cosine Silhouette, Davies–Bouldin, Bootstrap ARI Stability, Out-of-Sample Routing κ</a:t>
                      </a:r>
                    </a:p>
                  </a:txBody>
                  <a:tcPr anchor="ctr" marL="54864" marR="54864" marT="22860" marB="22860">
                    <a:solidFill>
                      <a:srgbClr val="FFFFFF"/>
                    </a:solidFill>
                  </a:tcPr>
                </a:tc>
                <a:tc>
                  <a:txBody>
                    <a:bodyPr/>
                    <a:lstStyle/>
                    <a:p>
                      <a:pPr algn="l"/>
                      <a:r>
                        <a:rPr sz="1000" b="0" i="0">
                          <a:solidFill>
                            <a:srgbClr val="1E2430"/>
                          </a:solidFill>
                          <a:latin typeface="Calibri"/>
                        </a:rPr>
                        <a:t>H01: μ_Sil equal across algorithms.
Ha1: Algorithms differ (p&lt;.05) &amp; prefix Blocks yield stable (ARI≥.60), routable archetypes.</a:t>
                      </a:r>
                    </a:p>
                  </a:txBody>
                  <a:tcPr anchor="ctr" marL="54864" marR="54864" marT="22860" marB="22860">
                    <a:solidFill>
                      <a:srgbClr val="FFFFFF"/>
                    </a:solidFill>
                  </a:tcPr>
                </a:tc>
                <a:tc>
                  <a:txBody>
                    <a:bodyPr/>
                    <a:lstStyle/>
                    <a:p>
                      <a:pPr algn="l"/>
                      <a:r>
                        <a:rPr sz="1000" b="0" i="0">
                          <a:solidFill>
                            <a:srgbClr val="1E2430"/>
                          </a:solidFill>
                          <a:latin typeface="Calibri"/>
                        </a:rPr>
                        <a:t>Without stable, early-routable user archetypes (free of outcome leakage), downstream adaptive prompting cannot know which persona to target.</a:t>
                      </a:r>
                    </a:p>
                  </a:txBody>
                  <a:tcPr anchor="ctr" marL="54864" marR="54864" marT="22860" marB="22860">
                    <a:solidFill>
                      <a:srgbClr val="FFFFFF"/>
                    </a:solidFill>
                  </a:tcPr>
                </a:tc>
              </a:tr>
              <a:tr h="813816">
                <a:tc>
                  <a:txBody>
                    <a:bodyPr/>
                    <a:lstStyle/>
                    <a:p>
                      <a:pPr algn="l"/>
                      <a:r>
                        <a:rPr sz="1000" b="0" i="0">
                          <a:solidFill>
                            <a:srgbClr val="1E2430"/>
                          </a:solidFill>
                          <a:latin typeface="Calibri"/>
                        </a:rPr>
                        <a:t>RQ2
(Style &amp;
Pacing)</a:t>
                      </a:r>
                    </a:p>
                  </a:txBody>
                  <a:tcPr anchor="ctr" marL="54864" marR="54864" marT="22860" marB="22860">
                    <a:solidFill>
                      <a:srgbClr val="F2F6FC"/>
                    </a:solidFill>
                  </a:tcPr>
                </a:tc>
                <a:tc>
                  <a:txBody>
                    <a:bodyPr/>
                    <a:lstStyle/>
                    <a:p>
                      <a:pPr algn="l"/>
                      <a:r>
                        <a:rPr sz="1000" b="0" i="0">
                          <a:solidFill>
                            <a:srgbClr val="1E2430"/>
                          </a:solidFill>
                          <a:latin typeface="Calibri"/>
                        </a:rPr>
                        <a:t>Does cluster-adaptive few-shot prompting improve style convergence and pacing calibration over static and zero-shot?</a:t>
                      </a:r>
                    </a:p>
                  </a:txBody>
                  <a:tcPr anchor="ctr" marL="54864" marR="54864" marT="22860" marB="22860">
                    <a:solidFill>
                      <a:srgbClr val="F2F6FC"/>
                    </a:solidFill>
                  </a:tcPr>
                </a:tc>
                <a:tc>
                  <a:txBody>
                    <a:bodyPr/>
                    <a:lstStyle/>
                    <a:p>
                      <a:pPr algn="l"/>
                      <a:r>
                        <a:rPr sz="1000" b="0" i="0">
                          <a:solidFill>
                            <a:srgbClr val="1E2430"/>
                          </a:solidFill>
                          <a:latin typeface="Calibri"/>
                        </a:rPr>
                        <a:t>X2: Prompting Strategy (Zero-Shot, Static Few-Shot k=3, Cluster-Adaptive Few-Shot k=3)</a:t>
                      </a:r>
                    </a:p>
                  </a:txBody>
                  <a:tcPr anchor="ctr" marL="54864" marR="54864" marT="22860" marB="22860">
                    <a:solidFill>
                      <a:srgbClr val="F2F6FC"/>
                    </a:solidFill>
                  </a:tcPr>
                </a:tc>
                <a:tc>
                  <a:txBody>
                    <a:bodyPr/>
                    <a:lstStyle/>
                    <a:p>
                      <a:pPr algn="l"/>
                      <a:r>
                        <a:rPr sz="1000" b="0" i="0">
                          <a:solidFill>
                            <a:srgbClr val="1E2430"/>
                          </a:solidFill>
                          <a:latin typeface="Calibri"/>
                        </a:rPr>
                        <a:t>Y2: De-lexicalized SBERT Style Cosine, Gemini 3,072-d Cosine, BERTScore F1, Pacing Word Error</a:t>
                      </a:r>
                    </a:p>
                  </a:txBody>
                  <a:tcPr anchor="ctr" marL="54864" marR="54864" marT="22860" marB="22860">
                    <a:solidFill>
                      <a:srgbClr val="F2F6FC"/>
                    </a:solidFill>
                  </a:tcPr>
                </a:tc>
                <a:tc>
                  <a:txBody>
                    <a:bodyPr/>
                    <a:lstStyle/>
                    <a:p>
                      <a:pPr algn="l"/>
                      <a:r>
                        <a:rPr sz="1000" b="0" i="0">
                          <a:solidFill>
                            <a:srgbClr val="1E2430"/>
                          </a:solidFill>
                          <a:latin typeface="Calibri"/>
                        </a:rPr>
                        <a:t>H02: μ_style equal across 3 conditions.
Ha2: Cluster-Adaptive &gt; Static &amp; Zero-Shot on refined archetypes.</a:t>
                      </a:r>
                    </a:p>
                  </a:txBody>
                  <a:tcPr anchor="ctr" marL="54864" marR="54864" marT="22860" marB="22860">
                    <a:solidFill>
                      <a:srgbClr val="F2F6FC"/>
                    </a:solidFill>
                  </a:tcPr>
                </a:tc>
                <a:tc>
                  <a:txBody>
                    <a:bodyPr/>
                    <a:lstStyle/>
                    <a:p>
                      <a:pPr algn="l"/>
                      <a:r>
                        <a:rPr sz="1000" b="0" i="0">
                          <a:solidFill>
                            <a:srgbClr val="1E2430"/>
                          </a:solidFill>
                          <a:latin typeface="Calibri"/>
                        </a:rPr>
                        <a:t>Tests whether routing to an archetype's FAISS sub-index actually makes the LLM mirror human consultant style and verbosity for that persona.</a:t>
                      </a:r>
                    </a:p>
                  </a:txBody>
                  <a:tcPr anchor="ctr" marL="54864" marR="54864" marT="22860" marB="22860">
                    <a:solidFill>
                      <a:srgbClr val="F2F6FC"/>
                    </a:solidFill>
                  </a:tcPr>
                </a:tc>
              </a:tr>
              <a:tr h="813816">
                <a:tc>
                  <a:txBody>
                    <a:bodyPr/>
                    <a:lstStyle/>
                    <a:p>
                      <a:pPr algn="l"/>
                      <a:r>
                        <a:rPr sz="1000" b="0" i="0">
                          <a:solidFill>
                            <a:srgbClr val="1E2430"/>
                          </a:solidFill>
                          <a:latin typeface="Calibri"/>
                        </a:rPr>
                        <a:t>RQ3
(Safety &amp;
Compliance)</a:t>
                      </a:r>
                    </a:p>
                  </a:txBody>
                  <a:tcPr anchor="ctr" marL="54864" marR="54864" marT="22860" marB="22860">
                    <a:solidFill>
                      <a:srgbClr val="FFFFFF"/>
                    </a:solidFill>
                  </a:tcPr>
                </a:tc>
                <a:tc>
                  <a:txBody>
                    <a:bodyPr/>
                    <a:lstStyle/>
                    <a:p>
                      <a:pPr algn="l"/>
                      <a:r>
                        <a:rPr sz="1000" b="0" i="0">
                          <a:solidFill>
                            <a:srgbClr val="1E2430"/>
                          </a:solidFill>
                          <a:latin typeface="Calibri"/>
                        </a:rPr>
                        <a:t>How do a declarative rule engine and cluster-adaptive prompting interact to govern compliance, leakage, and slot F1?</a:t>
                      </a:r>
                    </a:p>
                  </a:txBody>
                  <a:tcPr anchor="ctr" marL="54864" marR="54864" marT="22860" marB="22860">
                    <a:solidFill>
                      <a:srgbClr val="FFFFFF"/>
                    </a:solidFill>
                  </a:tcPr>
                </a:tc>
                <a:tc>
                  <a:txBody>
                    <a:bodyPr/>
                    <a:lstStyle/>
                    <a:p>
                      <a:pPr algn="l"/>
                      <a:r>
                        <a:rPr sz="1000" b="0" i="0">
                          <a:solidFill>
                            <a:srgbClr val="1E2430"/>
                          </a:solidFill>
                          <a:latin typeface="Calibri"/>
                        </a:rPr>
                        <a:t>X3: 2 × 2 Factorial: Rules Mode (Off vs. Active) × Prompting (Zero-Shot vs. Cluster-Adaptive)</a:t>
                      </a:r>
                    </a:p>
                  </a:txBody>
                  <a:tcPr anchor="ctr" marL="54864" marR="54864" marT="22860" marB="22860">
                    <a:solidFill>
                      <a:srgbClr val="FFFFFF"/>
                    </a:solidFill>
                  </a:tcPr>
                </a:tc>
                <a:tc>
                  <a:txBody>
                    <a:bodyPr/>
                    <a:lstStyle/>
                    <a:p>
                      <a:pPr algn="l"/>
                      <a:r>
                        <a:rPr sz="1000" b="0" i="0">
                          <a:solidFill>
                            <a:srgbClr val="1E2430"/>
                          </a:solidFill>
                          <a:latin typeface="Calibri"/>
                        </a:rPr>
                        <a:t>Y3: Rule Adherence Rate (RAR)
Y4: Exemplar Leakage (ELR)
Y5: Slot F1 &amp; Style Cosine</a:t>
                      </a:r>
                    </a:p>
                  </a:txBody>
                  <a:tcPr anchor="ctr" marL="54864" marR="54864" marT="22860" marB="22860">
                    <a:solidFill>
                      <a:srgbClr val="FFFFFF"/>
                    </a:solidFill>
                  </a:tcPr>
                </a:tc>
                <a:tc>
                  <a:txBody>
                    <a:bodyPr/>
                    <a:lstStyle/>
                    <a:p>
                      <a:pPr algn="l"/>
                      <a:r>
                        <a:rPr sz="1000" b="0" i="0">
                          <a:solidFill>
                            <a:srgbClr val="1E2430"/>
                          </a:solidFill>
                          <a:latin typeface="Calibri"/>
                        </a:rPr>
                        <a:t>H03: No main or interaction effects.
Ha3: Active rules raise RAR &amp; Slot F1 and eliminate few-shot leakage (Interaction p&lt;.05).</a:t>
                      </a:r>
                    </a:p>
                  </a:txBody>
                  <a:tcPr anchor="ctr" marL="54864" marR="54864" marT="22860" marB="22860">
                    <a:solidFill>
                      <a:srgbClr val="FFFFFF"/>
                    </a:solidFill>
                  </a:tcPr>
                </a:tc>
                <a:tc>
                  <a:txBody>
                    <a:bodyPr/>
                    <a:lstStyle/>
                    <a:p>
                      <a:pPr algn="l"/>
                      <a:r>
                        <a:rPr sz="1000" b="0" i="0">
                          <a:solidFill>
                            <a:srgbClr val="1E2430"/>
                          </a:solidFill>
                          <a:latin typeface="Calibri"/>
                        </a:rPr>
                        <a:t>Proves that adaptive style prompting is unsafe on its own (35.9% leakage) and requires symbolic rule verification to be enterprise-ready.</a:t>
                      </a:r>
                    </a:p>
                  </a:txBody>
                  <a:tcPr anchor="ctr" marL="54864" marR="54864" marT="22860" marB="22860">
                    <a:solidFill>
                      <a:srgbClr val="FFFFFF"/>
                    </a:solidFill>
                  </a:tcPr>
                </a:tc>
              </a:tr>
              <a:tr h="813816">
                <a:tc>
                  <a:txBody>
                    <a:bodyPr/>
                    <a:lstStyle/>
                    <a:p>
                      <a:pPr algn="l"/>
                      <a:r>
                        <a:rPr sz="1000" b="0" i="0">
                          <a:solidFill>
                            <a:srgbClr val="1E2430"/>
                          </a:solidFill>
                          <a:latin typeface="Calibri"/>
                        </a:rPr>
                        <a:t>RQ4
(Multi-Turn
Efficiency)</a:t>
                      </a:r>
                    </a:p>
                  </a:txBody>
                  <a:tcPr anchor="ctr" marL="54864" marR="54864" marT="22860" marB="22860">
                    <a:solidFill>
                      <a:srgbClr val="F2F6FC"/>
                    </a:solidFill>
                  </a:tcPr>
                </a:tc>
                <a:tc>
                  <a:txBody>
                    <a:bodyPr/>
                    <a:lstStyle/>
                    <a:p>
                      <a:pPr algn="l"/>
                      <a:r>
                        <a:rPr sz="1000" b="0" i="0">
                          <a:solidFill>
                            <a:srgbClr val="1E2430"/>
                          </a:solidFill>
                          <a:latin typeface="Calibri"/>
                        </a:rPr>
                        <a:t>Does cluster-adaptive prompting with an informed-slot ledger reduce turns to booking and redundant questions across archetypes?</a:t>
                      </a:r>
                    </a:p>
                  </a:txBody>
                  <a:tcPr anchor="ctr" marL="54864" marR="54864" marT="22860" marB="22860">
                    <a:solidFill>
                      <a:srgbClr val="F2F6FC"/>
                    </a:solidFill>
                  </a:tcPr>
                </a:tc>
                <a:tc>
                  <a:txBody>
                    <a:bodyPr/>
                    <a:lstStyle/>
                    <a:p>
                      <a:pPr algn="l"/>
                      <a:r>
                        <a:rPr sz="1000" b="0" i="0">
                          <a:solidFill>
                            <a:srgbClr val="1E2430"/>
                          </a:solidFill>
                          <a:latin typeface="Calibri"/>
                        </a:rPr>
                        <a:t>X4: 2 × 3 Factorial: Prompting (Zero-Shot vs. Cluster-Adaptive) × Refined Archetype (DB, OE, RCS)</a:t>
                      </a:r>
                    </a:p>
                  </a:txBody>
                  <a:tcPr anchor="ctr" marL="54864" marR="54864" marT="22860" marB="22860">
                    <a:solidFill>
                      <a:srgbClr val="F2F6FC"/>
                    </a:solidFill>
                  </a:tcPr>
                </a:tc>
                <a:tc>
                  <a:txBody>
                    <a:bodyPr/>
                    <a:lstStyle/>
                    <a:p>
                      <a:pPr algn="l"/>
                      <a:r>
                        <a:rPr sz="1000" b="0" i="0">
                          <a:solidFill>
                            <a:srgbClr val="1E2430"/>
                          </a:solidFill>
                          <a:latin typeface="Calibri"/>
                        </a:rPr>
                        <a:t>Y6: Log Turns to Goal Completion (ln TGC), Raw Turns, Redundant Elicitation Rate (RER)</a:t>
                      </a:r>
                    </a:p>
                  </a:txBody>
                  <a:tcPr anchor="ctr" marL="54864" marR="54864" marT="22860" marB="22860">
                    <a:solidFill>
                      <a:srgbClr val="F2F6FC"/>
                    </a:solidFill>
                  </a:tcPr>
                </a:tc>
                <a:tc>
                  <a:txBody>
                    <a:bodyPr/>
                    <a:lstStyle/>
                    <a:p>
                      <a:pPr algn="l"/>
                      <a:r>
                        <a:rPr sz="1000" b="0" i="0">
                          <a:solidFill>
                            <a:srgbClr val="1E2430"/>
                          </a:solidFill>
                          <a:latin typeface="Calibri"/>
                        </a:rPr>
                        <a:t>H04: No main or interaction effects.
Ha4: Cluster-Adaptive cuts log turns &amp; RER with a significant Prompt × Archetype interaction.</a:t>
                      </a:r>
                    </a:p>
                  </a:txBody>
                  <a:tcPr anchor="ctr" marL="54864" marR="54864" marT="22860" marB="22860">
                    <a:solidFill>
                      <a:srgbClr val="F2F6FC"/>
                    </a:solidFill>
                  </a:tcPr>
                </a:tc>
                <a:tc>
                  <a:txBody>
                    <a:bodyPr/>
                    <a:lstStyle/>
                    <a:p>
                      <a:pPr algn="l"/>
                      <a:r>
                        <a:rPr sz="1000" b="0" i="0">
                          <a:solidFill>
                            <a:srgbClr val="1E2430"/>
                          </a:solidFill>
                          <a:latin typeface="Calibri"/>
                        </a:rPr>
                        <a:t>Demonstrates end-to-end business value: fewer turns to booking, zero repetitive slot questions, and tailored trade-off resolution.</a:t>
                      </a:r>
                    </a:p>
                  </a:txBody>
                  <a:tcPr anchor="ctr" marL="54864" marR="54864" marT="22860" marB="22860">
                    <a:solidFill>
                      <a:srgbClr val="F2F6FC"/>
                    </a:solidFill>
                  </a:tcPr>
                </a:tc>
              </a:tr>
            </a:tbl>
          </a:graphicData>
        </a:graphic>
      </p:graphicFrame>
      <p:sp>
        <p:nvSpPr>
          <p:cNvPr id="12" name="Rounded Rectangle 11"/>
          <p:cNvSpPr/>
          <p:nvPr/>
        </p:nvSpPr>
        <p:spPr>
          <a:xfrm>
            <a:off x="320040" y="5577840"/>
            <a:ext cx="11548872" cy="896112"/>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50" b="1" i="0">
                <a:solidFill>
                  <a:srgbClr val="1E2430"/>
                </a:solidFill>
                <a:latin typeface="Calibri"/>
              </a:rPr>
              <a:t>Key Narrative Link:</a:t>
            </a:r>
            <a:r>
              <a:rPr sz="1150" b="0" i="0">
                <a:solidFill>
                  <a:srgbClr val="1E2430"/>
                </a:solidFill>
                <a:latin typeface="Calibri"/>
              </a:rPr>
              <a:t> RQ1 discovers </a:t>
            </a:r>
            <a:r>
              <a:rPr sz="1150" b="0" i="1">
                <a:solidFill>
                  <a:srgbClr val="1E2430"/>
                </a:solidFill>
                <a:latin typeface="Calibri"/>
              </a:rPr>
              <a:t>who</a:t>
            </a:r>
            <a:r>
              <a:rPr sz="1150" b="0" i="0">
                <a:solidFill>
                  <a:srgbClr val="1E2430"/>
                </a:solidFill>
                <a:latin typeface="Calibri"/>
              </a:rPr>
              <a:t> the traveler is in the first 5–9 messages → RQ2 proves we can match </a:t>
            </a:r>
            <a:r>
              <a:rPr sz="1150" b="0" i="1">
                <a:solidFill>
                  <a:srgbClr val="1E2430"/>
                </a:solidFill>
                <a:latin typeface="Calibri"/>
              </a:rPr>
              <a:t>how</a:t>
            </a:r>
            <a:r>
              <a:rPr sz="1150" b="0" i="0">
                <a:solidFill>
                  <a:srgbClr val="1E2430"/>
                </a:solidFill>
                <a:latin typeface="Calibri"/>
              </a:rPr>
              <a:t> to speak to them → RQ3 guarantees we never </a:t>
            </a:r>
            <a:r>
              <a:rPr sz="1150" b="0" i="1">
                <a:solidFill>
                  <a:srgbClr val="1E2430"/>
                </a:solidFill>
                <a:latin typeface="Calibri"/>
              </a:rPr>
              <a:t>hallucinate or break booking rules</a:t>
            </a:r>
            <a:r>
              <a:rPr sz="1150" b="0" i="0">
                <a:solidFill>
                  <a:srgbClr val="1E2430"/>
                </a:solidFill>
                <a:latin typeface="Calibri"/>
              </a:rPr>
              <a:t> while adapting style → RQ4 proves this closes bookings in </a:t>
            </a:r>
            <a:r>
              <a:rPr sz="1150" b="0" i="1">
                <a:solidFill>
                  <a:srgbClr val="1E2430"/>
                </a:solidFill>
                <a:latin typeface="Calibri"/>
              </a:rPr>
              <a:t>29.5% to 42.7% fewer turns</a:t>
            </a:r>
            <a:r>
              <a:rPr sz="1150" b="0" i="0">
                <a:solidFill>
                  <a:srgbClr val="1E2430"/>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3: DATA AUTHENTICITY, SCHEMA &amp; EDA</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10</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Dataset Authenticity, Origin, and Fit for Purpose (Defense Question #4)</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Why Microsoft Frames and MultiWOZ 2.2 were created, why they are gold-standard human corpora, and how they match our study</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352044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Primary Corpus: Microsoft Frames (El Asri et al., 2017)</a:t>
            </a:r>
          </a:p>
        </p:txBody>
      </p:sp>
      <p:sp>
        <p:nvSpPr>
          <p:cNvPr id="13" name="TextBox 12"/>
          <p:cNvSpPr txBox="1"/>
          <p:nvPr/>
        </p:nvSpPr>
        <p:spPr>
          <a:xfrm>
            <a:off x="411479" y="1755648"/>
            <a:ext cx="5440680" cy="3081528"/>
          </a:xfrm>
          <a:prstGeom prst="rect">
            <a:avLst/>
          </a:prstGeom>
          <a:noFill/>
        </p:spPr>
        <p:txBody>
          <a:bodyPr wrap="square" lIns="36576" rIns="36576" tIns="18288" bIns="18288">
            <a:spAutoFit/>
          </a:bodyPr>
          <a:lstStyle/>
          <a:p>
            <a:pPr>
              <a:spcAft>
                <a:spcPts val="400"/>
              </a:spcAft>
            </a:pPr>
            <a:r>
              <a:rPr sz="1080" b="0" i="0">
                <a:solidFill>
                  <a:srgbClr val="1E2430"/>
                </a:solidFill>
                <a:latin typeface="Calibri"/>
              </a:rPr>
              <a:t>• </a:t>
            </a:r>
            <a:r>
              <a:rPr sz="1080" b="1" i="0">
                <a:solidFill>
                  <a:srgbClr val="1E2430"/>
                </a:solidFill>
                <a:latin typeface="Calibri"/>
              </a:rPr>
              <a:t>Who Created It &amp; How:</a:t>
            </a:r>
            <a:r>
              <a:rPr sz="1080" b="0" i="0">
                <a:solidFill>
                  <a:srgbClr val="1E2430"/>
                </a:solidFill>
                <a:latin typeface="Calibri"/>
              </a:rPr>
              <a:t> Created by Maluuba / Microsoft Research using 12 human participants (85 user–wizard pairs) over 20 days in a Wizard-of-Oz setup backed by a real database of flights and hotels.</a:t>
            </a:r>
          </a:p>
          <a:p>
            <a:pPr>
              <a:spcAft>
                <a:spcPts val="400"/>
              </a:spcAft>
            </a:pPr>
            <a:r>
              <a:rPr sz="1080" b="0" i="0">
                <a:solidFill>
                  <a:srgbClr val="1E2430"/>
                </a:solidFill>
                <a:latin typeface="Calibri"/>
              </a:rPr>
              <a:t>• </a:t>
            </a:r>
            <a:r>
              <a:rPr sz="1080" b="1" i="0">
                <a:solidFill>
                  <a:srgbClr val="1E2430"/>
                </a:solidFill>
                <a:latin typeface="Calibri"/>
              </a:rPr>
              <a:t>Why It Was Created:</a:t>
            </a:r>
            <a:r>
              <a:rPr sz="1080" b="0" i="0">
                <a:solidFill>
                  <a:srgbClr val="1E2430"/>
                </a:solidFill>
                <a:latin typeface="Calibri"/>
              </a:rPr>
              <a:t> Existing datasets only handled simple slot-filling. Microsoft created Frames (1,369 human–human dialogues; 19,986 turns) to study </a:t>
            </a:r>
            <a:r>
              <a:rPr sz="1080" b="1" i="0">
                <a:solidFill>
                  <a:srgbClr val="1E2430"/>
                </a:solidFill>
                <a:latin typeface="Calibri"/>
              </a:rPr>
              <a:t>decision-making, budget trade-offs, and frame-switching</a:t>
            </a:r>
            <a:r>
              <a:rPr sz="1080" b="0" i="0">
                <a:solidFill>
                  <a:srgbClr val="1E2430"/>
                </a:solidFill>
                <a:latin typeface="Calibri"/>
              </a:rPr>
              <a:t> across multiple vacation packages.</a:t>
            </a:r>
          </a:p>
          <a:p>
            <a:pPr>
              <a:spcAft>
                <a:spcPts val="400"/>
              </a:spcAft>
            </a:pPr>
            <a:r>
              <a:rPr sz="1080" b="0" i="0">
                <a:solidFill>
                  <a:srgbClr val="1E2430"/>
                </a:solidFill>
                <a:latin typeface="Calibri"/>
              </a:rPr>
              <a:t>• </a:t>
            </a:r>
            <a:r>
              <a:rPr sz="1080" b="1" i="0">
                <a:solidFill>
                  <a:srgbClr val="1E2430"/>
                </a:solidFill>
                <a:latin typeface="Calibri"/>
              </a:rPr>
              <a:t>Why It Matches Our Research Perfectly:</a:t>
            </a:r>
          </a:p>
          <a:p>
            <a:pPr>
              <a:spcAft>
                <a:spcPts val="400"/>
              </a:spcAft>
            </a:pPr>
            <a:r>
              <a:rPr sz="1000" b="0" i="0">
                <a:solidFill>
                  <a:srgbClr val="1E2430"/>
                </a:solidFill>
                <a:latin typeface="Calibri"/>
              </a:rPr>
              <a:t>    ▪ Contains genuine human behavioral diversity: decisive buyers, multi-city explorers, and rigid budget/star negotiators.</a:t>
            </a:r>
          </a:p>
          <a:p>
            <a:pPr>
              <a:spcAft>
                <a:spcPts val="400"/>
              </a:spcAft>
            </a:pPr>
            <a:r>
              <a:rPr sz="1000" b="0" i="0">
                <a:solidFill>
                  <a:srgbClr val="1E2430"/>
                </a:solidFill>
                <a:latin typeface="Calibri"/>
              </a:rPr>
              <a:t>    ▪ Rich ground-truth annotations: 20+ dialogue act types (`inform`, `offer`, `switch_frame`, `request_compare`), slot–value histories, wizard task success (74.2%), and user satisfaction ratings.</a:t>
            </a:r>
          </a:p>
        </p:txBody>
      </p:sp>
      <p:sp>
        <p:nvSpPr>
          <p:cNvPr id="14" name="Rounded Rectangle 13"/>
          <p:cNvSpPr/>
          <p:nvPr/>
        </p:nvSpPr>
        <p:spPr>
          <a:xfrm>
            <a:off x="6217920" y="1371600"/>
            <a:ext cx="5650992" cy="352044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Comparison Corpus: MultiWOZ 2.2 (Zang et al., 2020)</a:t>
            </a:r>
          </a:p>
        </p:txBody>
      </p:sp>
      <p:sp>
        <p:nvSpPr>
          <p:cNvPr id="16" name="TextBox 15"/>
          <p:cNvSpPr txBox="1"/>
          <p:nvPr/>
        </p:nvSpPr>
        <p:spPr>
          <a:xfrm>
            <a:off x="6309359" y="1755648"/>
            <a:ext cx="5468112" cy="3081528"/>
          </a:xfrm>
          <a:prstGeom prst="rect">
            <a:avLst/>
          </a:prstGeom>
          <a:noFill/>
        </p:spPr>
        <p:txBody>
          <a:bodyPr wrap="square" lIns="36576" rIns="36576" tIns="18288" bIns="18288">
            <a:spAutoFit/>
          </a:bodyPr>
          <a:lstStyle/>
          <a:p>
            <a:pPr>
              <a:spcAft>
                <a:spcPts val="400"/>
              </a:spcAft>
            </a:pPr>
            <a:r>
              <a:rPr sz="1080" b="0" i="0">
                <a:solidFill>
                  <a:srgbClr val="1E2430"/>
                </a:solidFill>
                <a:latin typeface="Calibri"/>
              </a:rPr>
              <a:t>• </a:t>
            </a:r>
            <a:r>
              <a:rPr sz="1080" b="1" i="0">
                <a:solidFill>
                  <a:srgbClr val="1E2430"/>
                </a:solidFill>
                <a:latin typeface="Calibri"/>
              </a:rPr>
              <a:t>Who Created It &amp; How:</a:t>
            </a:r>
            <a:r>
              <a:rPr sz="1080" b="0" i="0">
                <a:solidFill>
                  <a:srgbClr val="1E2430"/>
                </a:solidFill>
                <a:latin typeface="Calibri"/>
              </a:rPr>
              <a:t> Collected at the University of Cambridge (Budzianowski et al., 2018) via crowd-sourced human tourists and clerks (10,438 dialogues), with schema-guided slot annotations cleaned by Google Research in v2.2 (Zang et al., 2020).</a:t>
            </a:r>
          </a:p>
          <a:p>
            <a:pPr>
              <a:spcAft>
                <a:spcPts val="400"/>
              </a:spcAft>
            </a:pPr>
            <a:r>
              <a:rPr sz="1080" b="0" i="0">
                <a:solidFill>
                  <a:srgbClr val="1E2430"/>
                </a:solidFill>
                <a:latin typeface="Calibri"/>
              </a:rPr>
              <a:t>• </a:t>
            </a:r>
            <a:r>
              <a:rPr sz="1080" b="1" i="0">
                <a:solidFill>
                  <a:srgbClr val="1E2430"/>
                </a:solidFill>
                <a:latin typeface="Calibri"/>
              </a:rPr>
              <a:t>Why It Was Created:</a:t>
            </a:r>
            <a:r>
              <a:rPr sz="1080" b="0" i="0">
                <a:solidFill>
                  <a:srgbClr val="1E2430"/>
                </a:solidFill>
                <a:latin typeface="Calibri"/>
              </a:rPr>
              <a:t> Standard benchmark for multi-domain dialogue state tracking (hotel, train, attraction, taxi, restaurant).</a:t>
            </a:r>
          </a:p>
          <a:p>
            <a:pPr>
              <a:spcAft>
                <a:spcPts val="400"/>
              </a:spcAft>
            </a:pPr>
            <a:r>
              <a:rPr sz="1080" b="0" i="0">
                <a:solidFill>
                  <a:srgbClr val="1E2430"/>
                </a:solidFill>
                <a:latin typeface="Calibri"/>
              </a:rPr>
              <a:t>• </a:t>
            </a:r>
            <a:r>
              <a:rPr sz="1080" b="1" i="0">
                <a:solidFill>
                  <a:srgbClr val="1E2430"/>
                </a:solidFill>
                <a:latin typeface="Calibri"/>
              </a:rPr>
              <a:t>Why We Included a Seeded Sample (N = 1,500 raw; 1,499 analytic):</a:t>
            </a:r>
          </a:p>
          <a:p>
            <a:pPr>
              <a:spcAft>
                <a:spcPts val="400"/>
              </a:spcAft>
            </a:pPr>
            <a:r>
              <a:rPr sz="1000" b="0" i="0">
                <a:solidFill>
                  <a:srgbClr val="1E2430"/>
                </a:solidFill>
                <a:latin typeface="Calibri"/>
              </a:rPr>
              <a:t>    ▪ Provides an external structural benchmark in EDA (comparing turn distributions and verbosity).</a:t>
            </a:r>
          </a:p>
          <a:p>
            <a:pPr>
              <a:spcAft>
                <a:spcPts val="400"/>
              </a:spcAft>
            </a:pPr>
            <a:r>
              <a:rPr sz="1000" b="0" i="0">
                <a:solidFill>
                  <a:srgbClr val="1E2430"/>
                </a:solidFill>
                <a:latin typeface="Calibri"/>
              </a:rPr>
              <a:t>    ▪ Tests </a:t>
            </a:r>
            <a:r>
              <a:rPr sz="1000" b="1" i="0">
                <a:solidFill>
                  <a:srgbClr val="1E2430"/>
                </a:solidFill>
                <a:latin typeface="Calibri"/>
              </a:rPr>
              <a:t>cross-corpus domain specificity</a:t>
            </a:r>
            <a:r>
              <a:rPr sz="1000" b="0" i="0">
                <a:solidFill>
                  <a:srgbClr val="1E2430"/>
                </a:solidFill>
                <a:latin typeface="Calibri"/>
              </a:rPr>
              <a:t> in RQ1: because MultiWOZ lacks flight routing and multi-package price negotiation, projecting MultiWOZ onto Frames centroids tests whether our archetypes are genuinely consultative vs. generic.</a:t>
            </a:r>
          </a:p>
        </p:txBody>
      </p:sp>
      <p:sp>
        <p:nvSpPr>
          <p:cNvPr id="17" name="Rounded Rectangle 16"/>
          <p:cNvSpPr/>
          <p:nvPr/>
        </p:nvSpPr>
        <p:spPr>
          <a:xfrm>
            <a:off x="320040" y="5029200"/>
            <a:ext cx="11548872" cy="1463040"/>
          </a:xfrm>
          <a:prstGeom prst="roundRect">
            <a:avLst>
              <a:gd name="adj" fmla="val 2000"/>
            </a:avLst>
          </a:prstGeom>
          <a:solidFill>
            <a:srgbClr val="FEF8E8"/>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5029200"/>
            <a:ext cx="11548872" cy="329184"/>
          </a:xfrm>
          <a:prstGeom prst="roundRect">
            <a:avLst>
              <a:gd name="adj" fmla="val 2000"/>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Where Public Datasets Had a Gap—and How We Solved It Rigorously Without Compromising Authenticity</a:t>
            </a:r>
          </a:p>
        </p:txBody>
      </p:sp>
      <p:sp>
        <p:nvSpPr>
          <p:cNvPr id="19" name="TextBox 18"/>
          <p:cNvSpPr txBox="1"/>
          <p:nvPr/>
        </p:nvSpPr>
        <p:spPr>
          <a:xfrm>
            <a:off x="411479" y="5413248"/>
            <a:ext cx="11365992" cy="102412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Gap 1 (Zero Tier-2 Enterprise Policy Slots in Public Corpora):</a:t>
            </a:r>
            <a:r>
              <a:rPr sz="1050" b="0" i="0">
                <a:solidFill>
                  <a:srgbClr val="1E2430"/>
                </a:solidFill>
                <a:latin typeface="Calibri"/>
              </a:rPr>
              <a:t> Our audit of all 1,334 Frames dialogues (Appendix Table E4) proved that 0.0% of public dialogues record visa windows, passport validity months, or promo discount caps (only `budget_amount` is observed in 78.5%). </a:t>
            </a:r>
            <a:r>
              <a:rPr sz="1050" b="1" i="0">
                <a:solidFill>
                  <a:srgbClr val="1E2430"/>
                </a:solidFill>
                <a:latin typeface="Calibri"/>
              </a:rPr>
              <a:t>Solution:</a:t>
            </a:r>
            <a:r>
              <a:rPr sz="1050" b="0" i="0">
                <a:solidFill>
                  <a:srgbClr val="1E2430"/>
                </a:solidFill>
                <a:latin typeface="Calibri"/>
              </a:rPr>
              <a:t> In RQ3, we took real held-out Frames dialogues (preserving authentic user language and Tier-1 trip constraints) and used a seeded (`seed=42`) experimental injector to attach controlled Tier-2 policy states (50% violating, 50% compliant).</a:t>
            </a:r>
          </a:p>
          <a:p>
            <a:pPr>
              <a:spcAft>
                <a:spcPts val="400"/>
              </a:spcAft>
            </a:pPr>
            <a:r>
              <a:rPr sz="1050" b="0" i="0">
                <a:solidFill>
                  <a:srgbClr val="1E2430"/>
                </a:solidFill>
                <a:latin typeface="Calibri"/>
              </a:rPr>
              <a:t>• </a:t>
            </a:r>
            <a:r>
              <a:rPr sz="1050" b="1" i="0">
                <a:solidFill>
                  <a:srgbClr val="1E2430"/>
                </a:solidFill>
                <a:latin typeface="Calibri"/>
              </a:rPr>
              <a:t>Gap 2 (Static Logs Cannot React to New Agent Replies in RQ4):</a:t>
            </a:r>
            <a:r>
              <a:rPr sz="1050" b="0" i="0">
                <a:solidFill>
                  <a:srgbClr val="1E2430"/>
                </a:solidFill>
                <a:latin typeface="Calibri"/>
              </a:rPr>
              <a:t> Static corpus transcripts have fixed wizard replies. </a:t>
            </a:r>
            <a:r>
              <a:rPr sz="1050" b="1" i="0">
                <a:solidFill>
                  <a:srgbClr val="1E2430"/>
                </a:solidFill>
                <a:latin typeface="Calibri"/>
              </a:rPr>
              <a:t>Solution:</a:t>
            </a:r>
            <a:r>
              <a:rPr sz="1050" b="0" i="0">
                <a:solidFill>
                  <a:srgbClr val="1E2430"/>
                </a:solidFill>
                <a:latin typeface="Calibri"/>
              </a:rPr>
              <a:t> In RQ4, we grounded a persona-conditioned user simulator in the exact Tier-1 constraints of 90 held-out Frames dialogues and verified its persona fidelity with an independent `gemini-2.5-pro` judge (</a:t>
            </a:r>
            <a:r>
              <a:rPr sz="1050" b="1" i="0">
                <a:solidFill>
                  <a:srgbClr val="1E2430"/>
                </a:solidFill>
                <a:latin typeface="Calibri"/>
              </a:rPr>
              <a:t>95.6% accuracy, κ = .933</a:t>
            </a:r>
            <a:r>
              <a:rPr sz="1050" b="0" i="0">
                <a:solidFill>
                  <a:srgbClr val="1E2430"/>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3: DATA AUTHENTICITY, SCHEMA &amp; EDA</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11</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Two-Tier Canonical Schema, Data Cleaning Audit &amp; Leakage Prevention</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Strict programmatic data hygiene (src/canonical_schema.py &amp; step1_prepare_data.py) before any modeling</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4754880" cy="329184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475488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Two-Tier Pydantic Schema (src/canonical_schema.py)</a:t>
            </a:r>
          </a:p>
        </p:txBody>
      </p:sp>
      <p:sp>
        <p:nvSpPr>
          <p:cNvPr id="13" name="TextBox 12"/>
          <p:cNvSpPr txBox="1"/>
          <p:nvPr/>
        </p:nvSpPr>
        <p:spPr>
          <a:xfrm>
            <a:off x="411479" y="1755648"/>
            <a:ext cx="4572000" cy="285292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Tier 1: Core Travel Booking Slots (9 Universal Fields)</a:t>
            </a:r>
          </a:p>
          <a:p>
            <a:pPr>
              <a:spcAft>
                <a:spcPts val="400"/>
              </a:spcAft>
            </a:pPr>
            <a:r>
              <a:rPr sz="1000" b="0" i="0">
                <a:solidFill>
                  <a:srgbClr val="1E2430"/>
                </a:solidFill>
                <a:latin typeface="Calibri"/>
              </a:rPr>
              <a:t>    ▪ </a:t>
            </a:r>
            <a:r>
              <a:rPr sz="1000" b="0" i="1">
                <a:solidFill>
                  <a:srgbClr val="1E2430"/>
                </a:solidFill>
                <a:latin typeface="Calibri"/>
              </a:rPr>
              <a:t>origin_city</a:t>
            </a:r>
            <a:r>
              <a:rPr sz="1000" b="0" i="0">
                <a:solidFill>
                  <a:srgbClr val="1E2430"/>
                </a:solidFill>
                <a:latin typeface="Calibri"/>
              </a:rPr>
              <a:t> (98.4% observed in Frames)</a:t>
            </a:r>
          </a:p>
          <a:p>
            <a:pPr>
              <a:spcAft>
                <a:spcPts val="400"/>
              </a:spcAft>
            </a:pPr>
            <a:r>
              <a:rPr sz="1000" b="0" i="0">
                <a:solidFill>
                  <a:srgbClr val="1E2430"/>
                </a:solidFill>
                <a:latin typeface="Calibri"/>
              </a:rPr>
              <a:t>    ▪ </a:t>
            </a:r>
            <a:r>
              <a:rPr sz="1000" b="0" i="1">
                <a:solidFill>
                  <a:srgbClr val="1E2430"/>
                </a:solidFill>
                <a:latin typeface="Calibri"/>
              </a:rPr>
              <a:t>destination_city</a:t>
            </a:r>
            <a:r>
              <a:rPr sz="1000" b="0" i="0">
                <a:solidFill>
                  <a:srgbClr val="1E2430"/>
                </a:solidFill>
                <a:latin typeface="Calibri"/>
              </a:rPr>
              <a:t> (99.1% in Frames; 92.2% in MultiWOZ)</a:t>
            </a:r>
          </a:p>
          <a:p>
            <a:pPr>
              <a:spcAft>
                <a:spcPts val="400"/>
              </a:spcAft>
            </a:pPr>
            <a:r>
              <a:rPr sz="1000" b="0" i="0">
                <a:solidFill>
                  <a:srgbClr val="1E2430"/>
                </a:solidFill>
                <a:latin typeface="Calibri"/>
              </a:rPr>
              <a:t>    ▪ </a:t>
            </a:r>
            <a:r>
              <a:rPr sz="1000" b="0" i="1">
                <a:solidFill>
                  <a:srgbClr val="1E2430"/>
                </a:solidFill>
                <a:latin typeface="Calibri"/>
              </a:rPr>
              <a:t>departure_date</a:t>
            </a:r>
            <a:r>
              <a:rPr sz="1000" b="0" i="0">
                <a:solidFill>
                  <a:srgbClr val="1E2430"/>
                </a:solidFill>
                <a:latin typeface="Calibri"/>
              </a:rPr>
              <a:t> (96.0%) &amp; </a:t>
            </a:r>
            <a:r>
              <a:rPr sz="1000" b="0" i="1">
                <a:solidFill>
                  <a:srgbClr val="1E2430"/>
                </a:solidFill>
                <a:latin typeface="Calibri"/>
              </a:rPr>
              <a:t>return_date</a:t>
            </a:r>
            <a:r>
              <a:rPr sz="1000" b="0" i="0">
                <a:solidFill>
                  <a:srgbClr val="1E2430"/>
                </a:solidFill>
                <a:latin typeface="Calibri"/>
              </a:rPr>
              <a:t> (91.2%)</a:t>
            </a:r>
          </a:p>
          <a:p>
            <a:pPr>
              <a:spcAft>
                <a:spcPts val="400"/>
              </a:spcAft>
            </a:pPr>
            <a:r>
              <a:rPr sz="1000" b="0" i="0">
                <a:solidFill>
                  <a:srgbClr val="1E2430"/>
                </a:solidFill>
                <a:latin typeface="Calibri"/>
              </a:rPr>
              <a:t>    ▪ </a:t>
            </a:r>
            <a:r>
              <a:rPr sz="1000" b="0" i="1">
                <a:solidFill>
                  <a:srgbClr val="1E2430"/>
                </a:solidFill>
                <a:latin typeface="Calibri"/>
              </a:rPr>
              <a:t>duration_nights</a:t>
            </a:r>
            <a:r>
              <a:rPr sz="1000" b="0" i="0">
                <a:solidFill>
                  <a:srgbClr val="1E2430"/>
                </a:solidFill>
                <a:latin typeface="Calibri"/>
              </a:rPr>
              <a:t> (78.2%), </a:t>
            </a:r>
            <a:r>
              <a:rPr sz="1000" b="0" i="1">
                <a:solidFill>
                  <a:srgbClr val="1E2430"/>
                </a:solidFill>
                <a:latin typeface="Calibri"/>
              </a:rPr>
              <a:t>adults</a:t>
            </a:r>
            <a:r>
              <a:rPr sz="1000" b="0" i="0">
                <a:solidFill>
                  <a:srgbClr val="1E2430"/>
                </a:solidFill>
                <a:latin typeface="Calibri"/>
              </a:rPr>
              <a:t> (83.4%), </a:t>
            </a:r>
            <a:r>
              <a:rPr sz="1000" b="0" i="1">
                <a:solidFill>
                  <a:srgbClr val="1E2430"/>
                </a:solidFill>
                <a:latin typeface="Calibri"/>
              </a:rPr>
              <a:t>children</a:t>
            </a:r>
            <a:r>
              <a:rPr sz="1000" b="0" i="0">
                <a:solidFill>
                  <a:srgbClr val="1E2430"/>
                </a:solidFill>
                <a:latin typeface="Calibri"/>
              </a:rPr>
              <a:t> (25.0%)</a:t>
            </a:r>
          </a:p>
          <a:p>
            <a:pPr>
              <a:spcAft>
                <a:spcPts val="400"/>
              </a:spcAft>
            </a:pPr>
            <a:r>
              <a:rPr sz="1000" b="0" i="0">
                <a:solidFill>
                  <a:srgbClr val="1E2430"/>
                </a:solidFill>
                <a:latin typeface="Calibri"/>
              </a:rPr>
              <a:t>    ▪ </a:t>
            </a:r>
            <a:r>
              <a:rPr sz="1000" b="0" i="1">
                <a:solidFill>
                  <a:srgbClr val="1E2430"/>
                </a:solidFill>
                <a:latin typeface="Calibri"/>
              </a:rPr>
              <a:t>budget_amount</a:t>
            </a:r>
            <a:r>
              <a:rPr sz="1000" b="0" i="0">
                <a:solidFill>
                  <a:srgbClr val="1E2430"/>
                </a:solidFill>
                <a:latin typeface="Calibri"/>
              </a:rPr>
              <a:t> in USD (78.5%) &amp; </a:t>
            </a:r>
            <a:r>
              <a:rPr sz="1000" b="0" i="1">
                <a:solidFill>
                  <a:srgbClr val="1E2430"/>
                </a:solidFill>
                <a:latin typeface="Calibri"/>
              </a:rPr>
              <a:t>accommodation_tier</a:t>
            </a:r>
            <a:r>
              <a:rPr sz="1000" b="0" i="0">
                <a:solidFill>
                  <a:srgbClr val="1E2430"/>
                </a:solidFill>
                <a:latin typeface="Calibri"/>
              </a:rPr>
              <a:t> (69.5%)</a:t>
            </a:r>
          </a:p>
          <a:p>
            <a:pPr>
              <a:spcAft>
                <a:spcPts val="400"/>
              </a:spcAft>
            </a:pPr>
            <a:r>
              <a:rPr sz="1050" b="0" i="0">
                <a:solidFill>
                  <a:srgbClr val="1E2430"/>
                </a:solidFill>
                <a:latin typeface="Calibri"/>
              </a:rPr>
              <a:t>• </a:t>
            </a:r>
            <a:r>
              <a:rPr sz="1050" b="1" i="0">
                <a:solidFill>
                  <a:srgbClr val="1E2430"/>
                </a:solidFill>
                <a:latin typeface="Calibri"/>
              </a:rPr>
              <a:t>Tier 2: Enterprise Policy Guardrail Slots (5 Fields)</a:t>
            </a:r>
          </a:p>
          <a:p>
            <a:pPr>
              <a:spcAft>
                <a:spcPts val="400"/>
              </a:spcAft>
            </a:pPr>
            <a:r>
              <a:rPr sz="1000" b="0" i="0">
                <a:solidFill>
                  <a:srgbClr val="1E2430"/>
                </a:solidFill>
                <a:latin typeface="Calibri"/>
              </a:rPr>
              <a:t>    ▪ </a:t>
            </a:r>
            <a:r>
              <a:rPr sz="1000" b="0" i="1">
                <a:solidFill>
                  <a:srgbClr val="1E2430"/>
                </a:solidFill>
                <a:latin typeface="Calibri"/>
              </a:rPr>
              <a:t>visa_processing_window_days</a:t>
            </a:r>
            <a:r>
              <a:rPr sz="1000" b="0" i="0">
                <a:solidFill>
                  <a:srgbClr val="1E2430"/>
                </a:solidFill>
                <a:latin typeface="Calibri"/>
              </a:rPr>
              <a:t> (&lt; 15 days triggers warning)</a:t>
            </a:r>
          </a:p>
          <a:p>
            <a:pPr>
              <a:spcAft>
                <a:spcPts val="400"/>
              </a:spcAft>
            </a:pPr>
            <a:r>
              <a:rPr sz="1000" b="0" i="0">
                <a:solidFill>
                  <a:srgbClr val="1E2430"/>
                </a:solidFill>
                <a:latin typeface="Calibri"/>
              </a:rPr>
              <a:t>    ▪ </a:t>
            </a:r>
            <a:r>
              <a:rPr sz="1000" b="0" i="1">
                <a:solidFill>
                  <a:srgbClr val="1E2430"/>
                </a:solidFill>
                <a:latin typeface="Calibri"/>
              </a:rPr>
              <a:t>passport_expiry_months</a:t>
            </a:r>
            <a:r>
              <a:rPr sz="1000" b="0" i="0">
                <a:solidFill>
                  <a:srgbClr val="1E2430"/>
                </a:solidFill>
                <a:latin typeface="Calibri"/>
              </a:rPr>
              <a:t> (&lt; 6 months blocks international)</a:t>
            </a:r>
          </a:p>
          <a:p>
            <a:pPr>
              <a:spcAft>
                <a:spcPts val="400"/>
              </a:spcAft>
            </a:pPr>
            <a:r>
              <a:rPr sz="1000" b="0" i="0">
                <a:solidFill>
                  <a:srgbClr val="1E2430"/>
                </a:solidFill>
                <a:latin typeface="Calibri"/>
              </a:rPr>
              <a:t>    ▪ </a:t>
            </a:r>
            <a:r>
              <a:rPr sz="1000" b="0" i="1">
                <a:solidFill>
                  <a:srgbClr val="1E2430"/>
                </a:solidFill>
                <a:latin typeface="Calibri"/>
              </a:rPr>
              <a:t>package_type</a:t>
            </a:r>
            <a:r>
              <a:rPr sz="1000" b="0" i="0">
                <a:solidFill>
                  <a:srgbClr val="1E2430"/>
                </a:solidFill>
                <a:latin typeface="Calibri"/>
              </a:rPr>
              <a:t> &amp; </a:t>
            </a:r>
            <a:r>
              <a:rPr sz="1000" b="0" i="1">
                <a:solidFill>
                  <a:srgbClr val="1E2430"/>
                </a:solidFill>
                <a:latin typeface="Calibri"/>
              </a:rPr>
              <a:t>traveler_count_adults</a:t>
            </a:r>
            <a:r>
              <a:rPr sz="1000" b="0" i="0">
                <a:solidFill>
                  <a:srgbClr val="1E2430"/>
                </a:solidFill>
                <a:latin typeface="Calibri"/>
              </a:rPr>
              <a:t> (&gt; 4 FIT escalates)</a:t>
            </a:r>
          </a:p>
          <a:p>
            <a:pPr>
              <a:spcAft>
                <a:spcPts val="400"/>
              </a:spcAft>
            </a:pPr>
            <a:r>
              <a:rPr sz="1000" b="0" i="0">
                <a:solidFill>
                  <a:srgbClr val="1E2430"/>
                </a:solidFill>
                <a:latin typeface="Calibri"/>
              </a:rPr>
              <a:t>    ▪ </a:t>
            </a:r>
            <a:r>
              <a:rPr sz="1000" b="0" i="1">
                <a:solidFill>
                  <a:srgbClr val="1E2430"/>
                </a:solidFill>
                <a:latin typeface="Calibri"/>
              </a:rPr>
              <a:t>discount_applied_percentage</a:t>
            </a:r>
            <a:r>
              <a:rPr sz="1000" b="0" i="0">
                <a:solidFill>
                  <a:srgbClr val="1E2430"/>
                </a:solidFill>
                <a:latin typeface="Calibri"/>
              </a:rPr>
              <a:t> (&gt; 15% capped by manager rule)</a:t>
            </a:r>
          </a:p>
        </p:txBody>
      </p:sp>
      <p:graphicFrame>
        <p:nvGraphicFramePr>
          <p:cNvPr id="14" name="Table 13"/>
          <p:cNvGraphicFramePr>
            <a:graphicFrameLocks noGrp="1"/>
          </p:cNvGraphicFramePr>
          <p:nvPr/>
        </p:nvGraphicFramePr>
        <p:xfrm>
          <a:off x="5257800" y="1371600"/>
          <a:ext cx="6611111" cy="3291840"/>
        </p:xfrm>
        <a:graphic>
          <a:graphicData uri="http://schemas.openxmlformats.org/drawingml/2006/table">
            <a:tbl>
              <a:tblPr firstRow="1" bandRow="1">
                <a:tableStyleId>{5C22544A-7EE6-4342-B048-85BDC9FD1C3A}</a:tableStyleId>
              </a:tblPr>
              <a:tblGrid>
                <a:gridCol w="1377314"/>
                <a:gridCol w="1285494"/>
                <a:gridCol w="826389"/>
                <a:gridCol w="826389"/>
                <a:gridCol w="2295525"/>
              </a:tblGrid>
              <a:tr h="411480">
                <a:tc>
                  <a:txBody>
                    <a:bodyPr/>
                    <a:lstStyle/>
                    <a:p>
                      <a:pPr algn="l"/>
                      <a:r>
                        <a:rPr sz="1100" b="1" i="0">
                          <a:solidFill>
                            <a:srgbClr val="FFFFFF"/>
                          </a:solidFill>
                          <a:latin typeface="Calibri"/>
                        </a:rPr>
                        <a:t>Quality Audit Check</a:t>
                      </a:r>
                    </a:p>
                  </a:txBody>
                  <a:tcPr anchor="ctr" marL="54864" marR="54864" marT="27432" marB="27432">
                    <a:solidFill>
                      <a:srgbClr val="14325C"/>
                    </a:solidFill>
                  </a:tcPr>
                </a:tc>
                <a:tc>
                  <a:txBody>
                    <a:bodyPr/>
                    <a:lstStyle/>
                    <a:p>
                      <a:pPr algn="l"/>
                      <a:r>
                        <a:rPr sz="1100" b="1" i="0">
                          <a:solidFill>
                            <a:srgbClr val="FFFFFF"/>
                          </a:solidFill>
                          <a:latin typeface="Calibri"/>
                        </a:rPr>
                        <a:t>Detection Rule</a:t>
                      </a:r>
                    </a:p>
                  </a:txBody>
                  <a:tcPr anchor="ctr" marL="54864" marR="54864" marT="27432" marB="27432">
                    <a:solidFill>
                      <a:srgbClr val="14325C"/>
                    </a:solidFill>
                  </a:tcPr>
                </a:tc>
                <a:tc>
                  <a:txBody>
                    <a:bodyPr/>
                    <a:lstStyle/>
                    <a:p>
                      <a:pPr algn="ctr"/>
                      <a:r>
                        <a:rPr sz="1100" b="1" i="0">
                          <a:solidFill>
                            <a:srgbClr val="FFFFFF"/>
                          </a:solidFill>
                          <a:latin typeface="Calibri"/>
                        </a:rPr>
                        <a:t>Frames (1,369)</a:t>
                      </a:r>
                    </a:p>
                  </a:txBody>
                  <a:tcPr anchor="ctr" marL="54864" marR="54864" marT="27432" marB="27432">
                    <a:solidFill>
                      <a:srgbClr val="14325C"/>
                    </a:solidFill>
                  </a:tcPr>
                </a:tc>
                <a:tc>
                  <a:txBody>
                    <a:bodyPr/>
                    <a:lstStyle/>
                    <a:p>
                      <a:pPr algn="ctr"/>
                      <a:r>
                        <a:rPr sz="1100" b="1" i="0">
                          <a:solidFill>
                            <a:srgbClr val="FFFFFF"/>
                          </a:solidFill>
                          <a:latin typeface="Calibri"/>
                        </a:rPr>
                        <a:t>MultiWOZ (1,500)</a:t>
                      </a:r>
                    </a:p>
                  </a:txBody>
                  <a:tcPr anchor="ctr" marL="54864" marR="54864" marT="27432" marB="27432">
                    <a:solidFill>
                      <a:srgbClr val="14325C"/>
                    </a:solidFill>
                  </a:tcPr>
                </a:tc>
                <a:tc>
                  <a:txBody>
                    <a:bodyPr/>
                    <a:lstStyle/>
                    <a:p>
                      <a:pPr algn="l"/>
                      <a:r>
                        <a:rPr sz="1100" b="1" i="0">
                          <a:solidFill>
                            <a:srgbClr val="FFFFFF"/>
                          </a:solidFill>
                          <a:latin typeface="Calibri"/>
                        </a:rPr>
                        <a:t>Programmatic Treatment</a:t>
                      </a:r>
                    </a:p>
                  </a:txBody>
                  <a:tcPr anchor="ctr" marL="54864" marR="54864" marT="27432" marB="27432">
                    <a:solidFill>
                      <a:srgbClr val="14325C"/>
                    </a:solidFill>
                  </a:tcPr>
                </a:tc>
              </a:tr>
              <a:tr h="411480">
                <a:tc>
                  <a:txBody>
                    <a:bodyPr/>
                    <a:lstStyle/>
                    <a:p>
                      <a:pPr algn="l"/>
                      <a:r>
                        <a:rPr sz="980" b="0" i="0">
                          <a:solidFill>
                            <a:srgbClr val="1E2430"/>
                          </a:solidFill>
                          <a:latin typeface="Calibri"/>
                        </a:rPr>
                        <a:t>Duplicate IDs / Empty turns</a:t>
                      </a:r>
                    </a:p>
                  </a:txBody>
                  <a:tcPr anchor="ctr" marL="54864" marR="54864" marT="22860" marB="22860">
                    <a:solidFill>
                      <a:srgbClr val="FFFFFF"/>
                    </a:solidFill>
                  </a:tcPr>
                </a:tc>
                <a:tc>
                  <a:txBody>
                    <a:bodyPr/>
                    <a:lstStyle/>
                    <a:p>
                      <a:pPr algn="l"/>
                      <a:r>
                        <a:rPr sz="980" b="0" i="0">
                          <a:solidFill>
                            <a:srgbClr val="1E2430"/>
                          </a:solidFill>
                          <a:latin typeface="Calibri"/>
                        </a:rPr>
                        <a:t>Primary key / strip()</a:t>
                      </a:r>
                    </a:p>
                  </a:txBody>
                  <a:tcPr anchor="ctr" marL="54864" marR="54864" marT="22860" marB="22860">
                    <a:solidFill>
                      <a:srgbClr val="FFFFFF"/>
                    </a:solidFill>
                  </a:tcPr>
                </a:tc>
                <a:tc>
                  <a:txBody>
                    <a:bodyPr/>
                    <a:lstStyle/>
                    <a:p>
                      <a:pPr algn="ctr"/>
                      <a:r>
                        <a:rPr sz="980" b="0" i="0">
                          <a:solidFill>
                            <a:srgbClr val="1E2430"/>
                          </a:solidFill>
                          <a:latin typeface="Calibri"/>
                        </a:rPr>
                        <a:t>0</a:t>
                      </a:r>
                    </a:p>
                  </a:txBody>
                  <a:tcPr anchor="ctr" marL="54864" marR="54864" marT="22860" marB="22860">
                    <a:solidFill>
                      <a:srgbClr val="FFFFFF"/>
                    </a:solidFill>
                  </a:tcPr>
                </a:tc>
                <a:tc>
                  <a:txBody>
                    <a:bodyPr/>
                    <a:lstStyle/>
                    <a:p>
                      <a:pPr algn="ctr"/>
                      <a:r>
                        <a:rPr sz="980" b="0" i="0">
                          <a:solidFill>
                            <a:srgbClr val="1E2430"/>
                          </a:solidFill>
                          <a:latin typeface="Calibri"/>
                        </a:rPr>
                        <a:t>0</a:t>
                      </a:r>
                    </a:p>
                  </a:txBody>
                  <a:tcPr anchor="ctr" marL="54864" marR="54864" marT="22860" marB="22860">
                    <a:solidFill>
                      <a:srgbClr val="FFFFFF"/>
                    </a:solidFill>
                  </a:tcPr>
                </a:tc>
                <a:tc>
                  <a:txBody>
                    <a:bodyPr/>
                    <a:lstStyle/>
                    <a:p>
                      <a:pPr algn="l"/>
                      <a:r>
                        <a:rPr sz="980" b="0" i="0">
                          <a:solidFill>
                            <a:srgbClr val="1E2430"/>
                          </a:solidFill>
                          <a:latin typeface="Calibri"/>
                        </a:rPr>
                        <a:t>Verified 100% unique &amp; non-empty</a:t>
                      </a:r>
                    </a:p>
                  </a:txBody>
                  <a:tcPr anchor="ctr" marL="54864" marR="54864" marT="22860" marB="22860">
                    <a:solidFill>
                      <a:srgbClr val="FFFFFF"/>
                    </a:solidFill>
                  </a:tcPr>
                </a:tc>
              </a:tr>
              <a:tr h="411480">
                <a:tc>
                  <a:txBody>
                    <a:bodyPr/>
                    <a:lstStyle/>
                    <a:p>
                      <a:pPr algn="l"/>
                      <a:r>
                        <a:rPr sz="980" b="0" i="0">
                          <a:solidFill>
                            <a:srgbClr val="1E2430"/>
                          </a:solidFill>
                          <a:latin typeface="Calibri"/>
                        </a:rPr>
                        <a:t>Exact duplicate text</a:t>
                      </a:r>
                    </a:p>
                  </a:txBody>
                  <a:tcPr anchor="ctr" marL="54864" marR="54864" marT="22860" marB="22860">
                    <a:solidFill>
                      <a:srgbClr val="F2F6FC"/>
                    </a:solidFill>
                  </a:tcPr>
                </a:tc>
                <a:tc>
                  <a:txBody>
                    <a:bodyPr/>
                    <a:lstStyle/>
                    <a:p>
                      <a:pPr algn="l"/>
                      <a:r>
                        <a:rPr sz="980" b="0" i="0">
                          <a:solidFill>
                            <a:srgbClr val="1E2430"/>
                          </a:solidFill>
                          <a:latin typeface="Calibri"/>
                        </a:rPr>
                        <a:t>SHA-256 text hash</a:t>
                      </a:r>
                    </a:p>
                  </a:txBody>
                  <a:tcPr anchor="ctr" marL="54864" marR="54864" marT="22860" marB="22860">
                    <a:solidFill>
                      <a:srgbClr val="F2F6FC"/>
                    </a:solidFill>
                  </a:tcPr>
                </a:tc>
                <a:tc>
                  <a:txBody>
                    <a:bodyPr/>
                    <a:lstStyle/>
                    <a:p>
                      <a:pPr algn="ctr"/>
                      <a:r>
                        <a:rPr sz="980" b="0" i="0">
                          <a:solidFill>
                            <a:srgbClr val="1E2430"/>
                          </a:solidFill>
                          <a:latin typeface="Calibri"/>
                        </a:rPr>
                        <a:t>1</a:t>
                      </a:r>
                    </a:p>
                  </a:txBody>
                  <a:tcPr anchor="ctr" marL="54864" marR="54864" marT="22860" marB="22860">
                    <a:solidFill>
                      <a:srgbClr val="F2F6FC"/>
                    </a:solidFill>
                  </a:tcPr>
                </a:tc>
                <a:tc>
                  <a:txBody>
                    <a:bodyPr/>
                    <a:lstStyle/>
                    <a:p>
                      <a:pPr algn="ctr"/>
                      <a:r>
                        <a:rPr sz="980" b="0" i="0">
                          <a:solidFill>
                            <a:srgbClr val="1E2430"/>
                          </a:solidFill>
                          <a:latin typeface="Calibri"/>
                        </a:rPr>
                        <a:t>0</a:t>
                      </a:r>
                    </a:p>
                  </a:txBody>
                  <a:tcPr anchor="ctr" marL="54864" marR="54864" marT="22860" marB="22860">
                    <a:solidFill>
                      <a:srgbClr val="F2F6FC"/>
                    </a:solidFill>
                  </a:tcPr>
                </a:tc>
                <a:tc>
                  <a:txBody>
                    <a:bodyPr/>
                    <a:lstStyle/>
                    <a:p>
                      <a:pPr algn="l"/>
                      <a:r>
                        <a:rPr sz="980" b="0" i="0">
                          <a:solidFill>
                            <a:srgbClr val="1E2430"/>
                          </a:solidFill>
                          <a:latin typeface="Calibri"/>
                        </a:rPr>
                        <a:t>Removed duplicate (`bf46892e...`)</a:t>
                      </a:r>
                    </a:p>
                  </a:txBody>
                  <a:tcPr anchor="ctr" marL="54864" marR="54864" marT="22860" marB="22860">
                    <a:solidFill>
                      <a:srgbClr val="F2F6FC"/>
                    </a:solidFill>
                  </a:tcPr>
                </a:tc>
              </a:tr>
              <a:tr h="411480">
                <a:tc>
                  <a:txBody>
                    <a:bodyPr/>
                    <a:lstStyle/>
                    <a:p>
                      <a:pPr algn="l"/>
                      <a:r>
                        <a:rPr sz="980" b="0" i="0">
                          <a:solidFill>
                            <a:srgbClr val="1E2430"/>
                          </a:solidFill>
                          <a:latin typeface="Calibri"/>
                        </a:rPr>
                        <a:t>Aborted short dialogues</a:t>
                      </a:r>
                    </a:p>
                  </a:txBody>
                  <a:tcPr anchor="ctr" marL="54864" marR="54864" marT="22860" marB="22860">
                    <a:solidFill>
                      <a:srgbClr val="FFFFFF"/>
                    </a:solidFill>
                  </a:tcPr>
                </a:tc>
                <a:tc>
                  <a:txBody>
                    <a:bodyPr/>
                    <a:lstStyle/>
                    <a:p>
                      <a:pPr algn="l"/>
                      <a:r>
                        <a:rPr sz="980" b="0" i="0">
                          <a:solidFill>
                            <a:srgbClr val="1E2430"/>
                          </a:solidFill>
                          <a:latin typeface="Calibri"/>
                        </a:rPr>
                        <a:t>total_turns &lt; 3</a:t>
                      </a:r>
                    </a:p>
                  </a:txBody>
                  <a:tcPr anchor="ctr" marL="54864" marR="54864" marT="22860" marB="22860">
                    <a:solidFill>
                      <a:srgbClr val="FFFFFF"/>
                    </a:solidFill>
                  </a:tcPr>
                </a:tc>
                <a:tc>
                  <a:txBody>
                    <a:bodyPr/>
                    <a:lstStyle/>
                    <a:p>
                      <a:pPr algn="ctr"/>
                      <a:r>
                        <a:rPr sz="980" b="0" i="0">
                          <a:solidFill>
                            <a:srgbClr val="1E2430"/>
                          </a:solidFill>
                          <a:latin typeface="Calibri"/>
                        </a:rPr>
                        <a:t>34</a:t>
                      </a:r>
                    </a:p>
                  </a:txBody>
                  <a:tcPr anchor="ctr" marL="54864" marR="54864" marT="22860" marB="22860">
                    <a:solidFill>
                      <a:srgbClr val="FFFFFF"/>
                    </a:solidFill>
                  </a:tcPr>
                </a:tc>
                <a:tc>
                  <a:txBody>
                    <a:bodyPr/>
                    <a:lstStyle/>
                    <a:p>
                      <a:pPr algn="ctr"/>
                      <a:r>
                        <a:rPr sz="980" b="0" i="0">
                          <a:solidFill>
                            <a:srgbClr val="1E2430"/>
                          </a:solidFill>
                          <a:latin typeface="Calibri"/>
                        </a:rPr>
                        <a:t>1</a:t>
                      </a:r>
                    </a:p>
                  </a:txBody>
                  <a:tcPr anchor="ctr" marL="54864" marR="54864" marT="22860" marB="22860">
                    <a:solidFill>
                      <a:srgbClr val="FFFFFF"/>
                    </a:solidFill>
                  </a:tcPr>
                </a:tc>
                <a:tc>
                  <a:txBody>
                    <a:bodyPr/>
                    <a:lstStyle/>
                    <a:p>
                      <a:pPr algn="l"/>
                      <a:r>
                        <a:rPr sz="980" b="0" i="0">
                          <a:solidFill>
                            <a:srgbClr val="1E2430"/>
                          </a:solidFill>
                          <a:latin typeface="Calibri"/>
                        </a:rPr>
                        <a:t>Excluded (need ≥ 3 turns for prefix routing)</a:t>
                      </a:r>
                    </a:p>
                  </a:txBody>
                  <a:tcPr anchor="ctr" marL="54864" marR="54864" marT="22860" marB="22860">
                    <a:solidFill>
                      <a:srgbClr val="FFFFFF"/>
                    </a:solidFill>
                  </a:tcPr>
                </a:tc>
              </a:tr>
              <a:tr h="411480">
                <a:tc>
                  <a:txBody>
                    <a:bodyPr/>
                    <a:lstStyle/>
                    <a:p>
                      <a:pPr algn="l"/>
                      <a:r>
                        <a:rPr sz="980" b="0" i="0">
                          <a:solidFill>
                            <a:srgbClr val="1E2430"/>
                          </a:solidFill>
                          <a:latin typeface="Calibri"/>
                        </a:rPr>
                        <a:t>Long-tail turn outliers</a:t>
                      </a:r>
                    </a:p>
                  </a:txBody>
                  <a:tcPr anchor="ctr" marL="54864" marR="54864" marT="22860" marB="22860">
                    <a:solidFill>
                      <a:srgbClr val="F2F6FC"/>
                    </a:solidFill>
                  </a:tcPr>
                </a:tc>
                <a:tc>
                  <a:txBody>
                    <a:bodyPr/>
                    <a:lstStyle/>
                    <a:p>
                      <a:pPr algn="l"/>
                      <a:r>
                        <a:rPr sz="980" b="0" i="0">
                          <a:solidFill>
                            <a:srgbClr val="1E2430"/>
                          </a:solidFill>
                          <a:latin typeface="Calibri"/>
                        </a:rPr>
                        <a:t>&gt; Q3 + 1.5 × IQR</a:t>
                      </a:r>
                    </a:p>
                  </a:txBody>
                  <a:tcPr anchor="ctr" marL="54864" marR="54864" marT="22860" marB="22860">
                    <a:solidFill>
                      <a:srgbClr val="F2F6FC"/>
                    </a:solidFill>
                  </a:tcPr>
                </a:tc>
                <a:tc>
                  <a:txBody>
                    <a:bodyPr/>
                    <a:lstStyle/>
                    <a:p>
                      <a:pPr algn="ctr"/>
                      <a:r>
                        <a:rPr sz="980" b="0" i="0">
                          <a:solidFill>
                            <a:srgbClr val="1E2430"/>
                          </a:solidFill>
                          <a:latin typeface="Calibri"/>
                        </a:rPr>
                        <a:t>20 (&gt;30.5t)</a:t>
                      </a:r>
                    </a:p>
                  </a:txBody>
                  <a:tcPr anchor="ctr" marL="54864" marR="54864" marT="22860" marB="22860">
                    <a:solidFill>
                      <a:srgbClr val="F2F6FC"/>
                    </a:solidFill>
                  </a:tcPr>
                </a:tc>
                <a:tc>
                  <a:txBody>
                    <a:bodyPr/>
                    <a:lstStyle/>
                    <a:p>
                      <a:pPr algn="ctr"/>
                      <a:r>
                        <a:rPr sz="980" b="0" i="0">
                          <a:solidFill>
                            <a:srgbClr val="1E2430"/>
                          </a:solidFill>
                          <a:latin typeface="Calibri"/>
                        </a:rPr>
                        <a:t>21 (&gt;24.0t)</a:t>
                      </a:r>
                    </a:p>
                  </a:txBody>
                  <a:tcPr anchor="ctr" marL="54864" marR="54864" marT="22860" marB="22860">
                    <a:solidFill>
                      <a:srgbClr val="F2F6FC"/>
                    </a:solidFill>
                  </a:tcPr>
                </a:tc>
                <a:tc>
                  <a:txBody>
                    <a:bodyPr/>
                    <a:lstStyle/>
                    <a:p>
                      <a:pPr algn="l"/>
                      <a:r>
                        <a:rPr sz="980" b="0" i="0">
                          <a:solidFill>
                            <a:srgbClr val="1E2430"/>
                          </a:solidFill>
                          <a:latin typeface="Calibri"/>
                        </a:rPr>
                        <a:t>Retained (real negotiations); log-transformed in RQ4</a:t>
                      </a:r>
                    </a:p>
                  </a:txBody>
                  <a:tcPr anchor="ctr" marL="54864" marR="54864" marT="22860" marB="22860">
                    <a:solidFill>
                      <a:srgbClr val="F2F6FC"/>
                    </a:solidFill>
                  </a:tcPr>
                </a:tc>
              </a:tr>
              <a:tr h="411480">
                <a:tc>
                  <a:txBody>
                    <a:bodyPr/>
                    <a:lstStyle/>
                    <a:p>
                      <a:pPr algn="l"/>
                      <a:r>
                        <a:rPr sz="980" b="0" i="0">
                          <a:solidFill>
                            <a:srgbClr val="1E2430"/>
                          </a:solidFill>
                          <a:latin typeface="Calibri"/>
                        </a:rPr>
                        <a:t>Unobserved slot values</a:t>
                      </a:r>
                    </a:p>
                  </a:txBody>
                  <a:tcPr anchor="ctr" marL="54864" marR="54864" marT="22860" marB="22860">
                    <a:solidFill>
                      <a:srgbClr val="FFFFFF"/>
                    </a:solidFill>
                  </a:tcPr>
                </a:tc>
                <a:tc>
                  <a:txBody>
                    <a:bodyPr/>
                    <a:lstStyle/>
                    <a:p>
                      <a:pPr algn="l"/>
                      <a:r>
                        <a:rPr sz="980" b="0" i="0">
                          <a:solidFill>
                            <a:srgbClr val="1E2430"/>
                          </a:solidFill>
                          <a:latin typeface="Calibri"/>
                        </a:rPr>
                        <a:t>Slot never stated</a:t>
                      </a:r>
                    </a:p>
                  </a:txBody>
                  <a:tcPr anchor="ctr" marL="54864" marR="54864" marT="22860" marB="22860">
                    <a:solidFill>
                      <a:srgbClr val="FFFFFF"/>
                    </a:solidFill>
                  </a:tcPr>
                </a:tc>
                <a:tc>
                  <a:txBody>
                    <a:bodyPr/>
                    <a:lstStyle/>
                    <a:p>
                      <a:pPr algn="ctr"/>
                      <a:r>
                        <a:rPr sz="980" b="0" i="0">
                          <a:solidFill>
                            <a:srgbClr val="1E2430"/>
                          </a:solidFill>
                          <a:latin typeface="Calibri"/>
                        </a:rPr>
                        <a:t>See Table E1</a:t>
                      </a:r>
                    </a:p>
                  </a:txBody>
                  <a:tcPr anchor="ctr" marL="54864" marR="54864" marT="22860" marB="22860">
                    <a:solidFill>
                      <a:srgbClr val="FFFFFF"/>
                    </a:solidFill>
                  </a:tcPr>
                </a:tc>
                <a:tc>
                  <a:txBody>
                    <a:bodyPr/>
                    <a:lstStyle/>
                    <a:p>
                      <a:pPr algn="ctr"/>
                      <a:r>
                        <a:rPr sz="980" b="0" i="0">
                          <a:solidFill>
                            <a:srgbClr val="1E2430"/>
                          </a:solidFill>
                          <a:latin typeface="Calibri"/>
                        </a:rPr>
                        <a:t>See Table E1</a:t>
                      </a:r>
                    </a:p>
                  </a:txBody>
                  <a:tcPr anchor="ctr" marL="54864" marR="54864" marT="22860" marB="22860">
                    <a:solidFill>
                      <a:srgbClr val="FFFFFF"/>
                    </a:solidFill>
                  </a:tcPr>
                </a:tc>
                <a:tc>
                  <a:txBody>
                    <a:bodyPr/>
                    <a:lstStyle/>
                    <a:p>
                      <a:pPr algn="l"/>
                      <a:r>
                        <a:rPr sz="980" b="0" i="0">
                          <a:solidFill>
                            <a:srgbClr val="1E2430"/>
                          </a:solidFill>
                          <a:latin typeface="Calibri"/>
                        </a:rPr>
                        <a:t>Preserved as null (`None`); never imputed</a:t>
                      </a:r>
                    </a:p>
                  </a:txBody>
                  <a:tcPr anchor="ctr" marL="54864" marR="54864" marT="22860" marB="22860">
                    <a:solidFill>
                      <a:srgbClr val="FFFFFF"/>
                    </a:solidFill>
                  </a:tcPr>
                </a:tc>
              </a:tr>
              <a:tr h="411480">
                <a:tc>
                  <a:txBody>
                    <a:bodyPr/>
                    <a:lstStyle/>
                    <a:p>
                      <a:pPr algn="l"/>
                      <a:r>
                        <a:rPr sz="980" b="0" i="0">
                          <a:solidFill>
                            <a:srgbClr val="1E2430"/>
                          </a:solidFill>
                          <a:latin typeface="Calibri"/>
                        </a:rPr>
                        <a:t>Entity leakage risk</a:t>
                      </a:r>
                    </a:p>
                  </a:txBody>
                  <a:tcPr anchor="ctr" marL="54864" marR="54864" marT="22860" marB="22860">
                    <a:solidFill>
                      <a:srgbClr val="F2F6FC"/>
                    </a:solidFill>
                  </a:tcPr>
                </a:tc>
                <a:tc>
                  <a:txBody>
                    <a:bodyPr/>
                    <a:lstStyle/>
                    <a:p>
                      <a:pPr algn="l"/>
                      <a:r>
                        <a:rPr sz="980" b="0" i="0">
                          <a:solidFill>
                            <a:srgbClr val="1E2430"/>
                          </a:solidFill>
                          <a:latin typeface="Calibri"/>
                        </a:rPr>
                        <a:t>Regex slot/number match</a:t>
                      </a:r>
                    </a:p>
                  </a:txBody>
                  <a:tcPr anchor="ctr" marL="54864" marR="54864" marT="22860" marB="22860">
                    <a:solidFill>
                      <a:srgbClr val="F2F6FC"/>
                    </a:solidFill>
                  </a:tcPr>
                </a:tc>
                <a:tc>
                  <a:txBody>
                    <a:bodyPr/>
                    <a:lstStyle/>
                    <a:p>
                      <a:pPr algn="ctr"/>
                      <a:r>
                        <a:rPr sz="980" b="0" i="0">
                          <a:solidFill>
                            <a:srgbClr val="1E2430"/>
                          </a:solidFill>
                          <a:latin typeface="Calibri"/>
                        </a:rPr>
                        <a:t>All exemplars</a:t>
                      </a:r>
                    </a:p>
                  </a:txBody>
                  <a:tcPr anchor="ctr" marL="54864" marR="54864" marT="22860" marB="22860">
                    <a:solidFill>
                      <a:srgbClr val="F2F6FC"/>
                    </a:solidFill>
                  </a:tcPr>
                </a:tc>
                <a:tc>
                  <a:txBody>
                    <a:bodyPr/>
                    <a:lstStyle/>
                    <a:p>
                      <a:pPr algn="ctr"/>
                      <a:r>
                        <a:rPr sz="980" b="0" i="0">
                          <a:solidFill>
                            <a:srgbClr val="1E2430"/>
                          </a:solidFill>
                          <a:latin typeface="Calibri"/>
                        </a:rPr>
                        <a:t>All exemplars</a:t>
                      </a:r>
                    </a:p>
                  </a:txBody>
                  <a:tcPr anchor="ctr" marL="54864" marR="54864" marT="22860" marB="22860">
                    <a:solidFill>
                      <a:srgbClr val="F2F6FC"/>
                    </a:solidFill>
                  </a:tcPr>
                </a:tc>
                <a:tc>
                  <a:txBody>
                    <a:bodyPr/>
                    <a:lstStyle/>
                    <a:p>
                      <a:pPr algn="l"/>
                      <a:r>
                        <a:rPr sz="980" b="0" i="0">
                          <a:solidFill>
                            <a:srgbClr val="1E2430"/>
                          </a:solidFill>
                          <a:latin typeface="Calibri"/>
                        </a:rPr>
                        <a:t>Masked with `[SLOT]` tokens in FAISS index</a:t>
                      </a:r>
                    </a:p>
                  </a:txBody>
                  <a:tcPr anchor="ctr" marL="54864" marR="54864" marT="22860" marB="22860">
                    <a:solidFill>
                      <a:srgbClr val="F2F6FC"/>
                    </a:solidFill>
                  </a:tcPr>
                </a:tc>
              </a:tr>
              <a:tr h="411480">
                <a:tc>
                  <a:txBody>
                    <a:bodyPr/>
                    <a:lstStyle/>
                    <a:p>
                      <a:pPr algn="l"/>
                      <a:r>
                        <a:rPr sz="980" b="1" i="0">
                          <a:solidFill>
                            <a:srgbClr val="1E2430"/>
                          </a:solidFill>
                          <a:latin typeface="Calibri"/>
                        </a:rPr>
                        <a:t>Final Analytic Sample</a:t>
                      </a:r>
                    </a:p>
                  </a:txBody>
                  <a:tcPr anchor="ctr" marL="54864" marR="54864" marT="22860" marB="22860">
                    <a:solidFill>
                      <a:srgbClr val="E1F3E8"/>
                    </a:solidFill>
                  </a:tcPr>
                </a:tc>
                <a:tc>
                  <a:txBody>
                    <a:bodyPr/>
                    <a:lstStyle/>
                    <a:p>
                      <a:pPr algn="l"/>
                      <a:r>
                        <a:rPr sz="980" b="1" i="0">
                          <a:solidFill>
                            <a:srgbClr val="1E2430"/>
                          </a:solidFill>
                          <a:latin typeface="Calibri"/>
                        </a:rPr>
                        <a:t>Locked post-cleaning</a:t>
                      </a:r>
                    </a:p>
                  </a:txBody>
                  <a:tcPr anchor="ctr" marL="54864" marR="54864" marT="22860" marB="22860">
                    <a:solidFill>
                      <a:srgbClr val="E1F3E8"/>
                    </a:solidFill>
                  </a:tcPr>
                </a:tc>
                <a:tc>
                  <a:txBody>
                    <a:bodyPr/>
                    <a:lstStyle/>
                    <a:p>
                      <a:pPr algn="ctr"/>
                      <a:r>
                        <a:rPr sz="980" b="1" i="0">
                          <a:solidFill>
                            <a:srgbClr val="1E2430"/>
                          </a:solidFill>
                          <a:latin typeface="Calibri"/>
                        </a:rPr>
                        <a:t>1,334</a:t>
                      </a:r>
                    </a:p>
                  </a:txBody>
                  <a:tcPr anchor="ctr" marL="54864" marR="54864" marT="22860" marB="22860">
                    <a:solidFill>
                      <a:srgbClr val="E1F3E8"/>
                    </a:solidFill>
                  </a:tcPr>
                </a:tc>
                <a:tc>
                  <a:txBody>
                    <a:bodyPr/>
                    <a:lstStyle/>
                    <a:p>
                      <a:pPr algn="ctr"/>
                      <a:r>
                        <a:rPr sz="980" b="1" i="0">
                          <a:solidFill>
                            <a:srgbClr val="1E2430"/>
                          </a:solidFill>
                          <a:latin typeface="Calibri"/>
                        </a:rPr>
                        <a:t>1,499</a:t>
                      </a:r>
                    </a:p>
                  </a:txBody>
                  <a:tcPr anchor="ctr" marL="54864" marR="54864" marT="22860" marB="22860">
                    <a:solidFill>
                      <a:srgbClr val="E1F3E8"/>
                    </a:solidFill>
                  </a:tcPr>
                </a:tc>
                <a:tc>
                  <a:txBody>
                    <a:bodyPr/>
                    <a:lstStyle/>
                    <a:p>
                      <a:pPr algn="l"/>
                      <a:r>
                        <a:rPr sz="980" b="1" i="0">
                          <a:solidFill>
                            <a:srgbClr val="1E2430"/>
                          </a:solidFill>
                          <a:latin typeface="Calibri"/>
                        </a:rPr>
                        <a:t>Total N = 2,833 analytic dialogues</a:t>
                      </a:r>
                    </a:p>
                  </a:txBody>
                  <a:tcPr anchor="ctr" marL="54864" marR="54864" marT="22860" marB="22860">
                    <a:solidFill>
                      <a:srgbClr val="E1F3E8"/>
                    </a:solidFill>
                  </a:tcPr>
                </a:tc>
              </a:tr>
            </a:tbl>
          </a:graphicData>
        </a:graphic>
      </p:graphicFrame>
      <p:sp>
        <p:nvSpPr>
          <p:cNvPr id="15" name="Rounded Rectangle 14"/>
          <p:cNvSpPr/>
          <p:nvPr/>
        </p:nvSpPr>
        <p:spPr>
          <a:xfrm>
            <a:off x="320040" y="4828032"/>
            <a:ext cx="11548872" cy="1645920"/>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How We Guarantee Zero Data Leakage Between Discovery and Evaluation (Stratified 70/30 Split, Seed = 42):</a:t>
            </a:r>
            <a:r>
              <a:rPr sz="1100" b="0" i="0">
                <a:solidFill>
                  <a:srgbClr val="1E2430"/>
                </a:solidFill>
                <a:latin typeface="Calibri"/>
              </a:rPr>
              <a:t>
• The </a:t>
            </a:r>
            <a:r>
              <a:rPr sz="1100" b="1" i="0">
                <a:solidFill>
                  <a:srgbClr val="1E2430"/>
                </a:solidFill>
                <a:latin typeface="Calibri"/>
              </a:rPr>
              <a:t>1,334 analytic Frames dialogues</a:t>
            </a:r>
            <a:r>
              <a:rPr sz="1100" b="0" i="0">
                <a:solidFill>
                  <a:srgbClr val="1E2430"/>
                </a:solidFill>
                <a:latin typeface="Calibri"/>
              </a:rPr>
              <a:t> were partitioned once into a </a:t>
            </a:r>
            <a:r>
              <a:rPr sz="1100" b="1" i="0">
                <a:solidFill>
                  <a:srgbClr val="1E2430"/>
                </a:solidFill>
                <a:latin typeface="Calibri"/>
              </a:rPr>
              <a:t>70% Golden Discovery Set (D_gold, n = 933)</a:t>
            </a:r>
            <a:r>
              <a:rPr sz="1100" b="0" i="0">
                <a:solidFill>
                  <a:srgbClr val="1E2430"/>
                </a:solidFill>
                <a:latin typeface="Calibri"/>
              </a:rPr>
              <a:t> and a </a:t>
            </a:r>
            <a:r>
              <a:rPr sz="1100" b="1" i="0">
                <a:solidFill>
                  <a:srgbClr val="1E2430"/>
                </a:solidFill>
                <a:latin typeface="Calibri"/>
              </a:rPr>
              <a:t>30% Held-Out Test Set (D_test, n = 401)</a:t>
            </a:r>
            <a:r>
              <a:rPr sz="1100" b="0" i="0">
                <a:solidFill>
                  <a:srgbClr val="1E2430"/>
                </a:solidFill>
                <a:latin typeface="Calibri"/>
              </a:rPr>
              <a:t>, stratified on wizard task success (74.3% vs. 74.1%).
• </a:t>
            </a:r>
            <a:r>
              <a:rPr sz="1100" b="1" i="0">
                <a:solidFill>
                  <a:srgbClr val="1E2430"/>
                </a:solidFill>
                <a:latin typeface="Calibri"/>
              </a:rPr>
              <a:t>Strict Firewall:</a:t>
            </a:r>
            <a:r>
              <a:rPr sz="1100" b="0" i="0">
                <a:solidFill>
                  <a:srgbClr val="1E2430"/>
                </a:solidFill>
                <a:latin typeface="Calibri"/>
              </a:rPr>
              <a:t> Every clustering model, PCA projection matrix, L1 logistic prefix router, and FAISS exemplar index is fitted </a:t>
            </a:r>
            <a:r>
              <a:rPr sz="1100" b="1" i="0">
                <a:solidFill>
                  <a:srgbClr val="1E2430"/>
                </a:solidFill>
                <a:latin typeface="Calibri"/>
              </a:rPr>
              <a:t>exclusively on D_gold (n = 933)</a:t>
            </a:r>
            <a:r>
              <a:rPr sz="1100" b="0" i="0">
                <a:solidFill>
                  <a:srgbClr val="1E2430"/>
                </a:solidFill>
                <a:latin typeface="Calibri"/>
              </a:rPr>
              <a:t>. All out-of-sample routing (RQ1), repeated-measures prompting (RQ2, N = 33), 2 × 2 factorial compliance testing (RQ3, N = 144), and 2 × 3 multi-turn simulations (RQ4, N = 180) are evaluated </a:t>
            </a:r>
            <a:r>
              <a:rPr sz="1100" b="1" i="0">
                <a:solidFill>
                  <a:srgbClr val="1E2430"/>
                </a:solidFill>
                <a:latin typeface="Calibri"/>
              </a:rPr>
              <a:t>strictly on D_test (n = 401)</a:t>
            </a:r>
            <a:r>
              <a:rPr sz="1100" b="0" i="0">
                <a:solidFill>
                  <a:srgbClr val="1E2430"/>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3: DATA AUTHENTICITY, SCHEMA &amp; EDA</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12</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Univariate and Bivariate Exploratory Data Analysis (Tables 6–7 &amp; Figures 1–2)</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Dialogue length is driven by slot revisions (r = .602) and package offers (r = .636), validating our negotiation constructs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372726" y="1335024"/>
            <a:ext cx="5015266" cy="2148839"/>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eda_turns.png"/>
          <p:cNvPicPr>
            <a:picLocks noChangeAspect="1"/>
          </p:cNvPicPr>
          <p:nvPr/>
        </p:nvPicPr>
        <p:blipFill>
          <a:blip r:embed="rId3"/>
          <a:stretch>
            <a:fillRect/>
          </a:stretch>
        </p:blipFill>
        <p:spPr>
          <a:xfrm>
            <a:off x="409302" y="1371600"/>
            <a:ext cx="4942114" cy="2075687"/>
          </a:xfrm>
          <a:prstGeom prst="rect">
            <a:avLst/>
          </a:prstGeom>
        </p:spPr>
      </p:pic>
      <p:sp>
        <p:nvSpPr>
          <p:cNvPr id="13" name="TextBox 12"/>
          <p:cNvSpPr txBox="1"/>
          <p:nvPr/>
        </p:nvSpPr>
        <p:spPr>
          <a:xfrm>
            <a:off x="320040" y="3447287"/>
            <a:ext cx="5120640" cy="256032"/>
          </a:xfrm>
          <a:prstGeom prst="rect">
            <a:avLst/>
          </a:prstGeom>
          <a:noFill/>
        </p:spPr>
        <p:txBody>
          <a:bodyPr wrap="square">
            <a:spAutoFit/>
          </a:bodyPr>
          <a:lstStyle/>
          <a:p>
            <a:pPr algn="ctr"/>
            <a:r>
              <a:rPr sz="950" b="0" i="1">
                <a:solidFill>
                  <a:srgbClr val="5A6577"/>
                </a:solidFill>
                <a:latin typeface="Calibri"/>
              </a:rPr>
              <a:t>Figure 1: Univariate Turn Distributions (Frames M=14.90, SD=6.74 vs. MultiWOZ M=13.52, SD=4.46)</a:t>
            </a:r>
          </a:p>
        </p:txBody>
      </p:sp>
      <p:sp>
        <p:nvSpPr>
          <p:cNvPr id="14" name="Rectangle 13"/>
          <p:cNvSpPr/>
          <p:nvPr/>
        </p:nvSpPr>
        <p:spPr>
          <a:xfrm>
            <a:off x="283464" y="3995928"/>
            <a:ext cx="5193792" cy="2039112"/>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_eda_bivariate.png"/>
          <p:cNvPicPr>
            <a:picLocks noChangeAspect="1"/>
          </p:cNvPicPr>
          <p:nvPr/>
        </p:nvPicPr>
        <p:blipFill>
          <a:blip r:embed="rId4"/>
          <a:stretch>
            <a:fillRect/>
          </a:stretch>
        </p:blipFill>
        <p:spPr>
          <a:xfrm>
            <a:off x="320040" y="4032504"/>
            <a:ext cx="5120640" cy="1965960"/>
          </a:xfrm>
          <a:prstGeom prst="rect">
            <a:avLst/>
          </a:prstGeom>
        </p:spPr>
      </p:pic>
      <p:sp>
        <p:nvSpPr>
          <p:cNvPr id="16" name="TextBox 15"/>
          <p:cNvSpPr txBox="1"/>
          <p:nvPr/>
        </p:nvSpPr>
        <p:spPr>
          <a:xfrm>
            <a:off x="320040" y="6236208"/>
            <a:ext cx="5120640" cy="256032"/>
          </a:xfrm>
          <a:prstGeom prst="rect">
            <a:avLst/>
          </a:prstGeom>
          <a:noFill/>
        </p:spPr>
        <p:txBody>
          <a:bodyPr wrap="square">
            <a:spAutoFit/>
          </a:bodyPr>
          <a:lstStyle/>
          <a:p>
            <a:pPr algn="ctr"/>
            <a:r>
              <a:rPr sz="950" b="0" i="1">
                <a:solidFill>
                  <a:srgbClr val="5A6577"/>
                </a:solidFill>
                <a:latin typeface="Calibri"/>
              </a:rPr>
              <a:t>Figure 2: Bivariate Turns vs. Slot Revisions &amp; Archetype Negotiation Intensity</a:t>
            </a:r>
          </a:p>
        </p:txBody>
      </p:sp>
      <p:graphicFrame>
        <p:nvGraphicFramePr>
          <p:cNvPr id="17" name="Table 16"/>
          <p:cNvGraphicFramePr>
            <a:graphicFrameLocks noGrp="1"/>
          </p:cNvGraphicFramePr>
          <p:nvPr/>
        </p:nvGraphicFramePr>
        <p:xfrm>
          <a:off x="5623560" y="1371600"/>
          <a:ext cx="6245351" cy="2834640"/>
        </p:xfrm>
        <a:graphic>
          <a:graphicData uri="http://schemas.openxmlformats.org/drawingml/2006/table">
            <a:tbl>
              <a:tblPr firstRow="1" bandRow="1">
                <a:tableStyleId>{5C22544A-7EE6-4342-B048-85BDC9FD1C3A}</a:tableStyleId>
              </a:tblPr>
              <a:tblGrid>
                <a:gridCol w="2112398"/>
                <a:gridCol w="918434"/>
                <a:gridCol w="918434"/>
                <a:gridCol w="2296085"/>
              </a:tblGrid>
              <a:tr h="404948">
                <a:tc>
                  <a:txBody>
                    <a:bodyPr/>
                    <a:lstStyle/>
                    <a:p>
                      <a:pPr algn="l"/>
                      <a:r>
                        <a:rPr sz="1100" b="1" i="0">
                          <a:solidFill>
                            <a:srgbClr val="FFFFFF"/>
                          </a:solidFill>
                          <a:latin typeface="Calibri"/>
                        </a:rPr>
                        <a:t>Bivariate Variable Pair (Frames N = 1,334)</a:t>
                      </a:r>
                    </a:p>
                  </a:txBody>
                  <a:tcPr anchor="ctr" marL="54864" marR="54864" marT="27432" marB="27432">
                    <a:solidFill>
                      <a:srgbClr val="14325C"/>
                    </a:solidFill>
                  </a:tcPr>
                </a:tc>
                <a:tc>
                  <a:txBody>
                    <a:bodyPr/>
                    <a:lstStyle/>
                    <a:p>
                      <a:pPr algn="ctr"/>
                      <a:r>
                        <a:rPr sz="1100" b="1" i="0">
                          <a:solidFill>
                            <a:srgbClr val="FFFFFF"/>
                          </a:solidFill>
                          <a:latin typeface="Calibri"/>
                        </a:rPr>
                        <a:t>Pearson r (p)</a:t>
                      </a:r>
                    </a:p>
                  </a:txBody>
                  <a:tcPr anchor="ctr" marL="54864" marR="54864" marT="27432" marB="27432">
                    <a:solidFill>
                      <a:srgbClr val="14325C"/>
                    </a:solidFill>
                  </a:tcPr>
                </a:tc>
                <a:tc>
                  <a:txBody>
                    <a:bodyPr/>
                    <a:lstStyle/>
                    <a:p>
                      <a:pPr algn="ctr"/>
                      <a:r>
                        <a:rPr sz="1100" b="1" i="0">
                          <a:solidFill>
                            <a:srgbClr val="FFFFFF"/>
                          </a:solidFill>
                          <a:latin typeface="Calibri"/>
                        </a:rPr>
                        <a:t>Spearman ρ (p)</a:t>
                      </a:r>
                    </a:p>
                  </a:txBody>
                  <a:tcPr anchor="ctr" marL="54864" marR="54864" marT="27432" marB="27432">
                    <a:solidFill>
                      <a:srgbClr val="14325C"/>
                    </a:solidFill>
                  </a:tcPr>
                </a:tc>
                <a:tc>
                  <a:txBody>
                    <a:bodyPr/>
                    <a:lstStyle/>
                    <a:p>
                      <a:pPr algn="l"/>
                      <a:r>
                        <a:rPr sz="1100" b="1" i="0">
                          <a:solidFill>
                            <a:srgbClr val="FFFFFF"/>
                          </a:solidFill>
                          <a:latin typeface="Calibri"/>
                        </a:rPr>
                        <a:t>Analytical Interpretation</a:t>
                      </a:r>
                    </a:p>
                  </a:txBody>
                  <a:tcPr anchor="ctr" marL="54864" marR="54864" marT="27432" marB="27432">
                    <a:solidFill>
                      <a:srgbClr val="14325C"/>
                    </a:solidFill>
                  </a:tcPr>
                </a:tc>
              </a:tr>
              <a:tr h="404948">
                <a:tc>
                  <a:txBody>
                    <a:bodyPr/>
                    <a:lstStyle/>
                    <a:p>
                      <a:pPr algn="l"/>
                      <a:r>
                        <a:rPr sz="950" b="1" i="0">
                          <a:solidFill>
                            <a:srgbClr val="1E2430"/>
                          </a:solidFill>
                          <a:latin typeface="Calibri"/>
                        </a:rPr>
                        <a:t>Dialogue Turns × Slot Revisions</a:t>
                      </a:r>
                    </a:p>
                  </a:txBody>
                  <a:tcPr anchor="ctr" marL="54864" marR="54864" marT="22860" marB="22860">
                    <a:solidFill>
                      <a:srgbClr val="E1F3E8"/>
                    </a:solidFill>
                  </a:tcPr>
                </a:tc>
                <a:tc>
                  <a:txBody>
                    <a:bodyPr/>
                    <a:lstStyle/>
                    <a:p>
                      <a:pPr algn="ctr"/>
                      <a:r>
                        <a:rPr sz="950" b="1" i="0">
                          <a:solidFill>
                            <a:srgbClr val="1E2430"/>
                          </a:solidFill>
                          <a:latin typeface="Calibri"/>
                        </a:rPr>
                        <a:t>.602 (&lt; .001)</a:t>
                      </a:r>
                    </a:p>
                  </a:txBody>
                  <a:tcPr anchor="ctr" marL="54864" marR="54864" marT="22860" marB="22860">
                    <a:solidFill>
                      <a:srgbClr val="E1F3E8"/>
                    </a:solidFill>
                  </a:tcPr>
                </a:tc>
                <a:tc>
                  <a:txBody>
                    <a:bodyPr/>
                    <a:lstStyle/>
                    <a:p>
                      <a:pPr algn="ctr"/>
                      <a:r>
                        <a:rPr sz="950" b="1" i="0">
                          <a:solidFill>
                            <a:srgbClr val="1E2430"/>
                          </a:solidFill>
                          <a:latin typeface="Calibri"/>
                        </a:rPr>
                        <a:t>.582 (&lt; .001)</a:t>
                      </a:r>
                    </a:p>
                  </a:txBody>
                  <a:tcPr anchor="ctr" marL="54864" marR="54864" marT="22860" marB="22860">
                    <a:solidFill>
                      <a:srgbClr val="E1F3E8"/>
                    </a:solidFill>
                  </a:tcPr>
                </a:tc>
                <a:tc>
                  <a:txBody>
                    <a:bodyPr/>
                    <a:lstStyle/>
                    <a:p>
                      <a:pPr algn="l"/>
                      <a:r>
                        <a:rPr sz="950" b="1" i="0">
                          <a:solidFill>
                            <a:srgbClr val="1E2430"/>
                          </a:solidFill>
                          <a:latin typeface="Calibri"/>
                        </a:rPr>
                        <a:t>Frequent constraint changes drive longer sessions</a:t>
                      </a:r>
                    </a:p>
                  </a:txBody>
                  <a:tcPr anchor="ctr" marL="54864" marR="54864" marT="22860" marB="22860">
                    <a:solidFill>
                      <a:srgbClr val="E1F3E8"/>
                    </a:solidFill>
                  </a:tcPr>
                </a:tc>
              </a:tr>
              <a:tr h="404948">
                <a:tc>
                  <a:txBody>
                    <a:bodyPr/>
                    <a:lstStyle/>
                    <a:p>
                      <a:pPr algn="l"/>
                      <a:r>
                        <a:rPr sz="950" b="1" i="0">
                          <a:solidFill>
                            <a:srgbClr val="1E2430"/>
                          </a:solidFill>
                          <a:latin typeface="Calibri"/>
                        </a:rPr>
                        <a:t>Dialogue Turns × Agent Package Offers</a:t>
                      </a:r>
                    </a:p>
                  </a:txBody>
                  <a:tcPr anchor="ctr" marL="54864" marR="54864" marT="22860" marB="22860">
                    <a:solidFill>
                      <a:srgbClr val="E1F3E8"/>
                    </a:solidFill>
                  </a:tcPr>
                </a:tc>
                <a:tc>
                  <a:txBody>
                    <a:bodyPr/>
                    <a:lstStyle/>
                    <a:p>
                      <a:pPr algn="ctr"/>
                      <a:r>
                        <a:rPr sz="950" b="1" i="0">
                          <a:solidFill>
                            <a:srgbClr val="1E2430"/>
                          </a:solidFill>
                          <a:latin typeface="Calibri"/>
                        </a:rPr>
                        <a:t>.636 (&lt; .001)</a:t>
                      </a:r>
                    </a:p>
                  </a:txBody>
                  <a:tcPr anchor="ctr" marL="54864" marR="54864" marT="22860" marB="22860">
                    <a:solidFill>
                      <a:srgbClr val="E1F3E8"/>
                    </a:solidFill>
                  </a:tcPr>
                </a:tc>
                <a:tc>
                  <a:txBody>
                    <a:bodyPr/>
                    <a:lstStyle/>
                    <a:p>
                      <a:pPr algn="ctr"/>
                      <a:r>
                        <a:rPr sz="950" b="1" i="0">
                          <a:solidFill>
                            <a:srgbClr val="1E2430"/>
                          </a:solidFill>
                          <a:latin typeface="Calibri"/>
                        </a:rPr>
                        <a:t>.661 (&lt; .001)</a:t>
                      </a:r>
                    </a:p>
                  </a:txBody>
                  <a:tcPr anchor="ctr" marL="54864" marR="54864" marT="22860" marB="22860">
                    <a:solidFill>
                      <a:srgbClr val="E1F3E8"/>
                    </a:solidFill>
                  </a:tcPr>
                </a:tc>
                <a:tc>
                  <a:txBody>
                    <a:bodyPr/>
                    <a:lstStyle/>
                    <a:p>
                      <a:pPr algn="l"/>
                      <a:r>
                        <a:rPr sz="950" b="1" i="0">
                          <a:solidFill>
                            <a:srgbClr val="1E2430"/>
                          </a:solidFill>
                          <a:latin typeface="Calibri"/>
                        </a:rPr>
                        <a:t>Multi-package comparisons expand turn counts</a:t>
                      </a:r>
                    </a:p>
                  </a:txBody>
                  <a:tcPr anchor="ctr" marL="54864" marR="54864" marT="22860" marB="22860">
                    <a:solidFill>
                      <a:srgbClr val="E1F3E8"/>
                    </a:solidFill>
                  </a:tcPr>
                </a:tc>
              </a:tr>
              <a:tr h="404948">
                <a:tc>
                  <a:txBody>
                    <a:bodyPr/>
                    <a:lstStyle/>
                    <a:p>
                      <a:pPr algn="l"/>
                      <a:r>
                        <a:rPr sz="950" b="0" i="0">
                          <a:solidFill>
                            <a:srgbClr val="1E2430"/>
                          </a:solidFill>
                          <a:latin typeface="Calibri"/>
                        </a:rPr>
                        <a:t>Slot Revisions × Hesitation Markers</a:t>
                      </a:r>
                    </a:p>
                  </a:txBody>
                  <a:tcPr anchor="ctr" marL="54864" marR="54864" marT="22860" marB="22860">
                    <a:solidFill>
                      <a:srgbClr val="FFFFFF"/>
                    </a:solidFill>
                  </a:tcPr>
                </a:tc>
                <a:tc>
                  <a:txBody>
                    <a:bodyPr/>
                    <a:lstStyle/>
                    <a:p>
                      <a:pPr algn="ctr"/>
                      <a:r>
                        <a:rPr sz="950" b="0" i="0">
                          <a:solidFill>
                            <a:srgbClr val="1E2430"/>
                          </a:solidFill>
                          <a:latin typeface="Calibri"/>
                        </a:rPr>
                        <a:t>.192 (&lt; .001)</a:t>
                      </a:r>
                    </a:p>
                  </a:txBody>
                  <a:tcPr anchor="ctr" marL="54864" marR="54864" marT="22860" marB="22860">
                    <a:solidFill>
                      <a:srgbClr val="FFFFFF"/>
                    </a:solidFill>
                  </a:tcPr>
                </a:tc>
                <a:tc>
                  <a:txBody>
                    <a:bodyPr/>
                    <a:lstStyle/>
                    <a:p>
                      <a:pPr algn="ctr"/>
                      <a:r>
                        <a:rPr sz="950" b="0" i="0">
                          <a:solidFill>
                            <a:srgbClr val="1E2430"/>
                          </a:solidFill>
                          <a:latin typeface="Calibri"/>
                        </a:rPr>
                        <a:t>.206 (&lt; .001)</a:t>
                      </a:r>
                    </a:p>
                  </a:txBody>
                  <a:tcPr anchor="ctr" marL="54864" marR="54864" marT="22860" marB="22860">
                    <a:solidFill>
                      <a:srgbClr val="FFFFFF"/>
                    </a:solidFill>
                  </a:tcPr>
                </a:tc>
                <a:tc>
                  <a:txBody>
                    <a:bodyPr/>
                    <a:lstStyle/>
                    <a:p>
                      <a:pPr algn="l"/>
                      <a:r>
                        <a:rPr sz="950" b="0" i="0">
                          <a:solidFill>
                            <a:srgbClr val="1E2430"/>
                          </a:solidFill>
                          <a:latin typeface="Calibri"/>
                        </a:rPr>
                        <a:t>User uncertainty accompanies constraint shifts</a:t>
                      </a:r>
                    </a:p>
                  </a:txBody>
                  <a:tcPr anchor="ctr" marL="54864" marR="54864" marT="22860" marB="22860">
                    <a:solidFill>
                      <a:srgbClr val="FFFFFF"/>
                    </a:solidFill>
                  </a:tcPr>
                </a:tc>
              </a:tr>
              <a:tr h="404948">
                <a:tc>
                  <a:txBody>
                    <a:bodyPr/>
                    <a:lstStyle/>
                    <a:p>
                      <a:pPr algn="l"/>
                      <a:r>
                        <a:rPr sz="950" b="1" i="0">
                          <a:solidFill>
                            <a:srgbClr val="1E2430"/>
                          </a:solidFill>
                          <a:latin typeface="Calibri"/>
                        </a:rPr>
                        <a:t>Slot Revisions × LLM Exploration Breadth</a:t>
                      </a:r>
                    </a:p>
                  </a:txBody>
                  <a:tcPr anchor="ctr" marL="54864" marR="54864" marT="22860" marB="22860">
                    <a:solidFill>
                      <a:srgbClr val="E1F3E8"/>
                    </a:solidFill>
                  </a:tcPr>
                </a:tc>
                <a:tc>
                  <a:txBody>
                    <a:bodyPr/>
                    <a:lstStyle/>
                    <a:p>
                      <a:pPr algn="ctr"/>
                      <a:r>
                        <a:rPr sz="950" b="1" i="0">
                          <a:solidFill>
                            <a:srgbClr val="1E2430"/>
                          </a:solidFill>
                          <a:latin typeface="Calibri"/>
                        </a:rPr>
                        <a:t>.554 (&lt; .001)</a:t>
                      </a:r>
                    </a:p>
                  </a:txBody>
                  <a:tcPr anchor="ctr" marL="54864" marR="54864" marT="22860" marB="22860">
                    <a:solidFill>
                      <a:srgbClr val="E1F3E8"/>
                    </a:solidFill>
                  </a:tcPr>
                </a:tc>
                <a:tc>
                  <a:txBody>
                    <a:bodyPr/>
                    <a:lstStyle/>
                    <a:p>
                      <a:pPr algn="ctr"/>
                      <a:r>
                        <a:rPr sz="950" b="1" i="0">
                          <a:solidFill>
                            <a:srgbClr val="1E2430"/>
                          </a:solidFill>
                          <a:latin typeface="Calibri"/>
                        </a:rPr>
                        <a:t>.580 (&lt; .001)</a:t>
                      </a:r>
                    </a:p>
                  </a:txBody>
                  <a:tcPr anchor="ctr" marL="54864" marR="54864" marT="22860" marB="22860">
                    <a:solidFill>
                      <a:srgbClr val="E1F3E8"/>
                    </a:solidFill>
                  </a:tcPr>
                </a:tc>
                <a:tc>
                  <a:txBody>
                    <a:bodyPr/>
                    <a:lstStyle/>
                    <a:p>
                      <a:pPr algn="l"/>
                      <a:r>
                        <a:rPr sz="950" b="1" i="0">
                          <a:solidFill>
                            <a:srgbClr val="1E2430"/>
                          </a:solidFill>
                          <a:latin typeface="Calibri"/>
                        </a:rPr>
                        <a:t>Strong construct validity of LLM exploration rating</a:t>
                      </a:r>
                    </a:p>
                  </a:txBody>
                  <a:tcPr anchor="ctr" marL="54864" marR="54864" marT="22860" marB="22860">
                    <a:solidFill>
                      <a:srgbClr val="E1F3E8"/>
                    </a:solidFill>
                  </a:tcPr>
                </a:tc>
              </a:tr>
              <a:tr h="404948">
                <a:tc>
                  <a:txBody>
                    <a:bodyPr/>
                    <a:lstStyle/>
                    <a:p>
                      <a:pPr algn="l"/>
                      <a:r>
                        <a:rPr sz="950" b="1" i="0">
                          <a:solidFill>
                            <a:srgbClr val="1E2430"/>
                          </a:solidFill>
                          <a:latin typeface="Calibri"/>
                        </a:rPr>
                        <a:t>Dialogue Turns × LLM Decisiveness</a:t>
                      </a:r>
                    </a:p>
                  </a:txBody>
                  <a:tcPr anchor="ctr" marL="54864" marR="54864" marT="22860" marB="22860">
                    <a:solidFill>
                      <a:srgbClr val="E1F3E8"/>
                    </a:solidFill>
                  </a:tcPr>
                </a:tc>
                <a:tc>
                  <a:txBody>
                    <a:bodyPr/>
                    <a:lstStyle/>
                    <a:p>
                      <a:pPr algn="ctr"/>
                      <a:r>
                        <a:rPr sz="950" b="1" i="0">
                          <a:solidFill>
                            <a:srgbClr val="1E2430"/>
                          </a:solidFill>
                          <a:latin typeface="Calibri"/>
                        </a:rPr>
                        <a:t>−.229 (&lt; .001)</a:t>
                      </a:r>
                    </a:p>
                  </a:txBody>
                  <a:tcPr anchor="ctr" marL="54864" marR="54864" marT="22860" marB="22860">
                    <a:solidFill>
                      <a:srgbClr val="E1F3E8"/>
                    </a:solidFill>
                  </a:tcPr>
                </a:tc>
                <a:tc>
                  <a:txBody>
                    <a:bodyPr/>
                    <a:lstStyle/>
                    <a:p>
                      <a:pPr algn="ctr"/>
                      <a:r>
                        <a:rPr sz="950" b="1" i="0">
                          <a:solidFill>
                            <a:srgbClr val="1E2430"/>
                          </a:solidFill>
                          <a:latin typeface="Calibri"/>
                        </a:rPr>
                        <a:t>−.222 (&lt; .001)</a:t>
                      </a:r>
                    </a:p>
                  </a:txBody>
                  <a:tcPr anchor="ctr" marL="54864" marR="54864" marT="22860" marB="22860">
                    <a:solidFill>
                      <a:srgbClr val="E1F3E8"/>
                    </a:solidFill>
                  </a:tcPr>
                </a:tc>
                <a:tc>
                  <a:txBody>
                    <a:bodyPr/>
                    <a:lstStyle/>
                    <a:p>
                      <a:pPr algn="l"/>
                      <a:r>
                        <a:rPr sz="950" b="1" i="0">
                          <a:solidFill>
                            <a:srgbClr val="1E2430"/>
                          </a:solidFill>
                          <a:latin typeface="Calibri"/>
                        </a:rPr>
                        <a:t>Decisive travelers finish bookings in fewer turns</a:t>
                      </a:r>
                    </a:p>
                  </a:txBody>
                  <a:tcPr anchor="ctr" marL="54864" marR="54864" marT="22860" marB="22860">
                    <a:solidFill>
                      <a:srgbClr val="E1F3E8"/>
                    </a:solidFill>
                  </a:tcPr>
                </a:tc>
              </a:tr>
              <a:tr h="404952">
                <a:tc>
                  <a:txBody>
                    <a:bodyPr/>
                    <a:lstStyle/>
                    <a:p>
                      <a:pPr algn="l"/>
                      <a:r>
                        <a:rPr sz="950" b="0" i="0">
                          <a:solidFill>
                            <a:srgbClr val="1E2430"/>
                          </a:solidFill>
                          <a:latin typeface="Calibri"/>
                        </a:rPr>
                        <a:t>User Words/Turn × Agent Words/Turn</a:t>
                      </a:r>
                    </a:p>
                  </a:txBody>
                  <a:tcPr anchor="ctr" marL="54864" marR="54864" marT="22860" marB="22860">
                    <a:solidFill>
                      <a:srgbClr val="F2F6FC"/>
                    </a:solidFill>
                  </a:tcPr>
                </a:tc>
                <a:tc>
                  <a:txBody>
                    <a:bodyPr/>
                    <a:lstStyle/>
                    <a:p>
                      <a:pPr algn="ctr"/>
                      <a:r>
                        <a:rPr sz="950" b="0" i="0">
                          <a:solidFill>
                            <a:srgbClr val="1E2430"/>
                          </a:solidFill>
                          <a:latin typeface="Calibri"/>
                        </a:rPr>
                        <a:t>−.026 (.341)</a:t>
                      </a:r>
                    </a:p>
                  </a:txBody>
                  <a:tcPr anchor="ctr" marL="54864" marR="54864" marT="22860" marB="22860">
                    <a:solidFill>
                      <a:srgbClr val="F2F6FC"/>
                    </a:solidFill>
                  </a:tcPr>
                </a:tc>
                <a:tc>
                  <a:txBody>
                    <a:bodyPr/>
                    <a:lstStyle/>
                    <a:p>
                      <a:pPr algn="ctr"/>
                      <a:r>
                        <a:rPr sz="950" b="0" i="0">
                          <a:solidFill>
                            <a:srgbClr val="1E2430"/>
                          </a:solidFill>
                          <a:latin typeface="Calibri"/>
                        </a:rPr>
                        <a:t>.014 (.618)</a:t>
                      </a:r>
                    </a:p>
                  </a:txBody>
                  <a:tcPr anchor="ctr" marL="54864" marR="54864" marT="22860" marB="22860">
                    <a:solidFill>
                      <a:srgbClr val="F2F6FC"/>
                    </a:solidFill>
                  </a:tcPr>
                </a:tc>
                <a:tc>
                  <a:txBody>
                    <a:bodyPr/>
                    <a:lstStyle/>
                    <a:p>
                      <a:pPr algn="l"/>
                      <a:r>
                        <a:rPr sz="950" b="0" i="0">
                          <a:solidFill>
                            <a:srgbClr val="1E2430"/>
                          </a:solidFill>
                          <a:latin typeface="Calibri"/>
                        </a:rPr>
                        <a:t>Utterance verbosity is independent across speakers</a:t>
                      </a:r>
                    </a:p>
                  </a:txBody>
                  <a:tcPr anchor="ctr" marL="54864" marR="54864" marT="22860" marB="22860">
                    <a:solidFill>
                      <a:srgbClr val="F2F6FC"/>
                    </a:solidFill>
                  </a:tcPr>
                </a:tc>
              </a:tr>
            </a:tbl>
          </a:graphicData>
        </a:graphic>
      </p:graphicFrame>
      <p:sp>
        <p:nvSpPr>
          <p:cNvPr id="18" name="Rounded Rectangle 17"/>
          <p:cNvSpPr/>
          <p:nvPr/>
        </p:nvSpPr>
        <p:spPr>
          <a:xfrm>
            <a:off x="5623560" y="4343400"/>
            <a:ext cx="6245352" cy="214884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23560" y="4343400"/>
            <a:ext cx="6245352"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Key Takeaways from Univariate &amp; Bivariate EDA</a:t>
            </a:r>
          </a:p>
        </p:txBody>
      </p:sp>
      <p:sp>
        <p:nvSpPr>
          <p:cNvPr id="20" name="TextBox 19"/>
          <p:cNvSpPr txBox="1"/>
          <p:nvPr/>
        </p:nvSpPr>
        <p:spPr>
          <a:xfrm>
            <a:off x="5715000" y="4727448"/>
            <a:ext cx="6062472" cy="170992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Why We Report Both Pearson </a:t>
            </a:r>
            <a:r>
              <a:rPr sz="1050" b="1" i="1">
                <a:solidFill>
                  <a:srgbClr val="1E2430"/>
                </a:solidFill>
                <a:latin typeface="Calibri"/>
              </a:rPr>
              <a:t>r</a:t>
            </a:r>
            <a:r>
              <a:rPr sz="1050" b="1" i="0">
                <a:solidFill>
                  <a:srgbClr val="1E2430"/>
                </a:solidFill>
                <a:latin typeface="Calibri"/>
              </a:rPr>
              <a:t> and Spearman ρ:</a:t>
            </a:r>
            <a:r>
              <a:rPr sz="1050" b="0" i="0">
                <a:solidFill>
                  <a:srgbClr val="1E2430"/>
                </a:solidFill>
                <a:latin typeface="Calibri"/>
              </a:rPr>
              <a:t> Turn counts and revision counts are right-skewed; reporting linear Pearson </a:t>
            </a:r>
            <a:r>
              <a:rPr sz="1050" b="0" i="1">
                <a:solidFill>
                  <a:srgbClr val="1E2430"/>
                </a:solidFill>
                <a:latin typeface="Calibri"/>
              </a:rPr>
              <a:t>r</a:t>
            </a:r>
            <a:r>
              <a:rPr sz="1050" b="0" i="0">
                <a:solidFill>
                  <a:srgbClr val="1E2430"/>
                </a:solidFill>
                <a:latin typeface="Calibri"/>
              </a:rPr>
              <a:t> alongside rank-based Spearman ρ proves correlations are not artifacts of tail outliers.</a:t>
            </a:r>
          </a:p>
          <a:p>
            <a:pPr>
              <a:spcAft>
                <a:spcPts val="400"/>
              </a:spcAft>
            </a:pPr>
            <a:r>
              <a:rPr sz="1050" b="0" i="0">
                <a:solidFill>
                  <a:srgbClr val="1E2430"/>
                </a:solidFill>
                <a:latin typeface="Calibri"/>
              </a:rPr>
              <a:t>• </a:t>
            </a:r>
            <a:r>
              <a:rPr sz="1050" b="1" i="0">
                <a:solidFill>
                  <a:srgbClr val="1E2430"/>
                </a:solidFill>
                <a:latin typeface="Calibri"/>
              </a:rPr>
              <a:t>Frames vs. MultiWOZ Dispersion:</a:t>
            </a:r>
            <a:r>
              <a:rPr sz="1050" b="0" i="0">
                <a:solidFill>
                  <a:srgbClr val="1E2430"/>
                </a:solidFill>
                <a:latin typeface="Calibri"/>
              </a:rPr>
              <a:t> Frames has 51% wider turn dispersion (</a:t>
            </a:r>
            <a:r>
              <a:rPr sz="1050" b="0" i="1">
                <a:solidFill>
                  <a:srgbClr val="1E2430"/>
                </a:solidFill>
                <a:latin typeface="Calibri"/>
              </a:rPr>
              <a:t>SD</a:t>
            </a:r>
            <a:r>
              <a:rPr sz="1050" b="0" i="0">
                <a:solidFill>
                  <a:srgbClr val="1E2430"/>
                </a:solidFill>
                <a:latin typeface="Calibri"/>
              </a:rPr>
              <a:t> = 6.74 vs. 4.46, range 3–47 turns) because consultative vacation negotiation involves iterative trade-offs.</a:t>
            </a:r>
          </a:p>
          <a:p>
            <a:pPr>
              <a:spcAft>
                <a:spcPts val="400"/>
              </a:spcAft>
            </a:pPr>
            <a:r>
              <a:rPr sz="1050" b="0" i="0">
                <a:solidFill>
                  <a:srgbClr val="1E2430"/>
                </a:solidFill>
                <a:latin typeface="Calibri"/>
              </a:rPr>
              <a:t>• </a:t>
            </a:r>
            <a:r>
              <a:rPr sz="1050" b="1" i="0">
                <a:solidFill>
                  <a:srgbClr val="1E2430"/>
                </a:solidFill>
                <a:latin typeface="Calibri"/>
              </a:rPr>
              <a:t>Golden vs. Held-Out Balance:</a:t>
            </a:r>
            <a:r>
              <a:rPr sz="1050" b="0" i="0">
                <a:solidFill>
                  <a:srgbClr val="1E2430"/>
                </a:solidFill>
                <a:latin typeface="Calibri"/>
              </a:rPr>
              <a:t> Golden (</a:t>
            </a:r>
            <a:r>
              <a:rPr sz="1050" b="0" i="1">
                <a:solidFill>
                  <a:srgbClr val="1E2430"/>
                </a:solidFill>
                <a:latin typeface="Calibri"/>
              </a:rPr>
              <a:t>M</a:t>
            </a:r>
            <a:r>
              <a:rPr sz="1050" b="0" i="0">
                <a:solidFill>
                  <a:srgbClr val="1E2430"/>
                </a:solidFill>
                <a:latin typeface="Calibri"/>
              </a:rPr>
              <a:t> = 14.94 turns) and Held-Out (</a:t>
            </a:r>
            <a:r>
              <a:rPr sz="1050" b="0" i="1">
                <a:solidFill>
                  <a:srgbClr val="1E2430"/>
                </a:solidFill>
                <a:latin typeface="Calibri"/>
              </a:rPr>
              <a:t>M</a:t>
            </a:r>
            <a:r>
              <a:rPr sz="1050" b="0" i="0">
                <a:solidFill>
                  <a:srgbClr val="1E2430"/>
                </a:solidFill>
                <a:latin typeface="Calibri"/>
              </a:rPr>
              <a:t> = 14.81 turns) partitions are statistically indistinguishable, confirming an unbiased split.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3: DATA AUTHENTICITY, SCHEMA &amp; EDA</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13</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Multivariate EDA: Correlation Structure &amp; Principal Component Biplot (Figure 3)</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Ten structural and behavioral variables span three orthogonal dimensions explaining 68.6% of total variance</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2404347"/>
            <a:ext cx="6885432" cy="2753393"/>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eda_multivariate.png"/>
          <p:cNvPicPr>
            <a:picLocks noChangeAspect="1"/>
          </p:cNvPicPr>
          <p:nvPr/>
        </p:nvPicPr>
        <p:blipFill>
          <a:blip r:embed="rId3"/>
          <a:stretch>
            <a:fillRect/>
          </a:stretch>
        </p:blipFill>
        <p:spPr>
          <a:xfrm>
            <a:off x="320040" y="2440923"/>
            <a:ext cx="6812280" cy="2680241"/>
          </a:xfrm>
          <a:prstGeom prst="rect">
            <a:avLst/>
          </a:prstGeom>
        </p:spPr>
      </p:pic>
      <p:sp>
        <p:nvSpPr>
          <p:cNvPr id="13" name="TextBox 12"/>
          <p:cNvSpPr txBox="1"/>
          <p:nvPr/>
        </p:nvSpPr>
        <p:spPr>
          <a:xfrm>
            <a:off x="320040" y="6190488"/>
            <a:ext cx="6812280" cy="256032"/>
          </a:xfrm>
          <a:prstGeom prst="rect">
            <a:avLst/>
          </a:prstGeom>
          <a:noFill/>
        </p:spPr>
        <p:txBody>
          <a:bodyPr wrap="square">
            <a:spAutoFit/>
          </a:bodyPr>
          <a:lstStyle/>
          <a:p>
            <a:pPr algn="ctr"/>
            <a:r>
              <a:rPr sz="950" b="0" i="1">
                <a:solidFill>
                  <a:srgbClr val="5A6577"/>
                </a:solidFill>
                <a:latin typeface="Calibri"/>
              </a:rPr>
              <a:t>Figure 3: Multivariate Spearman Rank Correlation Matrix (Panel A) &amp; PCA Biplot by Refined Archetype (Panel B)</a:t>
            </a:r>
          </a:p>
        </p:txBody>
      </p:sp>
      <p:graphicFrame>
        <p:nvGraphicFramePr>
          <p:cNvPr id="14" name="Table 13"/>
          <p:cNvGraphicFramePr>
            <a:graphicFrameLocks noGrp="1"/>
          </p:cNvGraphicFramePr>
          <p:nvPr/>
        </p:nvGraphicFramePr>
        <p:xfrm>
          <a:off x="7269480" y="1371600"/>
          <a:ext cx="4599430" cy="3246120"/>
        </p:xfrm>
        <a:graphic>
          <a:graphicData uri="http://schemas.openxmlformats.org/drawingml/2006/table">
            <a:tbl>
              <a:tblPr firstRow="1" bandRow="1">
                <a:tableStyleId>{5C22544A-7EE6-4342-B048-85BDC9FD1C3A}</a:tableStyleId>
              </a:tblPr>
              <a:tblGrid>
                <a:gridCol w="1783453"/>
                <a:gridCol w="938659"/>
                <a:gridCol w="938659"/>
                <a:gridCol w="938659"/>
              </a:tblGrid>
              <a:tr h="295101">
                <a:tc>
                  <a:txBody>
                    <a:bodyPr/>
                    <a:lstStyle/>
                    <a:p>
                      <a:pPr algn="l"/>
                      <a:r>
                        <a:rPr sz="1100" b="1" i="0">
                          <a:solidFill>
                            <a:srgbClr val="FFFFFF"/>
                          </a:solidFill>
                          <a:latin typeface="Calibri"/>
                        </a:rPr>
                        <a:t>Variable</a:t>
                      </a:r>
                    </a:p>
                  </a:txBody>
                  <a:tcPr anchor="ctr" marL="54864" marR="54864" marT="27432" marB="27432">
                    <a:solidFill>
                      <a:srgbClr val="14325C"/>
                    </a:solidFill>
                  </a:tcPr>
                </a:tc>
                <a:tc>
                  <a:txBody>
                    <a:bodyPr/>
                    <a:lstStyle/>
                    <a:p>
                      <a:pPr algn="ctr"/>
                      <a:r>
                        <a:rPr sz="1100" b="1" i="0">
                          <a:solidFill>
                            <a:srgbClr val="FFFFFF"/>
                          </a:solidFill>
                          <a:latin typeface="Calibri"/>
                        </a:rPr>
                        <a:t>PC1 (40.8%)</a:t>
                      </a:r>
                    </a:p>
                  </a:txBody>
                  <a:tcPr anchor="ctr" marL="54864" marR="54864" marT="27432" marB="27432">
                    <a:solidFill>
                      <a:srgbClr val="14325C"/>
                    </a:solidFill>
                  </a:tcPr>
                </a:tc>
                <a:tc>
                  <a:txBody>
                    <a:bodyPr/>
                    <a:lstStyle/>
                    <a:p>
                      <a:pPr algn="ctr"/>
                      <a:r>
                        <a:rPr sz="1100" b="1" i="0">
                          <a:solidFill>
                            <a:srgbClr val="FFFFFF"/>
                          </a:solidFill>
                          <a:latin typeface="Calibri"/>
                        </a:rPr>
                        <a:t>PC2 (17.2%)</a:t>
                      </a:r>
                    </a:p>
                  </a:txBody>
                  <a:tcPr anchor="ctr" marL="54864" marR="54864" marT="27432" marB="27432">
                    <a:solidFill>
                      <a:srgbClr val="14325C"/>
                    </a:solidFill>
                  </a:tcPr>
                </a:tc>
                <a:tc>
                  <a:txBody>
                    <a:bodyPr/>
                    <a:lstStyle/>
                    <a:p>
                      <a:pPr algn="ctr"/>
                      <a:r>
                        <a:rPr sz="1100" b="1" i="0">
                          <a:solidFill>
                            <a:srgbClr val="FFFFFF"/>
                          </a:solidFill>
                          <a:latin typeface="Calibri"/>
                        </a:rPr>
                        <a:t>PC3 (10.6%)</a:t>
                      </a:r>
                    </a:p>
                  </a:txBody>
                  <a:tcPr anchor="ctr" marL="54864" marR="54864" marT="27432" marB="27432">
                    <a:solidFill>
                      <a:srgbClr val="14325C"/>
                    </a:solidFill>
                  </a:tcPr>
                </a:tc>
              </a:tr>
              <a:tr h="295101">
                <a:tc>
                  <a:txBody>
                    <a:bodyPr/>
                    <a:lstStyle/>
                    <a:p>
                      <a:pPr algn="l"/>
                      <a:r>
                        <a:rPr sz="950" b="1" i="0">
                          <a:solidFill>
                            <a:srgbClr val="1E2430"/>
                          </a:solidFill>
                          <a:latin typeface="Calibri"/>
                        </a:rPr>
                        <a:t>Total turns</a:t>
                      </a:r>
                    </a:p>
                  </a:txBody>
                  <a:tcPr anchor="ctr" marL="54864" marR="54864" marT="22860" marB="22860">
                    <a:solidFill>
                      <a:srgbClr val="E1F3E8"/>
                    </a:solidFill>
                  </a:tcPr>
                </a:tc>
                <a:tc>
                  <a:txBody>
                    <a:bodyPr/>
                    <a:lstStyle/>
                    <a:p>
                      <a:pPr algn="ctr"/>
                      <a:r>
                        <a:rPr sz="950" b="1" i="0">
                          <a:solidFill>
                            <a:srgbClr val="1E2430"/>
                          </a:solidFill>
                          <a:latin typeface="Calibri"/>
                        </a:rPr>
                        <a:t>+.390</a:t>
                      </a:r>
                    </a:p>
                  </a:txBody>
                  <a:tcPr anchor="ctr" marL="54864" marR="54864" marT="22860" marB="22860">
                    <a:solidFill>
                      <a:srgbClr val="E1F3E8"/>
                    </a:solidFill>
                  </a:tcPr>
                </a:tc>
                <a:tc>
                  <a:txBody>
                    <a:bodyPr/>
                    <a:lstStyle/>
                    <a:p>
                      <a:pPr algn="ctr"/>
                      <a:r>
                        <a:rPr sz="950" b="1" i="0">
                          <a:solidFill>
                            <a:srgbClr val="1E2430"/>
                          </a:solidFill>
                          <a:latin typeface="Calibri"/>
                        </a:rPr>
                        <a:t>+.014</a:t>
                      </a:r>
                    </a:p>
                  </a:txBody>
                  <a:tcPr anchor="ctr" marL="54864" marR="54864" marT="22860" marB="22860">
                    <a:solidFill>
                      <a:srgbClr val="E1F3E8"/>
                    </a:solidFill>
                  </a:tcPr>
                </a:tc>
                <a:tc>
                  <a:txBody>
                    <a:bodyPr/>
                    <a:lstStyle/>
                    <a:p>
                      <a:pPr algn="ctr"/>
                      <a:r>
                        <a:rPr sz="950" b="1" i="0">
                          <a:solidFill>
                            <a:srgbClr val="1E2430"/>
                          </a:solidFill>
                          <a:latin typeface="Calibri"/>
                        </a:rPr>
                        <a:t>−.267</a:t>
                      </a:r>
                    </a:p>
                  </a:txBody>
                  <a:tcPr anchor="ctr" marL="54864" marR="54864" marT="22860" marB="22860">
                    <a:solidFill>
                      <a:srgbClr val="E1F3E8"/>
                    </a:solidFill>
                  </a:tcPr>
                </a:tc>
              </a:tr>
              <a:tr h="295101">
                <a:tc>
                  <a:txBody>
                    <a:bodyPr/>
                    <a:lstStyle/>
                    <a:p>
                      <a:pPr algn="l"/>
                      <a:r>
                        <a:rPr sz="950" b="1" i="0">
                          <a:solidFill>
                            <a:srgbClr val="1E2430"/>
                          </a:solidFill>
                          <a:latin typeface="Calibri"/>
                        </a:rPr>
                        <a:t>User words / turn</a:t>
                      </a:r>
                    </a:p>
                  </a:txBody>
                  <a:tcPr anchor="ctr" marL="54864" marR="54864" marT="22860" marB="22860">
                    <a:solidFill>
                      <a:srgbClr val="E1F3E8"/>
                    </a:solidFill>
                  </a:tcPr>
                </a:tc>
                <a:tc>
                  <a:txBody>
                    <a:bodyPr/>
                    <a:lstStyle/>
                    <a:p>
                      <a:pPr algn="ctr"/>
                      <a:r>
                        <a:rPr sz="950" b="1" i="0">
                          <a:solidFill>
                            <a:srgbClr val="1E2430"/>
                          </a:solidFill>
                          <a:latin typeface="Calibri"/>
                        </a:rPr>
                        <a:t>−.123</a:t>
                      </a:r>
                    </a:p>
                  </a:txBody>
                  <a:tcPr anchor="ctr" marL="54864" marR="54864" marT="22860" marB="22860">
                    <a:solidFill>
                      <a:srgbClr val="E1F3E8"/>
                    </a:solidFill>
                  </a:tcPr>
                </a:tc>
                <a:tc>
                  <a:txBody>
                    <a:bodyPr/>
                    <a:lstStyle/>
                    <a:p>
                      <a:pPr algn="ctr"/>
                      <a:r>
                        <a:rPr sz="950" b="1" i="0">
                          <a:solidFill>
                            <a:srgbClr val="1E2430"/>
                          </a:solidFill>
                          <a:latin typeface="Calibri"/>
                        </a:rPr>
                        <a:t>+.019</a:t>
                      </a:r>
                    </a:p>
                  </a:txBody>
                  <a:tcPr anchor="ctr" marL="54864" marR="54864" marT="22860" marB="22860">
                    <a:solidFill>
                      <a:srgbClr val="E1F3E8"/>
                    </a:solidFill>
                  </a:tcPr>
                </a:tc>
                <a:tc>
                  <a:txBody>
                    <a:bodyPr/>
                    <a:lstStyle/>
                    <a:p>
                      <a:pPr algn="ctr"/>
                      <a:r>
                        <a:rPr sz="950" b="1" i="0">
                          <a:solidFill>
                            <a:srgbClr val="1E2430"/>
                          </a:solidFill>
                          <a:latin typeface="Calibri"/>
                        </a:rPr>
                        <a:t>+.893</a:t>
                      </a:r>
                    </a:p>
                  </a:txBody>
                  <a:tcPr anchor="ctr" marL="54864" marR="54864" marT="22860" marB="22860">
                    <a:solidFill>
                      <a:srgbClr val="E1F3E8"/>
                    </a:solidFill>
                  </a:tcPr>
                </a:tc>
              </a:tr>
              <a:tr h="295101">
                <a:tc>
                  <a:txBody>
                    <a:bodyPr/>
                    <a:lstStyle/>
                    <a:p>
                      <a:pPr algn="l"/>
                      <a:r>
                        <a:rPr sz="950" b="1" i="0">
                          <a:solidFill>
                            <a:srgbClr val="1E2430"/>
                          </a:solidFill>
                          <a:latin typeface="Calibri"/>
                        </a:rPr>
                        <a:t>Slot revisions</a:t>
                      </a:r>
                    </a:p>
                  </a:txBody>
                  <a:tcPr anchor="ctr" marL="54864" marR="54864" marT="22860" marB="22860">
                    <a:solidFill>
                      <a:srgbClr val="E1F3E8"/>
                    </a:solidFill>
                  </a:tcPr>
                </a:tc>
                <a:tc>
                  <a:txBody>
                    <a:bodyPr/>
                    <a:lstStyle/>
                    <a:p>
                      <a:pPr algn="ctr"/>
                      <a:r>
                        <a:rPr sz="950" b="1" i="0">
                          <a:solidFill>
                            <a:srgbClr val="1E2430"/>
                          </a:solidFill>
                          <a:latin typeface="Calibri"/>
                        </a:rPr>
                        <a:t>+.416</a:t>
                      </a:r>
                    </a:p>
                  </a:txBody>
                  <a:tcPr anchor="ctr" marL="54864" marR="54864" marT="22860" marB="22860">
                    <a:solidFill>
                      <a:srgbClr val="E1F3E8"/>
                    </a:solidFill>
                  </a:tcPr>
                </a:tc>
                <a:tc>
                  <a:txBody>
                    <a:bodyPr/>
                    <a:lstStyle/>
                    <a:p>
                      <a:pPr algn="ctr"/>
                      <a:r>
                        <a:rPr sz="950" b="1" i="0">
                          <a:solidFill>
                            <a:srgbClr val="1E2430"/>
                          </a:solidFill>
                          <a:latin typeface="Calibri"/>
                        </a:rPr>
                        <a:t>+.087</a:t>
                      </a:r>
                    </a:p>
                  </a:txBody>
                  <a:tcPr anchor="ctr" marL="54864" marR="54864" marT="22860" marB="22860">
                    <a:solidFill>
                      <a:srgbClr val="E1F3E8"/>
                    </a:solidFill>
                  </a:tcPr>
                </a:tc>
                <a:tc>
                  <a:txBody>
                    <a:bodyPr/>
                    <a:lstStyle/>
                    <a:p>
                      <a:pPr algn="ctr"/>
                      <a:r>
                        <a:rPr sz="950" b="1" i="0">
                          <a:solidFill>
                            <a:srgbClr val="1E2430"/>
                          </a:solidFill>
                          <a:latin typeface="Calibri"/>
                        </a:rPr>
                        <a:t>+.078</a:t>
                      </a:r>
                    </a:p>
                  </a:txBody>
                  <a:tcPr anchor="ctr" marL="54864" marR="54864" marT="22860" marB="22860">
                    <a:solidFill>
                      <a:srgbClr val="E1F3E8"/>
                    </a:solidFill>
                  </a:tcPr>
                </a:tc>
              </a:tr>
              <a:tr h="295101">
                <a:tc>
                  <a:txBody>
                    <a:bodyPr/>
                    <a:lstStyle/>
                    <a:p>
                      <a:pPr algn="l"/>
                      <a:r>
                        <a:rPr sz="950" b="0" i="0">
                          <a:solidFill>
                            <a:srgbClr val="1E2430"/>
                          </a:solidFill>
                          <a:latin typeface="Calibri"/>
                        </a:rPr>
                        <a:t>Agent package offers</a:t>
                      </a:r>
                    </a:p>
                  </a:txBody>
                  <a:tcPr anchor="ctr" marL="54864" marR="54864" marT="22860" marB="22860">
                    <a:solidFill>
                      <a:srgbClr val="F2F6FC"/>
                    </a:solidFill>
                  </a:tcPr>
                </a:tc>
                <a:tc>
                  <a:txBody>
                    <a:bodyPr/>
                    <a:lstStyle/>
                    <a:p>
                      <a:pPr algn="ctr"/>
                      <a:r>
                        <a:rPr sz="950" b="0" i="0">
                          <a:solidFill>
                            <a:srgbClr val="1E2430"/>
                          </a:solidFill>
                          <a:latin typeface="Calibri"/>
                        </a:rPr>
                        <a:t>+.357</a:t>
                      </a:r>
                    </a:p>
                  </a:txBody>
                  <a:tcPr anchor="ctr" marL="54864" marR="54864" marT="22860" marB="22860">
                    <a:solidFill>
                      <a:srgbClr val="F2F6FC"/>
                    </a:solidFill>
                  </a:tcPr>
                </a:tc>
                <a:tc>
                  <a:txBody>
                    <a:bodyPr/>
                    <a:lstStyle/>
                    <a:p>
                      <a:pPr algn="ctr"/>
                      <a:r>
                        <a:rPr sz="950" b="0" i="0">
                          <a:solidFill>
                            <a:srgbClr val="1E2430"/>
                          </a:solidFill>
                          <a:latin typeface="Calibri"/>
                        </a:rPr>
                        <a:t>−.015</a:t>
                      </a:r>
                    </a:p>
                  </a:txBody>
                  <a:tcPr anchor="ctr" marL="54864" marR="54864" marT="22860" marB="22860">
                    <a:solidFill>
                      <a:srgbClr val="F2F6FC"/>
                    </a:solidFill>
                  </a:tcPr>
                </a:tc>
                <a:tc>
                  <a:txBody>
                    <a:bodyPr/>
                    <a:lstStyle/>
                    <a:p>
                      <a:pPr algn="ctr"/>
                      <a:r>
                        <a:rPr sz="950" b="0" i="0">
                          <a:solidFill>
                            <a:srgbClr val="1E2430"/>
                          </a:solidFill>
                          <a:latin typeface="Calibri"/>
                        </a:rPr>
                        <a:t>−.229</a:t>
                      </a:r>
                    </a:p>
                  </a:txBody>
                  <a:tcPr anchor="ctr" marL="54864" marR="54864" marT="22860" marB="22860">
                    <a:solidFill>
                      <a:srgbClr val="F2F6FC"/>
                    </a:solidFill>
                  </a:tcPr>
                </a:tc>
              </a:tr>
              <a:tr h="295101">
                <a:tc>
                  <a:txBody>
                    <a:bodyPr/>
                    <a:lstStyle/>
                    <a:p>
                      <a:pPr algn="l"/>
                      <a:r>
                        <a:rPr sz="950" b="0" i="0">
                          <a:solidFill>
                            <a:srgbClr val="1E2430"/>
                          </a:solidFill>
                          <a:latin typeface="Calibri"/>
                        </a:rPr>
                        <a:t>Price sensitivity</a:t>
                      </a:r>
                    </a:p>
                  </a:txBody>
                  <a:tcPr anchor="ctr" marL="54864" marR="54864" marT="22860" marB="22860">
                    <a:solidFill>
                      <a:srgbClr val="FFFFFF"/>
                    </a:solidFill>
                  </a:tcPr>
                </a:tc>
                <a:tc>
                  <a:txBody>
                    <a:bodyPr/>
                    <a:lstStyle/>
                    <a:p>
                      <a:pPr algn="ctr"/>
                      <a:r>
                        <a:rPr sz="950" b="0" i="0">
                          <a:solidFill>
                            <a:srgbClr val="1E2430"/>
                          </a:solidFill>
                          <a:latin typeface="Calibri"/>
                        </a:rPr>
                        <a:t>+.174</a:t>
                      </a:r>
                    </a:p>
                  </a:txBody>
                  <a:tcPr anchor="ctr" marL="54864" marR="54864" marT="22860" marB="22860">
                    <a:solidFill>
                      <a:srgbClr val="FFFFFF"/>
                    </a:solidFill>
                  </a:tcPr>
                </a:tc>
                <a:tc>
                  <a:txBody>
                    <a:bodyPr/>
                    <a:lstStyle/>
                    <a:p>
                      <a:pPr algn="ctr"/>
                      <a:r>
                        <a:rPr sz="950" b="0" i="0">
                          <a:solidFill>
                            <a:srgbClr val="1E2430"/>
                          </a:solidFill>
                          <a:latin typeface="Calibri"/>
                        </a:rPr>
                        <a:t>−.426</a:t>
                      </a:r>
                    </a:p>
                  </a:txBody>
                  <a:tcPr anchor="ctr" marL="54864" marR="54864" marT="22860" marB="22860">
                    <a:solidFill>
                      <a:srgbClr val="FFFFFF"/>
                    </a:solidFill>
                  </a:tcPr>
                </a:tc>
                <a:tc>
                  <a:txBody>
                    <a:bodyPr/>
                    <a:lstStyle/>
                    <a:p>
                      <a:pPr algn="ctr"/>
                      <a:r>
                        <a:rPr sz="950" b="0" i="0">
                          <a:solidFill>
                            <a:srgbClr val="1E2430"/>
                          </a:solidFill>
                          <a:latin typeface="Calibri"/>
                        </a:rPr>
                        <a:t>−.122</a:t>
                      </a:r>
                    </a:p>
                  </a:txBody>
                  <a:tcPr anchor="ctr" marL="54864" marR="54864" marT="22860" marB="22860">
                    <a:solidFill>
                      <a:srgbClr val="FFFFFF"/>
                    </a:solidFill>
                  </a:tcPr>
                </a:tc>
              </a:tr>
              <a:tr h="295101">
                <a:tc>
                  <a:txBody>
                    <a:bodyPr/>
                    <a:lstStyle/>
                    <a:p>
                      <a:pPr algn="l"/>
                      <a:r>
                        <a:rPr sz="950" b="0" i="0">
                          <a:solidFill>
                            <a:srgbClr val="1E2430"/>
                          </a:solidFill>
                          <a:latin typeface="Calibri"/>
                        </a:rPr>
                        <a:t>Destination flexibility</a:t>
                      </a:r>
                    </a:p>
                  </a:txBody>
                  <a:tcPr anchor="ctr" marL="54864" marR="54864" marT="22860" marB="22860">
                    <a:solidFill>
                      <a:srgbClr val="F2F6FC"/>
                    </a:solidFill>
                  </a:tcPr>
                </a:tc>
                <a:tc>
                  <a:txBody>
                    <a:bodyPr/>
                    <a:lstStyle/>
                    <a:p>
                      <a:pPr algn="ctr"/>
                      <a:r>
                        <a:rPr sz="950" b="0" i="0">
                          <a:solidFill>
                            <a:srgbClr val="1E2430"/>
                          </a:solidFill>
                          <a:latin typeface="Calibri"/>
                        </a:rPr>
                        <a:t>+.304</a:t>
                      </a:r>
                    </a:p>
                  </a:txBody>
                  <a:tcPr anchor="ctr" marL="54864" marR="54864" marT="22860" marB="22860">
                    <a:solidFill>
                      <a:srgbClr val="F2F6FC"/>
                    </a:solidFill>
                  </a:tcPr>
                </a:tc>
                <a:tc>
                  <a:txBody>
                    <a:bodyPr/>
                    <a:lstStyle/>
                    <a:p>
                      <a:pPr algn="ctr"/>
                      <a:r>
                        <a:rPr sz="950" b="0" i="0">
                          <a:solidFill>
                            <a:srgbClr val="1E2430"/>
                          </a:solidFill>
                          <a:latin typeface="Calibri"/>
                        </a:rPr>
                        <a:t>+.347</a:t>
                      </a:r>
                    </a:p>
                  </a:txBody>
                  <a:tcPr anchor="ctr" marL="54864" marR="54864" marT="22860" marB="22860">
                    <a:solidFill>
                      <a:srgbClr val="F2F6FC"/>
                    </a:solidFill>
                  </a:tcPr>
                </a:tc>
                <a:tc>
                  <a:txBody>
                    <a:bodyPr/>
                    <a:lstStyle/>
                    <a:p>
                      <a:pPr algn="ctr"/>
                      <a:r>
                        <a:rPr sz="950" b="0" i="0">
                          <a:solidFill>
                            <a:srgbClr val="1E2430"/>
                          </a:solidFill>
                          <a:latin typeface="Calibri"/>
                        </a:rPr>
                        <a:t>+.116</a:t>
                      </a:r>
                    </a:p>
                  </a:txBody>
                  <a:tcPr anchor="ctr" marL="54864" marR="54864" marT="22860" marB="22860">
                    <a:solidFill>
                      <a:srgbClr val="F2F6FC"/>
                    </a:solidFill>
                  </a:tcPr>
                </a:tc>
              </a:tr>
              <a:tr h="295101">
                <a:tc>
                  <a:txBody>
                    <a:bodyPr/>
                    <a:lstStyle/>
                    <a:p>
                      <a:pPr algn="l"/>
                      <a:r>
                        <a:rPr sz="950" b="0" i="0">
                          <a:solidFill>
                            <a:srgbClr val="1E2430"/>
                          </a:solidFill>
                          <a:latin typeface="Calibri"/>
                        </a:rPr>
                        <a:t>Date flexibility</a:t>
                      </a:r>
                    </a:p>
                  </a:txBody>
                  <a:tcPr anchor="ctr" marL="54864" marR="54864" marT="22860" marB="22860">
                    <a:solidFill>
                      <a:srgbClr val="FFFFFF"/>
                    </a:solidFill>
                  </a:tcPr>
                </a:tc>
                <a:tc>
                  <a:txBody>
                    <a:bodyPr/>
                    <a:lstStyle/>
                    <a:p>
                      <a:pPr algn="ctr"/>
                      <a:r>
                        <a:rPr sz="950" b="0" i="0">
                          <a:solidFill>
                            <a:srgbClr val="1E2430"/>
                          </a:solidFill>
                          <a:latin typeface="Calibri"/>
                        </a:rPr>
                        <a:t>+.298</a:t>
                      </a:r>
                    </a:p>
                  </a:txBody>
                  <a:tcPr anchor="ctr" marL="54864" marR="54864" marT="22860" marB="22860">
                    <a:solidFill>
                      <a:srgbClr val="FFFFFF"/>
                    </a:solidFill>
                  </a:tcPr>
                </a:tc>
                <a:tc>
                  <a:txBody>
                    <a:bodyPr/>
                    <a:lstStyle/>
                    <a:p>
                      <a:pPr algn="ctr"/>
                      <a:r>
                        <a:rPr sz="950" b="0" i="0">
                          <a:solidFill>
                            <a:srgbClr val="1E2430"/>
                          </a:solidFill>
                          <a:latin typeface="Calibri"/>
                        </a:rPr>
                        <a:t>+.345</a:t>
                      </a:r>
                    </a:p>
                  </a:txBody>
                  <a:tcPr anchor="ctr" marL="54864" marR="54864" marT="22860" marB="22860">
                    <a:solidFill>
                      <a:srgbClr val="FFFFFF"/>
                    </a:solidFill>
                  </a:tcPr>
                </a:tc>
                <a:tc>
                  <a:txBody>
                    <a:bodyPr/>
                    <a:lstStyle/>
                    <a:p>
                      <a:pPr algn="ctr"/>
                      <a:r>
                        <a:rPr sz="950" b="0" i="0">
                          <a:solidFill>
                            <a:srgbClr val="1E2430"/>
                          </a:solidFill>
                          <a:latin typeface="Calibri"/>
                        </a:rPr>
                        <a:t>+.069</a:t>
                      </a:r>
                    </a:p>
                  </a:txBody>
                  <a:tcPr anchor="ctr" marL="54864" marR="54864" marT="22860" marB="22860">
                    <a:solidFill>
                      <a:srgbClr val="FFFFFF"/>
                    </a:solidFill>
                  </a:tcPr>
                </a:tc>
              </a:tr>
              <a:tr h="295101">
                <a:tc>
                  <a:txBody>
                    <a:bodyPr/>
                    <a:lstStyle/>
                    <a:p>
                      <a:pPr algn="l"/>
                      <a:r>
                        <a:rPr sz="950" b="1" i="0">
                          <a:solidFill>
                            <a:srgbClr val="1E2430"/>
                          </a:solidFill>
                          <a:latin typeface="Calibri"/>
                        </a:rPr>
                        <a:t>Exploration breadth</a:t>
                      </a:r>
                    </a:p>
                  </a:txBody>
                  <a:tcPr anchor="ctr" marL="54864" marR="54864" marT="22860" marB="22860">
                    <a:solidFill>
                      <a:srgbClr val="E1F3E8"/>
                    </a:solidFill>
                  </a:tcPr>
                </a:tc>
                <a:tc>
                  <a:txBody>
                    <a:bodyPr/>
                    <a:lstStyle/>
                    <a:p>
                      <a:pPr algn="ctr"/>
                      <a:r>
                        <a:rPr sz="950" b="1" i="0">
                          <a:solidFill>
                            <a:srgbClr val="1E2430"/>
                          </a:solidFill>
                          <a:latin typeface="Calibri"/>
                        </a:rPr>
                        <a:t>+.392</a:t>
                      </a:r>
                    </a:p>
                  </a:txBody>
                  <a:tcPr anchor="ctr" marL="54864" marR="54864" marT="22860" marB="22860">
                    <a:solidFill>
                      <a:srgbClr val="E1F3E8"/>
                    </a:solidFill>
                  </a:tcPr>
                </a:tc>
                <a:tc>
                  <a:txBody>
                    <a:bodyPr/>
                    <a:lstStyle/>
                    <a:p>
                      <a:pPr algn="ctr"/>
                      <a:r>
                        <a:rPr sz="950" b="1" i="0">
                          <a:solidFill>
                            <a:srgbClr val="1E2430"/>
                          </a:solidFill>
                          <a:latin typeface="Calibri"/>
                        </a:rPr>
                        <a:t>+.060</a:t>
                      </a:r>
                    </a:p>
                  </a:txBody>
                  <a:tcPr anchor="ctr" marL="54864" marR="54864" marT="22860" marB="22860">
                    <a:solidFill>
                      <a:srgbClr val="E1F3E8"/>
                    </a:solidFill>
                  </a:tcPr>
                </a:tc>
                <a:tc>
                  <a:txBody>
                    <a:bodyPr/>
                    <a:lstStyle/>
                    <a:p>
                      <a:pPr algn="ctr"/>
                      <a:r>
                        <a:rPr sz="950" b="1" i="0">
                          <a:solidFill>
                            <a:srgbClr val="1E2430"/>
                          </a:solidFill>
                          <a:latin typeface="Calibri"/>
                        </a:rPr>
                        <a:t>+.167</a:t>
                      </a:r>
                    </a:p>
                  </a:txBody>
                  <a:tcPr anchor="ctr" marL="54864" marR="54864" marT="22860" marB="22860">
                    <a:solidFill>
                      <a:srgbClr val="E1F3E8"/>
                    </a:solidFill>
                  </a:tcPr>
                </a:tc>
              </a:tr>
              <a:tr h="295101">
                <a:tc>
                  <a:txBody>
                    <a:bodyPr/>
                    <a:lstStyle/>
                    <a:p>
                      <a:pPr algn="l"/>
                      <a:r>
                        <a:rPr sz="950" b="1" i="0">
                          <a:solidFill>
                            <a:srgbClr val="1E2430"/>
                          </a:solidFill>
                          <a:latin typeface="Calibri"/>
                        </a:rPr>
                        <a:t>Decisiveness</a:t>
                      </a:r>
                    </a:p>
                  </a:txBody>
                  <a:tcPr anchor="ctr" marL="54864" marR="54864" marT="22860" marB="22860">
                    <a:solidFill>
                      <a:srgbClr val="E1F3E8"/>
                    </a:solidFill>
                  </a:tcPr>
                </a:tc>
                <a:tc>
                  <a:txBody>
                    <a:bodyPr/>
                    <a:lstStyle/>
                    <a:p>
                      <a:pPr algn="ctr"/>
                      <a:r>
                        <a:rPr sz="950" b="1" i="0">
                          <a:solidFill>
                            <a:srgbClr val="1E2430"/>
                          </a:solidFill>
                          <a:latin typeface="Calibri"/>
                        </a:rPr>
                        <a:t>−.162</a:t>
                      </a:r>
                    </a:p>
                  </a:txBody>
                  <a:tcPr anchor="ctr" marL="54864" marR="54864" marT="22860" marB="22860">
                    <a:solidFill>
                      <a:srgbClr val="E1F3E8"/>
                    </a:solidFill>
                  </a:tcPr>
                </a:tc>
                <a:tc>
                  <a:txBody>
                    <a:bodyPr/>
                    <a:lstStyle/>
                    <a:p>
                      <a:pPr algn="ctr"/>
                      <a:r>
                        <a:rPr sz="950" b="1" i="0">
                          <a:solidFill>
                            <a:srgbClr val="1E2430"/>
                          </a:solidFill>
                          <a:latin typeface="Calibri"/>
                        </a:rPr>
                        <a:t>−.509</a:t>
                      </a:r>
                    </a:p>
                  </a:txBody>
                  <a:tcPr anchor="ctr" marL="54864" marR="54864" marT="22860" marB="22860">
                    <a:solidFill>
                      <a:srgbClr val="E1F3E8"/>
                    </a:solidFill>
                  </a:tcPr>
                </a:tc>
                <a:tc>
                  <a:txBody>
                    <a:bodyPr/>
                    <a:lstStyle/>
                    <a:p>
                      <a:pPr algn="ctr"/>
                      <a:r>
                        <a:rPr sz="950" b="1" i="0">
                          <a:solidFill>
                            <a:srgbClr val="1E2430"/>
                          </a:solidFill>
                          <a:latin typeface="Calibri"/>
                        </a:rPr>
                        <a:t>+.039</a:t>
                      </a:r>
                    </a:p>
                  </a:txBody>
                  <a:tcPr anchor="ctr" marL="54864" marR="54864" marT="22860" marB="22860">
                    <a:solidFill>
                      <a:srgbClr val="E1F3E8"/>
                    </a:solidFill>
                  </a:tcPr>
                </a:tc>
              </a:tr>
              <a:tr h="295110">
                <a:tc>
                  <a:txBody>
                    <a:bodyPr/>
                    <a:lstStyle/>
                    <a:p>
                      <a:pPr algn="l"/>
                      <a:r>
                        <a:rPr sz="950" b="0" i="0">
                          <a:solidFill>
                            <a:srgbClr val="1E2430"/>
                          </a:solidFill>
                          <a:latin typeface="Calibri"/>
                        </a:rPr>
                        <a:t>Revision tendency</a:t>
                      </a:r>
                    </a:p>
                  </a:txBody>
                  <a:tcPr anchor="ctr" marL="54864" marR="54864" marT="22860" marB="22860">
                    <a:solidFill>
                      <a:srgbClr val="F2F6FC"/>
                    </a:solidFill>
                  </a:tcPr>
                </a:tc>
                <a:tc>
                  <a:txBody>
                    <a:bodyPr/>
                    <a:lstStyle/>
                    <a:p>
                      <a:pPr algn="ctr"/>
                      <a:r>
                        <a:rPr sz="950" b="0" i="0">
                          <a:solidFill>
                            <a:srgbClr val="1E2430"/>
                          </a:solidFill>
                          <a:latin typeface="Calibri"/>
                        </a:rPr>
                        <a:t>+.379</a:t>
                      </a:r>
                    </a:p>
                  </a:txBody>
                  <a:tcPr anchor="ctr" marL="54864" marR="54864" marT="22860" marB="22860">
                    <a:solidFill>
                      <a:srgbClr val="F2F6FC"/>
                    </a:solidFill>
                  </a:tcPr>
                </a:tc>
                <a:tc>
                  <a:txBody>
                    <a:bodyPr/>
                    <a:lstStyle/>
                    <a:p>
                      <a:pPr algn="ctr"/>
                      <a:r>
                        <a:rPr sz="950" b="0" i="0">
                          <a:solidFill>
                            <a:srgbClr val="1E2430"/>
                          </a:solidFill>
                          <a:latin typeface="Calibri"/>
                        </a:rPr>
                        <a:t>+.127</a:t>
                      </a:r>
                    </a:p>
                  </a:txBody>
                  <a:tcPr anchor="ctr" marL="54864" marR="54864" marT="22860" marB="22860">
                    <a:solidFill>
                      <a:srgbClr val="F2F6FC"/>
                    </a:solidFill>
                  </a:tcPr>
                </a:tc>
                <a:tc>
                  <a:txBody>
                    <a:bodyPr/>
                    <a:lstStyle/>
                    <a:p>
                      <a:pPr algn="ctr"/>
                      <a:r>
                        <a:rPr sz="950" b="0" i="0">
                          <a:solidFill>
                            <a:srgbClr val="1E2430"/>
                          </a:solidFill>
                          <a:latin typeface="Calibri"/>
                        </a:rPr>
                        <a:t>+.128</a:t>
                      </a:r>
                    </a:p>
                  </a:txBody>
                  <a:tcPr anchor="ctr" marL="54864" marR="54864" marT="22860" marB="22860">
                    <a:solidFill>
                      <a:srgbClr val="F2F6FC"/>
                    </a:solidFill>
                  </a:tcPr>
                </a:tc>
              </a:tr>
            </a:tbl>
          </a:graphicData>
        </a:graphic>
      </p:graphicFrame>
      <p:sp>
        <p:nvSpPr>
          <p:cNvPr id="15" name="Rounded Rectangle 14"/>
          <p:cNvSpPr/>
          <p:nvPr/>
        </p:nvSpPr>
        <p:spPr>
          <a:xfrm>
            <a:off x="7269480" y="4736592"/>
            <a:ext cx="4599432" cy="1709928"/>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9480" y="4736592"/>
            <a:ext cx="459943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How to Read the 3 Principal Components</a:t>
            </a:r>
          </a:p>
        </p:txBody>
      </p:sp>
      <p:sp>
        <p:nvSpPr>
          <p:cNvPr id="17" name="TextBox 16"/>
          <p:cNvSpPr txBox="1"/>
          <p:nvPr/>
        </p:nvSpPr>
        <p:spPr>
          <a:xfrm>
            <a:off x="7360920" y="5120640"/>
            <a:ext cx="4416552" cy="1271016"/>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PC1 (40.8% var.) — Exploration vs. Rigidity:</a:t>
            </a:r>
            <a:r>
              <a:rPr sz="1000" b="0" i="0">
                <a:solidFill>
                  <a:srgbClr val="1E2430"/>
                </a:solidFill>
                <a:latin typeface="Calibri"/>
              </a:rPr>
              <a:t> Loaded on slot revisions (+.42), exploration breadth (+.39), and turns (+.39). Separates </a:t>
            </a:r>
            <a:r>
              <a:rPr sz="1000" b="0" i="1">
                <a:solidFill>
                  <a:srgbClr val="1E2430"/>
                </a:solidFill>
                <a:latin typeface="Calibri"/>
              </a:rPr>
              <a:t>Open Explorers</a:t>
            </a:r>
            <a:r>
              <a:rPr sz="1000" b="0" i="0">
                <a:solidFill>
                  <a:srgbClr val="1E2430"/>
                </a:solidFill>
                <a:latin typeface="Calibri"/>
              </a:rPr>
              <a:t> (right) from </a:t>
            </a:r>
            <a:r>
              <a:rPr sz="1000" b="0" i="1">
                <a:solidFill>
                  <a:srgbClr val="1E2430"/>
                </a:solidFill>
                <a:latin typeface="Calibri"/>
              </a:rPr>
              <a:t>Rigid-Constraint Seekers</a:t>
            </a:r>
            <a:r>
              <a:rPr sz="1000" b="0" i="0">
                <a:solidFill>
                  <a:srgbClr val="1E2430"/>
                </a:solidFill>
                <a:latin typeface="Calibri"/>
              </a:rPr>
              <a:t> (left).</a:t>
            </a:r>
          </a:p>
          <a:p>
            <a:pPr>
              <a:spcAft>
                <a:spcPts val="400"/>
              </a:spcAft>
            </a:pPr>
            <a:r>
              <a:rPr sz="1000" b="0" i="0">
                <a:solidFill>
                  <a:srgbClr val="1E2430"/>
                </a:solidFill>
                <a:latin typeface="Calibri"/>
              </a:rPr>
              <a:t>• </a:t>
            </a:r>
            <a:r>
              <a:rPr sz="1000" b="1" i="0">
                <a:solidFill>
                  <a:srgbClr val="1E2430"/>
                </a:solidFill>
                <a:latin typeface="Calibri"/>
              </a:rPr>
              <a:t>PC2 (17.2% var.) — Decisiveness &amp; Price Focus:</a:t>
            </a:r>
            <a:r>
              <a:rPr sz="1000" b="0" i="0">
                <a:solidFill>
                  <a:srgbClr val="1E2430"/>
                </a:solidFill>
                <a:latin typeface="Calibri"/>
              </a:rPr>
              <a:t> Loaded on decisiveness (−.51) and price sensitivity (−.43). Separates </a:t>
            </a:r>
            <a:r>
              <a:rPr sz="1000" b="0" i="1">
                <a:solidFill>
                  <a:srgbClr val="1E2430"/>
                </a:solidFill>
                <a:latin typeface="Calibri"/>
              </a:rPr>
              <a:t>Decisive Bookers</a:t>
            </a:r>
            <a:r>
              <a:rPr sz="1000" b="0" i="0">
                <a:solidFill>
                  <a:srgbClr val="1E2430"/>
                </a:solidFill>
                <a:latin typeface="Calibri"/>
              </a:rPr>
              <a:t> (bottom) from explorers.</a:t>
            </a:r>
          </a:p>
          <a:p>
            <a:pPr>
              <a:spcAft>
                <a:spcPts val="400"/>
              </a:spcAft>
            </a:pPr>
            <a:r>
              <a:rPr sz="1000" b="0" i="0">
                <a:solidFill>
                  <a:srgbClr val="1E2430"/>
                </a:solidFill>
                <a:latin typeface="Calibri"/>
              </a:rPr>
              <a:t>• </a:t>
            </a:r>
            <a:r>
              <a:rPr sz="1000" b="1" i="0">
                <a:solidFill>
                  <a:srgbClr val="1E2430"/>
                </a:solidFill>
                <a:latin typeface="Calibri"/>
              </a:rPr>
              <a:t>PC3 (10.6% var.) — User Verbosity:</a:t>
            </a:r>
            <a:r>
              <a:rPr sz="1000" b="0" i="0">
                <a:solidFill>
                  <a:srgbClr val="1E2430"/>
                </a:solidFill>
                <a:latin typeface="Calibri"/>
              </a:rPr>
              <a:t> Isolates words per turn (+.89).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14</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Why Each Statistical Test Was Chosen &amp; Everyday Real-World Analogies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#1: Explaining the exact statistical test choice for RQ1–RQ4 with intuitive real-world parallels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70" cy="5074920"/>
        </p:xfrm>
        <a:graphic>
          <a:graphicData uri="http://schemas.openxmlformats.org/drawingml/2006/table">
            <a:tbl>
              <a:tblPr firstRow="1" bandRow="1">
                <a:tableStyleId>{5C22544A-7EE6-4342-B048-85BDC9FD1C3A}</a:tableStyleId>
              </a:tblPr>
              <a:tblGrid>
                <a:gridCol w="1741496"/>
                <a:gridCol w="1741496"/>
                <a:gridCol w="2566416"/>
                <a:gridCol w="2749731"/>
                <a:gridCol w="2749731"/>
              </a:tblGrid>
              <a:tr h="1014984">
                <a:tc>
                  <a:txBody>
                    <a:bodyPr/>
                    <a:lstStyle/>
                    <a:p>
                      <a:pPr algn="l"/>
                      <a:r>
                        <a:rPr sz="1100" b="1" i="0">
                          <a:solidFill>
                            <a:srgbClr val="FFFFFF"/>
                          </a:solidFill>
                          <a:latin typeface="Calibri"/>
                        </a:rPr>
                        <a:t>RQ &amp; Experimental Structure</a:t>
                      </a:r>
                    </a:p>
                  </a:txBody>
                  <a:tcPr anchor="ctr" marL="54864" marR="54864" marT="27432" marB="27432">
                    <a:solidFill>
                      <a:srgbClr val="14325C"/>
                    </a:solidFill>
                  </a:tcPr>
                </a:tc>
                <a:tc>
                  <a:txBody>
                    <a:bodyPr/>
                    <a:lstStyle/>
                    <a:p>
                      <a:pPr algn="l"/>
                      <a:r>
                        <a:rPr sz="1100" b="1" i="0">
                          <a:solidFill>
                            <a:srgbClr val="FFFFFF"/>
                          </a:solidFill>
                          <a:latin typeface="Calibri"/>
                        </a:rPr>
                        <a:t>Chosen Statistical Test</a:t>
                      </a:r>
                    </a:p>
                  </a:txBody>
                  <a:tcPr anchor="ctr" marL="54864" marR="54864" marT="27432" marB="27432">
                    <a:solidFill>
                      <a:srgbClr val="14325C"/>
                    </a:solidFill>
                  </a:tcPr>
                </a:tc>
                <a:tc>
                  <a:txBody>
                    <a:bodyPr/>
                    <a:lstStyle/>
                    <a:p>
                      <a:pPr algn="l"/>
                      <a:r>
                        <a:rPr sz="1100" b="1" i="0">
                          <a:solidFill>
                            <a:srgbClr val="FFFFFF"/>
                          </a:solidFill>
                          <a:latin typeface="Calibri"/>
                        </a:rPr>
                        <a:t>Why This Exact Test Is Mathematically Required</a:t>
                      </a:r>
                    </a:p>
                  </a:txBody>
                  <a:tcPr anchor="ctr" marL="54864" marR="54864" marT="27432" marB="27432">
                    <a:solidFill>
                      <a:srgbClr val="14325C"/>
                    </a:solidFill>
                  </a:tcPr>
                </a:tc>
                <a:tc>
                  <a:txBody>
                    <a:bodyPr/>
                    <a:lstStyle/>
                    <a:p>
                      <a:pPr algn="l"/>
                      <a:r>
                        <a:rPr sz="1100" b="1" i="0">
                          <a:solidFill>
                            <a:srgbClr val="FFFFFF"/>
                          </a:solidFill>
                          <a:latin typeface="Calibri"/>
                        </a:rPr>
                        <a:t>Classic Real-World Analogy (Where This Test Is Standard)</a:t>
                      </a:r>
                    </a:p>
                  </a:txBody>
                  <a:tcPr anchor="ctr" marL="54864" marR="54864" marT="27432" marB="27432">
                    <a:solidFill>
                      <a:srgbClr val="14325C"/>
                    </a:solidFill>
                  </a:tcPr>
                </a:tc>
                <a:tc>
                  <a:txBody>
                    <a:bodyPr/>
                    <a:lstStyle/>
                    <a:p>
                      <a:pPr algn="l"/>
                      <a:r>
                        <a:rPr sz="1100" b="1" i="0">
                          <a:solidFill>
                            <a:srgbClr val="FFFFFF"/>
                          </a:solidFill>
                          <a:latin typeface="Calibri"/>
                        </a:rPr>
                        <a:t>Why Our Chatbot Scenario Is Identical</a:t>
                      </a:r>
                    </a:p>
                  </a:txBody>
                  <a:tcPr anchor="ctr" marL="54864" marR="54864" marT="27432" marB="27432">
                    <a:solidFill>
                      <a:srgbClr val="14325C"/>
                    </a:solidFill>
                  </a:tcPr>
                </a:tc>
              </a:tr>
              <a:tr h="1014984">
                <a:tc>
                  <a:txBody>
                    <a:bodyPr/>
                    <a:lstStyle/>
                    <a:p>
                      <a:pPr algn="l"/>
                      <a:r>
                        <a:rPr sz="980" b="1" i="0">
                          <a:solidFill>
                            <a:srgbClr val="1E2430"/>
                          </a:solidFill>
                          <a:latin typeface="Calibri"/>
                        </a:rPr>
                        <a:t>RQ1: Comparing 3 Clustering Algorithms across N = 159 independent runs
(3 groups, 1 continuous DV: Silhouette)</a:t>
                      </a:r>
                    </a:p>
                  </a:txBody>
                  <a:tcPr anchor="ctr" marL="54864" marR="54864" marT="22860" marB="22860">
                    <a:solidFill>
                      <a:srgbClr val="E1F3E8"/>
                    </a:solidFill>
                  </a:tcPr>
                </a:tc>
                <a:tc>
                  <a:txBody>
                    <a:bodyPr/>
                    <a:lstStyle/>
                    <a:p>
                      <a:pPr algn="l"/>
                      <a:r>
                        <a:rPr sz="980" b="1" i="0">
                          <a:solidFill>
                            <a:srgbClr val="1E2430"/>
                          </a:solidFill>
                          <a:latin typeface="Calibri"/>
                        </a:rPr>
                        <a:t>One-Way Between-Subjects ANOVA
+ Welch's ANOVA
+ Kruskal–Wallis H
+ Tukey HSD / Games–Howell</a:t>
                      </a:r>
                    </a:p>
                  </a:txBody>
                  <a:tcPr anchor="ctr" marL="54864" marR="54864" marT="22860" marB="22860">
                    <a:solidFill>
                      <a:srgbClr val="E1F3E8"/>
                    </a:solidFill>
                  </a:tcPr>
                </a:tc>
                <a:tc>
                  <a:txBody>
                    <a:bodyPr/>
                    <a:lstStyle/>
                    <a:p>
                      <a:pPr algn="l"/>
                      <a:r>
                        <a:rPr sz="980" b="1" i="0">
                          <a:solidFill>
                            <a:srgbClr val="1E2430"/>
                          </a:solidFill>
                          <a:latin typeface="Calibri"/>
                        </a:rPr>
                        <a:t>Comparing means of k = 3 independent groups at once. Running three separate t-tests would inflate Type I false-positive risk from 5% to 1 − (0.95)³ = 14.3%. Omnibus ANOVA controls α = .05 across all 3 algorithms.</a:t>
                      </a:r>
                    </a:p>
                  </a:txBody>
                  <a:tcPr anchor="ctr" marL="54864" marR="54864" marT="22860" marB="22860">
                    <a:solidFill>
                      <a:srgbClr val="E1F3E8"/>
                    </a:solidFill>
                  </a:tcPr>
                </a:tc>
                <a:tc>
                  <a:txBody>
                    <a:bodyPr/>
                    <a:lstStyle/>
                    <a:p>
                      <a:pPr algn="l"/>
                      <a:r>
                        <a:rPr sz="980" b="1" i="0">
                          <a:solidFill>
                            <a:srgbClr val="1E2430"/>
                          </a:solidFill>
                          <a:latin typeface="Calibri"/>
                        </a:rPr>
                        <a:t>Clinical Trial Comparing 3 Blood-Pressure Drugs:</a:t>
                      </a:r>
                      <a:r>
                        <a:rPr sz="980" b="1" i="0">
                          <a:solidFill>
                            <a:srgbClr val="1E2430"/>
                          </a:solidFill>
                          <a:latin typeface="Calibri"/>
                        </a:rPr>
                        <a:t>
159 patients randomly assigned (53 per drug) to Drug A, Drug B, or Drug C; measure blood-pressure drop.</a:t>
                      </a:r>
                    </a:p>
                  </a:txBody>
                  <a:tcPr anchor="ctr" marL="54864" marR="54864" marT="22860" marB="22860">
                    <a:solidFill>
                      <a:srgbClr val="E1F3E8"/>
                    </a:solidFill>
                  </a:tcPr>
                </a:tc>
                <a:tc>
                  <a:txBody>
                    <a:bodyPr/>
                    <a:lstStyle/>
                    <a:p>
                      <a:pPr algn="l"/>
                      <a:r>
                        <a:rPr sz="980" b="1" i="0">
                          <a:solidFill>
                            <a:srgbClr val="1E2430"/>
                          </a:solidFill>
                          <a:latin typeface="Calibri"/>
                        </a:rPr>
                        <a:t>Each of our 159 subsample runs (53 K-Means, 53 Ward, 53 HDBSCAN) is an independent trial producing a continuous Silhouette score.</a:t>
                      </a:r>
                    </a:p>
                  </a:txBody>
                  <a:tcPr anchor="ctr" marL="54864" marR="54864" marT="22860" marB="22860">
                    <a:solidFill>
                      <a:srgbClr val="E1F3E8"/>
                    </a:solidFill>
                  </a:tcPr>
                </a:tc>
              </a:tr>
              <a:tr h="1014984">
                <a:tc>
                  <a:txBody>
                    <a:bodyPr/>
                    <a:lstStyle/>
                    <a:p>
                      <a:pPr algn="l"/>
                      <a:r>
                        <a:rPr sz="980" b="1" i="0">
                          <a:solidFill>
                            <a:srgbClr val="1E2430"/>
                          </a:solidFill>
                          <a:latin typeface="Calibri"/>
                        </a:rPr>
                        <a:t>RQ2: Testing 3 Prompting Strategies on the SAME N = 33 held-out dialogues
(Within-subjects design, 99 calls)</a:t>
                      </a:r>
                    </a:p>
                  </a:txBody>
                  <a:tcPr anchor="ctr" marL="54864" marR="54864" marT="22860" marB="22860">
                    <a:solidFill>
                      <a:srgbClr val="E1F3E8"/>
                    </a:solidFill>
                  </a:tcPr>
                </a:tc>
                <a:tc>
                  <a:txBody>
                    <a:bodyPr/>
                    <a:lstStyle/>
                    <a:p>
                      <a:pPr algn="l"/>
                      <a:r>
                        <a:rPr sz="980" b="1" i="0">
                          <a:solidFill>
                            <a:srgbClr val="1E2430"/>
                          </a:solidFill>
                          <a:latin typeface="Calibri"/>
                        </a:rPr>
                        <a:t>One-Way Repeated-Measures ANOVA
(Greenhouse–Geisser ε correction)
+ Friedman χ² Test
+ Holm Paired t-tests</a:t>
                      </a:r>
                    </a:p>
                  </a:txBody>
                  <a:tcPr anchor="ctr" marL="54864" marR="54864" marT="22860" marB="22860">
                    <a:solidFill>
                      <a:srgbClr val="E1F3E8"/>
                    </a:solidFill>
                  </a:tcPr>
                </a:tc>
                <a:tc>
                  <a:txBody>
                    <a:bodyPr/>
                    <a:lstStyle/>
                    <a:p>
                      <a:pPr algn="l"/>
                      <a:r>
                        <a:rPr sz="980" b="1" i="0">
                          <a:solidFill>
                            <a:srgbClr val="1E2430"/>
                          </a:solidFill>
                          <a:latin typeface="Calibri"/>
                        </a:rPr>
                        <a:t>Every dialogue is tested under ALL 3 prompts (Zero-Shot, Static, Cluster-Adaptive). Repeated-Measures ANOVA subtracts out baseline dialogue-to-dialogue difficulty variance, isolating the pure within-dialogue effect of the prompt.</a:t>
                      </a:r>
                    </a:p>
                  </a:txBody>
                  <a:tcPr anchor="ctr" marL="54864" marR="54864" marT="22860" marB="22860">
                    <a:solidFill>
                      <a:srgbClr val="E1F3E8"/>
                    </a:solidFill>
                  </a:tcPr>
                </a:tc>
                <a:tc>
                  <a:txBody>
                    <a:bodyPr/>
                    <a:lstStyle/>
                    <a:p>
                      <a:pPr algn="l"/>
                      <a:r>
                        <a:rPr sz="980" b="1" i="0">
                          <a:solidFill>
                            <a:srgbClr val="1E2430"/>
                          </a:solidFill>
                          <a:latin typeface="Calibri"/>
                        </a:rPr>
                        <a:t>Coffee Tasting Panel (Crossover Trial):</a:t>
                      </a:r>
                      <a:r>
                        <a:rPr sz="980" b="1" i="0">
                          <a:solidFill>
                            <a:srgbClr val="1E2430"/>
                          </a:solidFill>
                          <a:latin typeface="Calibri"/>
                        </a:rPr>
                        <a:t>
The same 33 expert tasters rate Blend A, Blend B, and Blend C. Separating taster-level harshness makes the test much more sensitive.</a:t>
                      </a:r>
                    </a:p>
                  </a:txBody>
                  <a:tcPr anchor="ctr" marL="54864" marR="54864" marT="22860" marB="22860">
                    <a:solidFill>
                      <a:srgbClr val="E1F3E8"/>
                    </a:solidFill>
                  </a:tcPr>
                </a:tc>
                <a:tc>
                  <a:txBody>
                    <a:bodyPr/>
                    <a:lstStyle/>
                    <a:p>
                      <a:pPr algn="l"/>
                      <a:r>
                        <a:rPr sz="980" b="1" i="0">
                          <a:solidFill>
                            <a:srgbClr val="1E2430"/>
                          </a:solidFill>
                          <a:latin typeface="Calibri"/>
                        </a:rPr>
                        <a:t>Dialogues vary wildly in topic and difficulty. Evaluating all 3 prompts on the exact same 33 dialogue prefixes removes dialogue noise (ρ = .50).</a:t>
                      </a:r>
                    </a:p>
                  </a:txBody>
                  <a:tcPr anchor="ctr" marL="54864" marR="54864" marT="22860" marB="22860">
                    <a:solidFill>
                      <a:srgbClr val="E1F3E8"/>
                    </a:solidFill>
                  </a:tcPr>
                </a:tc>
              </a:tr>
              <a:tr h="1014984">
                <a:tc>
                  <a:txBody>
                    <a:bodyPr/>
                    <a:lstStyle/>
                    <a:p>
                      <a:pPr algn="l"/>
                      <a:r>
                        <a:rPr sz="980" b="1" i="0">
                          <a:solidFill>
                            <a:srgbClr val="1E2430"/>
                          </a:solidFill>
                          <a:latin typeface="Calibri"/>
                        </a:rPr>
                        <a:t>RQ3: Crossing Rules Mode (Off vs. Active) × Prompting (Zero-Shot vs. Cluster-Adaptive)
(N = 144, n = 36/cell)</a:t>
                      </a:r>
                    </a:p>
                  </a:txBody>
                  <a:tcPr anchor="ctr" marL="54864" marR="54864" marT="22860" marB="22860">
                    <a:solidFill>
                      <a:srgbClr val="E1F3E8"/>
                    </a:solidFill>
                  </a:tcPr>
                </a:tc>
                <a:tc>
                  <a:txBody>
                    <a:bodyPr/>
                    <a:lstStyle/>
                    <a:p>
                      <a:pPr algn="l"/>
                      <a:r>
                        <a:rPr sz="980" b="1" i="0">
                          <a:solidFill>
                            <a:srgbClr val="1E2430"/>
                          </a:solidFill>
                          <a:latin typeface="Calibri"/>
                        </a:rPr>
                        <a:t>2 × 2 Between-Subjects Factorial ANOVA
+ HC3 Robust SE
+ Aligned Rank Transform (ART) ANOVA</a:t>
                      </a:r>
                    </a:p>
                  </a:txBody>
                  <a:tcPr anchor="ctr" marL="54864" marR="54864" marT="22860" marB="22860">
                    <a:solidFill>
                      <a:srgbClr val="E1F3E8"/>
                    </a:solidFill>
                  </a:tcPr>
                </a:tc>
                <a:tc>
                  <a:txBody>
                    <a:bodyPr/>
                    <a:lstStyle/>
                    <a:p>
                      <a:pPr algn="l"/>
                      <a:r>
                        <a:rPr sz="980" b="1" i="0">
                          <a:solidFill>
                            <a:srgbClr val="1E2430"/>
                          </a:solidFill>
                          <a:latin typeface="Calibri"/>
                        </a:rPr>
                        <a:t>We have TWO simultaneous independent variables (Rules Mode and Prompting Mode). Only a 2 × 2 Factorial ANOVA can test (1) Main Effect of Rules, (2) Main Effect of Prompting, and (3) their INTERACTION (Rules × Prompting).</a:t>
                      </a:r>
                    </a:p>
                  </a:txBody>
                  <a:tcPr anchor="ctr" marL="54864" marR="54864" marT="22860" marB="22860">
                    <a:solidFill>
                      <a:srgbClr val="E1F3E8"/>
                    </a:solidFill>
                  </a:tcPr>
                </a:tc>
                <a:tc>
                  <a:txBody>
                    <a:bodyPr/>
                    <a:lstStyle/>
                    <a:p>
                      <a:pPr algn="l"/>
                      <a:r>
                        <a:rPr sz="980" b="1" i="0">
                          <a:solidFill>
                            <a:srgbClr val="1E2430"/>
                          </a:solidFill>
                          <a:latin typeface="Calibri"/>
                        </a:rPr>
                        <a:t>Agricultural Crop Yield Trial (Fertilizer × Irrigation):</a:t>
                      </a:r>
                      <a:r>
                        <a:rPr sz="980" b="1" i="0">
                          <a:solidFill>
                            <a:srgbClr val="1E2430"/>
                          </a:solidFill>
                          <a:latin typeface="Calibri"/>
                        </a:rPr>
                        <a:t>
Testing whether Fertilizer only boosts yield when Irrigation is ALSO active (synergistic / protective interaction).</a:t>
                      </a:r>
                    </a:p>
                  </a:txBody>
                  <a:tcPr anchor="ctr" marL="54864" marR="54864" marT="22860" marB="22860">
                    <a:solidFill>
                      <a:srgbClr val="E1F3E8"/>
                    </a:solidFill>
                  </a:tcPr>
                </a:tc>
                <a:tc>
                  <a:txBody>
                    <a:bodyPr/>
                    <a:lstStyle/>
                    <a:p>
                      <a:pPr algn="l"/>
                      <a:r>
                        <a:rPr sz="980" b="1" i="0">
                          <a:solidFill>
                            <a:srgbClr val="1E2430"/>
                          </a:solidFill>
                          <a:latin typeface="Calibri"/>
                        </a:rPr>
                        <a:t>Cluster-Adaptive prompting leaks entities when Rules are Off (.359), but Rules Active eliminates that leakage (.000)—a classic protective interaction!</a:t>
                      </a:r>
                    </a:p>
                  </a:txBody>
                  <a:tcPr anchor="ctr" marL="54864" marR="54864" marT="22860" marB="22860">
                    <a:solidFill>
                      <a:srgbClr val="E1F3E8"/>
                    </a:solidFill>
                  </a:tcPr>
                </a:tc>
              </a:tr>
              <a:tr h="1014984">
                <a:tc>
                  <a:txBody>
                    <a:bodyPr/>
                    <a:lstStyle/>
                    <a:p>
                      <a:pPr algn="l"/>
                      <a:r>
                        <a:rPr sz="980" b="1" i="0">
                          <a:solidFill>
                            <a:srgbClr val="1E2430"/>
                          </a:solidFill>
                          <a:latin typeface="Calibri"/>
                        </a:rPr>
                        <a:t>RQ4: Crossing Prompting (2 levels) × Traveler Archetype (3 levels)
(N = 180, n = 30/cell)</a:t>
                      </a:r>
                    </a:p>
                  </a:txBody>
                  <a:tcPr anchor="ctr" marL="54864" marR="54864" marT="22860" marB="22860">
                    <a:solidFill>
                      <a:srgbClr val="E1F3E8"/>
                    </a:solidFill>
                  </a:tcPr>
                </a:tc>
                <a:tc>
                  <a:txBody>
                    <a:bodyPr/>
                    <a:lstStyle/>
                    <a:p>
                      <a:pPr algn="l"/>
                      <a:r>
                        <a:rPr sz="980" b="1" i="0">
                          <a:solidFill>
                            <a:srgbClr val="1E2430"/>
                          </a:solidFill>
                          <a:latin typeface="Calibri"/>
                        </a:rPr>
                        <a:t>2 × 3 Between-Subjects Factorial ANOVA on log(Turns) &amp; RER
+ HC3 + ART
+ Welch Simple Contrasts</a:t>
                      </a:r>
                    </a:p>
                  </a:txBody>
                  <a:tcPr anchor="ctr" marL="54864" marR="54864" marT="22860" marB="22860">
                    <a:solidFill>
                      <a:srgbClr val="E1F3E8"/>
                    </a:solidFill>
                  </a:tcPr>
                </a:tc>
                <a:tc>
                  <a:txBody>
                    <a:bodyPr/>
                    <a:lstStyle/>
                    <a:p>
                      <a:pPr algn="l"/>
                      <a:r>
                        <a:rPr sz="980" b="1" i="0">
                          <a:solidFill>
                            <a:srgbClr val="1E2430"/>
                          </a:solidFill>
                          <a:latin typeface="Calibri"/>
                        </a:rPr>
                        <a:t>Tests whether the turn-saving benefit of Cluster-Adaptive prompting is uniform across all travelers or moderated by Traveler Archetype (2 × 3 Interaction), using log(Turns) to normalize right-skewed count data.</a:t>
                      </a:r>
                    </a:p>
                  </a:txBody>
                  <a:tcPr anchor="ctr" marL="54864" marR="54864" marT="22860" marB="22860">
                    <a:solidFill>
                      <a:srgbClr val="E1F3E8"/>
                    </a:solidFill>
                  </a:tcPr>
                </a:tc>
                <a:tc>
                  <a:txBody>
                    <a:bodyPr/>
                    <a:lstStyle/>
                    <a:p>
                      <a:pPr algn="l"/>
                      <a:r>
                        <a:rPr sz="980" b="1" i="0">
                          <a:solidFill>
                            <a:srgbClr val="1E2430"/>
                          </a:solidFill>
                          <a:latin typeface="Calibri"/>
                        </a:rPr>
                        <a:t>Education Trial (Teaching Method × Student Learning Style):</a:t>
                      </a:r>
                      <a:r>
                        <a:rPr sz="980" b="1" i="0">
                          <a:solidFill>
                            <a:srgbClr val="1E2430"/>
                          </a:solidFill>
                          <a:latin typeface="Calibri"/>
                        </a:rPr>
                        <a:t>
Testing whether interactive tutoring vs. lecture helps Visual, Auditory, and Hands-On learners by different amounts.</a:t>
                      </a:r>
                    </a:p>
                  </a:txBody>
                  <a:tcPr anchor="ctr" marL="54864" marR="54864" marT="22860" marB="22860">
                    <a:solidFill>
                      <a:srgbClr val="E1F3E8"/>
                    </a:solidFill>
                  </a:tcPr>
                </a:tc>
                <a:tc>
                  <a:txBody>
                    <a:bodyPr/>
                    <a:lstStyle/>
                    <a:p>
                      <a:pPr algn="l"/>
                      <a:r>
                        <a:rPr sz="980" b="1" i="0">
                          <a:solidFill>
                            <a:srgbClr val="1E2430"/>
                          </a:solidFill>
                          <a:latin typeface="Calibri"/>
                        </a:rPr>
                        <a:t>All 3 archetypes benefit from adaptive prompting, but Rigid-Constraint Seekers gain the most (−42.7% vs. −29.5%), creating a 2 × 3 interaction.</a:t>
                      </a:r>
                    </a:p>
                  </a:txBody>
                  <a:tcPr anchor="ctr" marL="54864" marR="54864" marT="22860" marB="22860">
                    <a:solidFill>
                      <a:srgbClr val="E1F3E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15</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How ANOVA, Effect Sizes (η²), and Factorial Interactions Work</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Translating F-ratios, Greenhouse–Geisser corrections, and interaction terms into intuitive signal-to-noise ratios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3703320" cy="33832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37033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1. The F-Statistic: Signal-to-Noise Ratio</a:t>
            </a:r>
          </a:p>
        </p:txBody>
      </p:sp>
      <p:sp>
        <p:nvSpPr>
          <p:cNvPr id="13" name="TextBox 12"/>
          <p:cNvSpPr txBox="1"/>
          <p:nvPr/>
        </p:nvSpPr>
        <p:spPr>
          <a:xfrm>
            <a:off x="411479" y="1755648"/>
            <a:ext cx="3520439" cy="2944368"/>
          </a:xfrm>
          <a:prstGeom prst="rect">
            <a:avLst/>
          </a:prstGeom>
          <a:noFill/>
        </p:spPr>
        <p:txBody>
          <a:bodyPr wrap="square" lIns="36576" rIns="36576" tIns="18288" bIns="18288">
            <a:spAutoFit/>
          </a:bodyPr>
          <a:lstStyle/>
          <a:p>
            <a:pPr>
              <a:spcAft>
                <a:spcPts val="400"/>
              </a:spcAft>
            </a:pPr>
            <a:r>
              <a:rPr sz="1080" b="0" i="0">
                <a:solidFill>
                  <a:srgbClr val="1E2430"/>
                </a:solidFill>
                <a:latin typeface="Calibri"/>
              </a:rPr>
              <a:t>• </a:t>
            </a:r>
            <a:r>
              <a:rPr sz="1080" b="1" i="0">
                <a:solidFill>
                  <a:srgbClr val="1E2430"/>
                </a:solidFill>
                <a:latin typeface="Calibri"/>
              </a:rPr>
              <a:t>Formula:</a:t>
            </a:r>
            <a:r>
              <a:rPr sz="1080" b="0" i="0">
                <a:solidFill>
                  <a:srgbClr val="1E2430"/>
                </a:solidFill>
                <a:latin typeface="Calibri"/>
              </a:rPr>
              <a:t>  </a:t>
            </a:r>
            <a:r>
              <a:rPr sz="1080" b="0" i="1">
                <a:solidFill>
                  <a:srgbClr val="1E2430"/>
                </a:solidFill>
                <a:latin typeface="Calibri"/>
              </a:rPr>
              <a:t>F</a:t>
            </a:r>
            <a:r>
              <a:rPr sz="1080" b="0" i="0">
                <a:solidFill>
                  <a:srgbClr val="1E2430"/>
                </a:solidFill>
                <a:latin typeface="Calibri"/>
              </a:rPr>
              <a:t> = MS&lt;sub&gt;between&lt;/sub&gt; / MS&lt;sub&gt;within (error)&lt;/sub&gt;</a:t>
            </a:r>
          </a:p>
          <a:p>
            <a:pPr>
              <a:spcAft>
                <a:spcPts val="400"/>
              </a:spcAft>
            </a:pPr>
            <a:r>
              <a:rPr sz="1080" b="0" i="0">
                <a:solidFill>
                  <a:srgbClr val="1E2430"/>
                </a:solidFill>
                <a:latin typeface="Calibri"/>
              </a:rPr>
              <a:t>• </a:t>
            </a:r>
            <a:r>
              <a:rPr sz="1080" b="1" i="0">
                <a:solidFill>
                  <a:srgbClr val="1E2430"/>
                </a:solidFill>
                <a:latin typeface="Calibri"/>
              </a:rPr>
              <a:t>Plain-English Intuition:</a:t>
            </a:r>
          </a:p>
          <a:p>
            <a:pPr>
              <a:spcAft>
                <a:spcPts val="400"/>
              </a:spcAft>
            </a:pPr>
            <a:r>
              <a:rPr sz="1000" b="0" i="0">
                <a:solidFill>
                  <a:srgbClr val="1E2430"/>
                </a:solidFill>
                <a:latin typeface="Calibri"/>
              </a:rPr>
              <a:t>    ▪ </a:t>
            </a:r>
            <a:r>
              <a:rPr sz="1000" b="1" i="0">
                <a:solidFill>
                  <a:srgbClr val="1E2430"/>
                </a:solidFill>
                <a:latin typeface="Calibri"/>
              </a:rPr>
              <a:t>Numerator (Signal):</a:t>
            </a:r>
            <a:r>
              <a:rPr sz="1000" b="0" i="0">
                <a:solidFill>
                  <a:srgbClr val="1E2430"/>
                </a:solidFill>
                <a:latin typeface="Calibri"/>
              </a:rPr>
              <a:t> How far apart are the group means (e.g., Rules Active vs. Rules Off)?</a:t>
            </a:r>
          </a:p>
          <a:p>
            <a:pPr>
              <a:spcAft>
                <a:spcPts val="400"/>
              </a:spcAft>
            </a:pPr>
            <a:r>
              <a:rPr sz="1000" b="0" i="0">
                <a:solidFill>
                  <a:srgbClr val="1E2430"/>
                </a:solidFill>
                <a:latin typeface="Calibri"/>
              </a:rPr>
              <a:t>    ▪ </a:t>
            </a:r>
            <a:r>
              <a:rPr sz="1000" b="1" i="0">
                <a:solidFill>
                  <a:srgbClr val="1E2430"/>
                </a:solidFill>
                <a:latin typeface="Calibri"/>
              </a:rPr>
              <a:t>Denominator (Noise):</a:t>
            </a:r>
            <a:r>
              <a:rPr sz="1000" b="0" i="0">
                <a:solidFill>
                  <a:srgbClr val="1E2430"/>
                </a:solidFill>
                <a:latin typeface="Calibri"/>
              </a:rPr>
              <a:t> How much random scatter exists </a:t>
            </a:r>
            <a:r>
              <a:rPr sz="1000" b="0" i="1">
                <a:solidFill>
                  <a:srgbClr val="1E2430"/>
                </a:solidFill>
                <a:latin typeface="Calibri"/>
              </a:rPr>
              <a:t>inside</a:t>
            </a:r>
            <a:r>
              <a:rPr sz="1000" b="0" i="0">
                <a:solidFill>
                  <a:srgbClr val="1E2430"/>
                </a:solidFill>
                <a:latin typeface="Calibri"/>
              </a:rPr>
              <a:t> each group?</a:t>
            </a:r>
          </a:p>
          <a:p>
            <a:pPr>
              <a:spcAft>
                <a:spcPts val="400"/>
              </a:spcAft>
            </a:pPr>
            <a:r>
              <a:rPr sz="1080" b="0" i="0">
                <a:solidFill>
                  <a:srgbClr val="1E2430"/>
                </a:solidFill>
                <a:latin typeface="Calibri"/>
              </a:rPr>
              <a:t>• </a:t>
            </a:r>
            <a:r>
              <a:rPr sz="1080" b="1" i="0">
                <a:solidFill>
                  <a:srgbClr val="1E2430"/>
                </a:solidFill>
                <a:latin typeface="Calibri"/>
              </a:rPr>
              <a:t>How to Read </a:t>
            </a:r>
            <a:r>
              <a:rPr sz="1080" b="1" i="1">
                <a:solidFill>
                  <a:srgbClr val="1E2430"/>
                </a:solidFill>
                <a:latin typeface="Calibri"/>
              </a:rPr>
              <a:t>F</a:t>
            </a:r>
            <a:r>
              <a:rPr sz="1080" b="1" i="0">
                <a:solidFill>
                  <a:srgbClr val="1E2430"/>
                </a:solidFill>
                <a:latin typeface="Calibri"/>
              </a:rPr>
              <a:t> in Our Tables:</a:t>
            </a:r>
          </a:p>
          <a:p>
            <a:pPr>
              <a:spcAft>
                <a:spcPts val="400"/>
              </a:spcAft>
            </a:pPr>
            <a:r>
              <a:rPr sz="1000" b="0" i="0">
                <a:solidFill>
                  <a:srgbClr val="1E2430"/>
                </a:solidFill>
                <a:latin typeface="Calibri"/>
              </a:rPr>
              <a:t>    ▪ If null hypothesis </a:t>
            </a:r>
            <a:r>
              <a:rPr sz="1000" b="0" i="1">
                <a:solidFill>
                  <a:srgbClr val="1E2430"/>
                </a:solidFill>
                <a:latin typeface="Calibri"/>
              </a:rPr>
              <a:t>H</a:t>
            </a:r>
            <a:r>
              <a:rPr sz="1000" b="0" i="0">
                <a:solidFill>
                  <a:srgbClr val="1E2430"/>
                </a:solidFill>
                <a:latin typeface="Calibri"/>
              </a:rPr>
              <a:t>&lt;sub&gt;0&lt;/sub&gt; is true (no real difference), </a:t>
            </a:r>
            <a:r>
              <a:rPr sz="1000" b="0" i="1">
                <a:solidFill>
                  <a:srgbClr val="1E2430"/>
                </a:solidFill>
                <a:latin typeface="Calibri"/>
              </a:rPr>
              <a:t>F</a:t>
            </a:r>
            <a:r>
              <a:rPr sz="1000" b="0" i="0">
                <a:solidFill>
                  <a:srgbClr val="1E2430"/>
                </a:solidFill>
                <a:latin typeface="Calibri"/>
              </a:rPr>
              <a:t> ≈ 1.0.</a:t>
            </a:r>
          </a:p>
          <a:p>
            <a:pPr>
              <a:spcAft>
                <a:spcPts val="400"/>
              </a:spcAft>
            </a:pPr>
            <a:r>
              <a:rPr sz="1000" b="0" i="0">
                <a:solidFill>
                  <a:srgbClr val="1E2430"/>
                </a:solidFill>
                <a:latin typeface="Calibri"/>
              </a:rPr>
              <a:t>    ▪ In our study, we observe </a:t>
            </a:r>
            <a:r>
              <a:rPr sz="1000" b="1" i="1">
                <a:solidFill>
                  <a:srgbClr val="1E2430"/>
                </a:solidFill>
                <a:latin typeface="Calibri"/>
              </a:rPr>
              <a:t>F</a:t>
            </a:r>
            <a:r>
              <a:rPr sz="1000" b="1" i="0">
                <a:solidFill>
                  <a:srgbClr val="1E2430"/>
                </a:solidFill>
                <a:latin typeface="Calibri"/>
              </a:rPr>
              <a:t> = 91.33 (RQ1)</a:t>
            </a:r>
            <a:r>
              <a:rPr sz="1000" b="0" i="0">
                <a:solidFill>
                  <a:srgbClr val="1E2430"/>
                </a:solidFill>
                <a:latin typeface="Calibri"/>
              </a:rPr>
              <a:t>, </a:t>
            </a:r>
            <a:r>
              <a:rPr sz="1000" b="1" i="1">
                <a:solidFill>
                  <a:srgbClr val="1E2430"/>
                </a:solidFill>
                <a:latin typeface="Calibri"/>
              </a:rPr>
              <a:t>F</a:t>
            </a:r>
            <a:r>
              <a:rPr sz="1000" b="1" i="0">
                <a:solidFill>
                  <a:srgbClr val="1E2430"/>
                </a:solidFill>
                <a:latin typeface="Calibri"/>
              </a:rPr>
              <a:t> = 9.79 (RQ2)</a:t>
            </a:r>
            <a:r>
              <a:rPr sz="1000" b="0" i="0">
                <a:solidFill>
                  <a:srgbClr val="1E2430"/>
                </a:solidFill>
                <a:latin typeface="Calibri"/>
              </a:rPr>
              <a:t>, </a:t>
            </a:r>
            <a:r>
              <a:rPr sz="1000" b="1" i="1">
                <a:solidFill>
                  <a:srgbClr val="1E2430"/>
                </a:solidFill>
                <a:latin typeface="Calibri"/>
              </a:rPr>
              <a:t>F</a:t>
            </a:r>
            <a:r>
              <a:rPr sz="1000" b="1" i="0">
                <a:solidFill>
                  <a:srgbClr val="1E2430"/>
                </a:solidFill>
                <a:latin typeface="Calibri"/>
              </a:rPr>
              <a:t> = 43.92 &amp; 489.52 (RQ3)</a:t>
            </a:r>
            <a:r>
              <a:rPr sz="1000" b="0" i="0">
                <a:solidFill>
                  <a:srgbClr val="1E2430"/>
                </a:solidFill>
                <a:latin typeface="Calibri"/>
              </a:rPr>
              <a:t>, and </a:t>
            </a:r>
            <a:r>
              <a:rPr sz="1000" b="1" i="1">
                <a:solidFill>
                  <a:srgbClr val="1E2430"/>
                </a:solidFill>
                <a:latin typeface="Calibri"/>
              </a:rPr>
              <a:t>F</a:t>
            </a:r>
            <a:r>
              <a:rPr sz="1000" b="1" i="0">
                <a:solidFill>
                  <a:srgbClr val="1E2430"/>
                </a:solidFill>
                <a:latin typeface="Calibri"/>
              </a:rPr>
              <a:t> = 664.43 (RQ4)</a:t>
            </a:r>
            <a:r>
              <a:rPr sz="1000" b="0" i="0">
                <a:solidFill>
                  <a:srgbClr val="1E2430"/>
                </a:solidFill>
                <a:latin typeface="Calibri"/>
              </a:rPr>
              <a:t>—meaning the treatment signal is 10 to 664 times larger than random noise (all </a:t>
            </a:r>
            <a:r>
              <a:rPr sz="1000" b="0" i="1">
                <a:solidFill>
                  <a:srgbClr val="1E2430"/>
                </a:solidFill>
                <a:latin typeface="Calibri"/>
              </a:rPr>
              <a:t>p</a:t>
            </a:r>
            <a:r>
              <a:rPr sz="1000" b="0" i="0">
                <a:solidFill>
                  <a:srgbClr val="1E2430"/>
                </a:solidFill>
                <a:latin typeface="Calibri"/>
              </a:rPr>
              <a:t> &lt; .001)!</a:t>
            </a:r>
          </a:p>
        </p:txBody>
      </p:sp>
      <p:sp>
        <p:nvSpPr>
          <p:cNvPr id="14" name="Rounded Rectangle 13"/>
          <p:cNvSpPr/>
          <p:nvPr/>
        </p:nvSpPr>
        <p:spPr>
          <a:xfrm>
            <a:off x="4206240" y="1371600"/>
            <a:ext cx="3749039" cy="33832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1371600"/>
            <a:ext cx="3749039"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2. Effect Size (η² and Partial ηp²): Practical Magnitude</a:t>
            </a:r>
          </a:p>
        </p:txBody>
      </p:sp>
      <p:sp>
        <p:nvSpPr>
          <p:cNvPr id="16" name="TextBox 15"/>
          <p:cNvSpPr txBox="1"/>
          <p:nvPr/>
        </p:nvSpPr>
        <p:spPr>
          <a:xfrm>
            <a:off x="4297679" y="1755648"/>
            <a:ext cx="3566159" cy="2944368"/>
          </a:xfrm>
          <a:prstGeom prst="rect">
            <a:avLst/>
          </a:prstGeom>
          <a:noFill/>
        </p:spPr>
        <p:txBody>
          <a:bodyPr wrap="square" lIns="36576" rIns="36576" tIns="18288" bIns="18288">
            <a:spAutoFit/>
          </a:bodyPr>
          <a:lstStyle/>
          <a:p>
            <a:pPr>
              <a:spcAft>
                <a:spcPts val="400"/>
              </a:spcAft>
            </a:pPr>
            <a:r>
              <a:rPr sz="1080" b="0" i="0">
                <a:solidFill>
                  <a:srgbClr val="1E2430"/>
                </a:solidFill>
                <a:latin typeface="Calibri"/>
              </a:rPr>
              <a:t>• </a:t>
            </a:r>
            <a:r>
              <a:rPr sz="1080" b="1" i="0">
                <a:solidFill>
                  <a:srgbClr val="1E2430"/>
                </a:solidFill>
                <a:latin typeface="Calibri"/>
              </a:rPr>
              <a:t>Formula:</a:t>
            </a:r>
            <a:r>
              <a:rPr sz="1080" b="0" i="0">
                <a:solidFill>
                  <a:srgbClr val="1E2430"/>
                </a:solidFill>
                <a:latin typeface="Calibri"/>
              </a:rPr>
              <a:t>  η&lt;sub&gt;</a:t>
            </a:r>
            <a:r>
              <a:rPr sz="1080" b="0" i="1">
                <a:solidFill>
                  <a:srgbClr val="1E2430"/>
                </a:solidFill>
                <a:latin typeface="Calibri"/>
              </a:rPr>
              <a:t>p</a:t>
            </a:r>
            <a:r>
              <a:rPr sz="1080" b="0" i="0">
                <a:solidFill>
                  <a:srgbClr val="1E2430"/>
                </a:solidFill>
                <a:latin typeface="Calibri"/>
              </a:rPr>
              <a:t>&lt;/sub&gt;&lt;sup&gt;2&lt;/sup&gt; = SS&lt;sub&gt;effect&lt;/sub&gt; / (SS&lt;sub&gt;effect&lt;/sub&gt; + SS&lt;sub&gt;error&lt;/sub&gt;)</a:t>
            </a:r>
          </a:p>
          <a:p>
            <a:pPr>
              <a:spcAft>
                <a:spcPts val="400"/>
              </a:spcAft>
            </a:pPr>
            <a:r>
              <a:rPr sz="1080" b="0" i="0">
                <a:solidFill>
                  <a:srgbClr val="1E2430"/>
                </a:solidFill>
                <a:latin typeface="Calibri"/>
              </a:rPr>
              <a:t>• </a:t>
            </a:r>
            <a:r>
              <a:rPr sz="1080" b="1" i="0">
                <a:solidFill>
                  <a:srgbClr val="1E2430"/>
                </a:solidFill>
                <a:latin typeface="Calibri"/>
              </a:rPr>
              <a:t>Why </a:t>
            </a:r>
            <a:r>
              <a:rPr sz="1080" b="1" i="1">
                <a:solidFill>
                  <a:srgbClr val="1E2430"/>
                </a:solidFill>
                <a:latin typeface="Calibri"/>
              </a:rPr>
              <a:t>p</a:t>
            </a:r>
            <a:r>
              <a:rPr sz="1080" b="1" i="0">
                <a:solidFill>
                  <a:srgbClr val="1E2430"/>
                </a:solidFill>
                <a:latin typeface="Calibri"/>
              </a:rPr>
              <a:t>-values Alone Are Not Enough:</a:t>
            </a:r>
          </a:p>
          <a:p>
            <a:pPr>
              <a:spcAft>
                <a:spcPts val="400"/>
              </a:spcAft>
            </a:pPr>
            <a:r>
              <a:rPr sz="1000" b="0" i="0">
                <a:solidFill>
                  <a:srgbClr val="1E2430"/>
                </a:solidFill>
                <a:latin typeface="Calibri"/>
              </a:rPr>
              <a:t>    ▪ A </a:t>
            </a:r>
            <a:r>
              <a:rPr sz="1000" b="0" i="1">
                <a:solidFill>
                  <a:srgbClr val="1E2430"/>
                </a:solidFill>
                <a:latin typeface="Calibri"/>
              </a:rPr>
              <a:t>p</a:t>
            </a:r>
            <a:r>
              <a:rPr sz="1000" b="0" i="0">
                <a:solidFill>
                  <a:srgbClr val="1E2430"/>
                </a:solidFill>
                <a:latin typeface="Calibri"/>
              </a:rPr>
              <a:t>-value (&lt; .001) only tells us an effect is </a:t>
            </a:r>
            <a:r>
              <a:rPr sz="1000" b="0" i="1">
                <a:solidFill>
                  <a:srgbClr val="1E2430"/>
                </a:solidFill>
                <a:latin typeface="Calibri"/>
              </a:rPr>
              <a:t>not zero</a:t>
            </a:r>
            <a:r>
              <a:rPr sz="1000" b="0" i="0">
                <a:solidFill>
                  <a:srgbClr val="1E2430"/>
                </a:solidFill>
                <a:latin typeface="Calibri"/>
              </a:rPr>
              <a:t>; η&lt;sub&gt;</a:t>
            </a:r>
            <a:r>
              <a:rPr sz="1000" b="0" i="1">
                <a:solidFill>
                  <a:srgbClr val="1E2430"/>
                </a:solidFill>
                <a:latin typeface="Calibri"/>
              </a:rPr>
              <a:t>p</a:t>
            </a:r>
            <a:r>
              <a:rPr sz="1000" b="0" i="0">
                <a:solidFill>
                  <a:srgbClr val="1E2430"/>
                </a:solidFill>
                <a:latin typeface="Calibri"/>
              </a:rPr>
              <a:t>&lt;/sub&gt;&lt;sup&gt;2&lt;/sup&gt; tells us </a:t>
            </a:r>
            <a:r>
              <a:rPr sz="1000" b="0" i="1">
                <a:solidFill>
                  <a:srgbClr val="1E2430"/>
                </a:solidFill>
                <a:latin typeface="Calibri"/>
              </a:rPr>
              <a:t>what percentage of outcome variance is explained</a:t>
            </a:r>
            <a:r>
              <a:rPr sz="1000" b="0" i="0">
                <a:solidFill>
                  <a:srgbClr val="1E2430"/>
                </a:solidFill>
                <a:latin typeface="Calibri"/>
              </a:rPr>
              <a:t> by our factor.</a:t>
            </a:r>
          </a:p>
          <a:p>
            <a:pPr>
              <a:spcAft>
                <a:spcPts val="400"/>
              </a:spcAft>
            </a:pPr>
            <a:r>
              <a:rPr sz="1080" b="0" i="0">
                <a:solidFill>
                  <a:srgbClr val="1E2430"/>
                </a:solidFill>
                <a:latin typeface="Calibri"/>
              </a:rPr>
              <a:t>• </a:t>
            </a:r>
            <a:r>
              <a:rPr sz="1080" b="1" i="0">
                <a:solidFill>
                  <a:srgbClr val="1E2430"/>
                </a:solidFill>
                <a:latin typeface="Calibri"/>
              </a:rPr>
              <a:t>Cohen's (1988) Standard Benchmarks:</a:t>
            </a:r>
          </a:p>
          <a:p>
            <a:pPr>
              <a:spcAft>
                <a:spcPts val="400"/>
              </a:spcAft>
            </a:pPr>
            <a:r>
              <a:rPr sz="1000" b="0" i="0">
                <a:solidFill>
                  <a:srgbClr val="1E2430"/>
                </a:solidFill>
                <a:latin typeface="Calibri"/>
              </a:rPr>
              <a:t>    ▪ Small: η&lt;sup&gt;2&lt;/sup&gt; = .01 (1% variance)</a:t>
            </a:r>
          </a:p>
          <a:p>
            <a:pPr>
              <a:spcAft>
                <a:spcPts val="400"/>
              </a:spcAft>
            </a:pPr>
            <a:r>
              <a:rPr sz="1000" b="0" i="0">
                <a:solidFill>
                  <a:srgbClr val="1E2430"/>
                </a:solidFill>
                <a:latin typeface="Calibri"/>
              </a:rPr>
              <a:t>    ▪ Medium: η&lt;sup&gt;2&lt;/sup&gt; = .06 (6% variance; </a:t>
            </a:r>
            <a:r>
              <a:rPr sz="1000" b="0" i="1">
                <a:solidFill>
                  <a:srgbClr val="1E2430"/>
                </a:solidFill>
                <a:latin typeface="Calibri"/>
              </a:rPr>
              <a:t>f</a:t>
            </a:r>
            <a:r>
              <a:rPr sz="1000" b="0" i="0">
                <a:solidFill>
                  <a:srgbClr val="1E2430"/>
                </a:solidFill>
                <a:latin typeface="Calibri"/>
              </a:rPr>
              <a:t> = .25)</a:t>
            </a:r>
          </a:p>
          <a:p>
            <a:pPr>
              <a:spcAft>
                <a:spcPts val="400"/>
              </a:spcAft>
            </a:pPr>
            <a:r>
              <a:rPr sz="1000" b="0" i="0">
                <a:solidFill>
                  <a:srgbClr val="1E2430"/>
                </a:solidFill>
                <a:latin typeface="Calibri"/>
              </a:rPr>
              <a:t>    ▪ Large: η&lt;sup&gt;2&lt;/sup&gt; ≥ .14 (14%+ variance; </a:t>
            </a:r>
            <a:r>
              <a:rPr sz="1000" b="0" i="1">
                <a:solidFill>
                  <a:srgbClr val="1E2430"/>
                </a:solidFill>
                <a:latin typeface="Calibri"/>
              </a:rPr>
              <a:t>f</a:t>
            </a:r>
            <a:r>
              <a:rPr sz="1000" b="0" i="0">
                <a:solidFill>
                  <a:srgbClr val="1E2430"/>
                </a:solidFill>
                <a:latin typeface="Calibri"/>
              </a:rPr>
              <a:t> ≥ .40)</a:t>
            </a:r>
          </a:p>
          <a:p>
            <a:pPr>
              <a:spcAft>
                <a:spcPts val="400"/>
              </a:spcAft>
            </a:pPr>
            <a:r>
              <a:rPr sz="1080" b="0" i="0">
                <a:solidFill>
                  <a:srgbClr val="1E2430"/>
                </a:solidFill>
                <a:latin typeface="Calibri"/>
              </a:rPr>
              <a:t>• </a:t>
            </a:r>
            <a:r>
              <a:rPr sz="1080" b="1" i="0">
                <a:solidFill>
                  <a:srgbClr val="1E2430"/>
                </a:solidFill>
                <a:latin typeface="Calibri"/>
              </a:rPr>
              <a:t>Our Observed Effect Sizes:</a:t>
            </a:r>
          </a:p>
          <a:p>
            <a:pPr>
              <a:spcAft>
                <a:spcPts val="400"/>
              </a:spcAft>
            </a:pPr>
            <a:r>
              <a:rPr sz="1000" b="0" i="0">
                <a:solidFill>
                  <a:srgbClr val="1E2430"/>
                </a:solidFill>
                <a:latin typeface="Calibri"/>
              </a:rPr>
              <a:t>    ▪ Every primary effect in RQ1–RQ4 is </a:t>
            </a:r>
            <a:r>
              <a:rPr sz="1000" b="1" i="0">
                <a:solidFill>
                  <a:srgbClr val="1E2430"/>
                </a:solidFill>
                <a:latin typeface="Calibri"/>
              </a:rPr>
              <a:t>Large</a:t>
            </a:r>
            <a:r>
              <a:rPr sz="1000" b="0" i="0">
                <a:solidFill>
                  <a:srgbClr val="1E2430"/>
                </a:solidFill>
                <a:latin typeface="Calibri"/>
              </a:rPr>
              <a:t>: RQ1 η&lt;sup&gt;2&lt;/sup&gt; = .54–.91; RQ2 η&lt;sub&gt;</a:t>
            </a:r>
            <a:r>
              <a:rPr sz="1000" b="0" i="1">
                <a:solidFill>
                  <a:srgbClr val="1E2430"/>
                </a:solidFill>
                <a:latin typeface="Calibri"/>
              </a:rPr>
              <a:t>p</a:t>
            </a:r>
            <a:r>
              <a:rPr sz="1000" b="0" i="0">
                <a:solidFill>
                  <a:srgbClr val="1E2430"/>
                </a:solidFill>
                <a:latin typeface="Calibri"/>
              </a:rPr>
              <a:t>&lt;/sub&gt;&lt;sup&gt;2&lt;/sup&gt; = .234; RQ3 η&lt;sub&gt;</a:t>
            </a:r>
            <a:r>
              <a:rPr sz="1000" b="0" i="1">
                <a:solidFill>
                  <a:srgbClr val="1E2430"/>
                </a:solidFill>
                <a:latin typeface="Calibri"/>
              </a:rPr>
              <a:t>p</a:t>
            </a:r>
            <a:r>
              <a:rPr sz="1000" b="0" i="0">
                <a:solidFill>
                  <a:srgbClr val="1E2430"/>
                </a:solidFill>
                <a:latin typeface="Calibri"/>
              </a:rPr>
              <a:t>&lt;/sub&gt;&lt;sup&gt;2&lt;/sup&gt; = .239–.778; RQ4 η&lt;sub&gt;</a:t>
            </a:r>
            <a:r>
              <a:rPr sz="1000" b="0" i="1">
                <a:solidFill>
                  <a:srgbClr val="1E2430"/>
                </a:solidFill>
                <a:latin typeface="Calibri"/>
              </a:rPr>
              <a:t>p</a:t>
            </a:r>
            <a:r>
              <a:rPr sz="1000" b="0" i="0">
                <a:solidFill>
                  <a:srgbClr val="1E2430"/>
                </a:solidFill>
                <a:latin typeface="Calibri"/>
              </a:rPr>
              <a:t>&lt;/sub&gt;&lt;sup&gt;2&lt;/sup&gt; = .793.</a:t>
            </a:r>
          </a:p>
        </p:txBody>
      </p:sp>
      <p:sp>
        <p:nvSpPr>
          <p:cNvPr id="17" name="Rounded Rectangle 16"/>
          <p:cNvSpPr/>
          <p:nvPr/>
        </p:nvSpPr>
        <p:spPr>
          <a:xfrm>
            <a:off x="8138160" y="1371600"/>
            <a:ext cx="3730752" cy="33832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1371600"/>
            <a:ext cx="3730752"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3. Main Effects vs. Interaction Effects (A × B)</a:t>
            </a:r>
          </a:p>
        </p:txBody>
      </p:sp>
      <p:sp>
        <p:nvSpPr>
          <p:cNvPr id="19" name="TextBox 18"/>
          <p:cNvSpPr txBox="1"/>
          <p:nvPr/>
        </p:nvSpPr>
        <p:spPr>
          <a:xfrm>
            <a:off x="8229600" y="1755648"/>
            <a:ext cx="3547872" cy="2944368"/>
          </a:xfrm>
          <a:prstGeom prst="rect">
            <a:avLst/>
          </a:prstGeom>
          <a:noFill/>
        </p:spPr>
        <p:txBody>
          <a:bodyPr wrap="square" lIns="36576" rIns="36576" tIns="18288" bIns="18288">
            <a:spAutoFit/>
          </a:bodyPr>
          <a:lstStyle/>
          <a:p>
            <a:pPr>
              <a:spcAft>
                <a:spcPts val="400"/>
              </a:spcAft>
            </a:pPr>
            <a:r>
              <a:rPr sz="1080" b="0" i="0">
                <a:solidFill>
                  <a:srgbClr val="1E2430"/>
                </a:solidFill>
                <a:latin typeface="Calibri"/>
              </a:rPr>
              <a:t>• </a:t>
            </a:r>
            <a:r>
              <a:rPr sz="1080" b="1" i="0">
                <a:solidFill>
                  <a:srgbClr val="1E2430"/>
                </a:solidFill>
                <a:latin typeface="Calibri"/>
              </a:rPr>
              <a:t>Main Effect of Factor A:</a:t>
            </a:r>
            <a:r>
              <a:rPr sz="1080" b="0" i="0">
                <a:solidFill>
                  <a:srgbClr val="1E2430"/>
                </a:solidFill>
                <a:latin typeface="Calibri"/>
              </a:rPr>
              <a:t> Does changing A (e.g., turning Rules On) change the outcome on average across all levels of B?</a:t>
            </a:r>
          </a:p>
          <a:p>
            <a:pPr>
              <a:spcAft>
                <a:spcPts val="400"/>
              </a:spcAft>
            </a:pPr>
            <a:r>
              <a:rPr sz="1080" b="0" i="0">
                <a:solidFill>
                  <a:srgbClr val="1E2430"/>
                </a:solidFill>
                <a:latin typeface="Calibri"/>
              </a:rPr>
              <a:t>• </a:t>
            </a:r>
            <a:r>
              <a:rPr sz="1080" b="1" i="0">
                <a:solidFill>
                  <a:srgbClr val="1E2430"/>
                </a:solidFill>
                <a:latin typeface="Calibri"/>
              </a:rPr>
              <a:t>Interaction Effect (A × B):</a:t>
            </a:r>
            <a:r>
              <a:rPr sz="1080" b="0" i="0">
                <a:solidFill>
                  <a:srgbClr val="1E2430"/>
                </a:solidFill>
                <a:latin typeface="Calibri"/>
              </a:rPr>
              <a:t> Does the effect of A </a:t>
            </a:r>
            <a:r>
              <a:rPr sz="1080" b="0" i="1">
                <a:solidFill>
                  <a:srgbClr val="1E2430"/>
                </a:solidFill>
                <a:latin typeface="Calibri"/>
              </a:rPr>
              <a:t>depend on</a:t>
            </a:r>
            <a:r>
              <a:rPr sz="1080" b="0" i="0">
                <a:solidFill>
                  <a:srgbClr val="1E2430"/>
                </a:solidFill>
                <a:latin typeface="Calibri"/>
              </a:rPr>
              <a:t> which level of B is active?</a:t>
            </a:r>
          </a:p>
          <a:p>
            <a:pPr>
              <a:spcAft>
                <a:spcPts val="400"/>
              </a:spcAft>
            </a:pPr>
            <a:r>
              <a:rPr sz="1080" b="0" i="0">
                <a:solidFill>
                  <a:srgbClr val="1E2430"/>
                </a:solidFill>
                <a:latin typeface="Calibri"/>
              </a:rPr>
              <a:t>• </a:t>
            </a:r>
            <a:r>
              <a:rPr sz="1080" b="1" i="0">
                <a:solidFill>
                  <a:srgbClr val="1E2430"/>
                </a:solidFill>
                <a:latin typeface="Calibri"/>
              </a:rPr>
              <a:t>Visual Rule of Thumb on Line Plots:</a:t>
            </a:r>
          </a:p>
          <a:p>
            <a:pPr>
              <a:spcAft>
                <a:spcPts val="400"/>
              </a:spcAft>
            </a:pPr>
            <a:r>
              <a:rPr sz="1000" b="0" i="0">
                <a:solidFill>
                  <a:srgbClr val="1E2430"/>
                </a:solidFill>
                <a:latin typeface="Calibri"/>
              </a:rPr>
              <a:t>    ▪ </a:t>
            </a:r>
            <a:r>
              <a:rPr sz="1000" b="1" i="0">
                <a:solidFill>
                  <a:srgbClr val="1E2430"/>
                </a:solidFill>
                <a:latin typeface="Calibri"/>
              </a:rPr>
              <a:t>Parallel lines</a:t>
            </a:r>
            <a:r>
              <a:rPr sz="1000" b="0" i="0">
                <a:solidFill>
                  <a:srgbClr val="1E2430"/>
                </a:solidFill>
                <a:latin typeface="Calibri"/>
              </a:rPr>
              <a:t> = No interaction (effects are purely additive).</a:t>
            </a:r>
          </a:p>
          <a:p>
            <a:pPr>
              <a:spcAft>
                <a:spcPts val="400"/>
              </a:spcAft>
            </a:pPr>
            <a:r>
              <a:rPr sz="1000" b="0" i="0">
                <a:solidFill>
                  <a:srgbClr val="1E2430"/>
                </a:solidFill>
                <a:latin typeface="Calibri"/>
              </a:rPr>
              <a:t>    ▪ </a:t>
            </a:r>
            <a:r>
              <a:rPr sz="1000" b="1" i="0">
                <a:solidFill>
                  <a:srgbClr val="1E2430"/>
                </a:solidFill>
                <a:latin typeface="Calibri"/>
              </a:rPr>
              <a:t>Non-parallel / diverging / crossing lines</a:t>
            </a:r>
            <a:r>
              <a:rPr sz="1000" b="0" i="0">
                <a:solidFill>
                  <a:srgbClr val="1E2430"/>
                </a:solidFill>
                <a:latin typeface="Calibri"/>
              </a:rPr>
              <a:t> = Significant interaction!</a:t>
            </a:r>
          </a:p>
          <a:p>
            <a:pPr>
              <a:spcAft>
                <a:spcPts val="400"/>
              </a:spcAft>
            </a:pPr>
            <a:r>
              <a:rPr sz="1080" b="0" i="0">
                <a:solidFill>
                  <a:srgbClr val="1E2430"/>
                </a:solidFill>
                <a:latin typeface="Calibri"/>
              </a:rPr>
              <a:t>• </a:t>
            </a:r>
            <a:r>
              <a:rPr sz="1080" b="1" i="0">
                <a:solidFill>
                  <a:srgbClr val="1E2430"/>
                </a:solidFill>
                <a:latin typeface="Calibri"/>
              </a:rPr>
              <a:t>Why Interactions Matter in RQ3 &amp; RQ4:</a:t>
            </a:r>
          </a:p>
          <a:p>
            <a:pPr>
              <a:spcAft>
                <a:spcPts val="400"/>
              </a:spcAft>
            </a:pPr>
            <a:r>
              <a:rPr sz="1000" b="0" i="0">
                <a:solidFill>
                  <a:srgbClr val="1E2430"/>
                </a:solidFill>
                <a:latin typeface="Calibri"/>
              </a:rPr>
              <a:t>    ▪ In RQ3, entity leakage only happens in </a:t>
            </a:r>
            <a:r>
              <a:rPr sz="1000" b="0" i="1">
                <a:solidFill>
                  <a:srgbClr val="1E2430"/>
                </a:solidFill>
                <a:latin typeface="Calibri"/>
              </a:rPr>
              <a:t>Rules Off × Cluster-Adaptive</a:t>
            </a:r>
            <a:r>
              <a:rPr sz="1000" b="0" i="0">
                <a:solidFill>
                  <a:srgbClr val="1E2430"/>
                </a:solidFill>
                <a:latin typeface="Calibri"/>
              </a:rPr>
              <a:t> (.359) and vanishes when </a:t>
            </a:r>
            <a:r>
              <a:rPr sz="1000" b="0" i="1">
                <a:solidFill>
                  <a:srgbClr val="1E2430"/>
                </a:solidFill>
                <a:latin typeface="Calibri"/>
              </a:rPr>
              <a:t>Rules Active</a:t>
            </a:r>
            <a:r>
              <a:rPr sz="1000" b="0" i="0">
                <a:solidFill>
                  <a:srgbClr val="1E2430"/>
                </a:solidFill>
                <a:latin typeface="Calibri"/>
              </a:rPr>
              <a:t> is turned on (.000) → strong diverging lines (</a:t>
            </a:r>
            <a:r>
              <a:rPr sz="1000" b="0" i="1">
                <a:solidFill>
                  <a:srgbClr val="1E2430"/>
                </a:solidFill>
                <a:latin typeface="Calibri"/>
              </a:rPr>
              <a:t>F</a:t>
            </a:r>
            <a:r>
              <a:rPr sz="1000" b="0" i="0">
                <a:solidFill>
                  <a:srgbClr val="1E2430"/>
                </a:solidFill>
                <a:latin typeface="Calibri"/>
              </a:rPr>
              <a:t> = 34.82, </a:t>
            </a:r>
            <a:r>
              <a:rPr sz="1000" b="0" i="1">
                <a:solidFill>
                  <a:srgbClr val="1E2430"/>
                </a:solidFill>
                <a:latin typeface="Calibri"/>
              </a:rPr>
              <a:t>p</a:t>
            </a:r>
            <a:r>
              <a:rPr sz="1000" b="0" i="0">
                <a:solidFill>
                  <a:srgbClr val="1E2430"/>
                </a:solidFill>
                <a:latin typeface="Calibri"/>
              </a:rPr>
              <a:t> &lt; .001).</a:t>
            </a:r>
          </a:p>
        </p:txBody>
      </p:sp>
      <p:sp>
        <p:nvSpPr>
          <p:cNvPr id="20" name="Rounded Rectangle 19"/>
          <p:cNvSpPr/>
          <p:nvPr/>
        </p:nvSpPr>
        <p:spPr>
          <a:xfrm>
            <a:off x="320040" y="4919472"/>
            <a:ext cx="11548872" cy="1536192"/>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Why We Apply Greenhouse–Geisser (GG) Correction in RQ2 (Greenhouse &amp; Geisser, 1959):</a:t>
            </a:r>
            <a:r>
              <a:rPr sz="1100" b="0" i="0">
                <a:solidFill>
                  <a:srgbClr val="1E2430"/>
                </a:solidFill>
                <a:latin typeface="Calibri"/>
              </a:rPr>
              <a:t>
In Repeated-Measures ANOVA (RQ2), standard </a:t>
            </a:r>
            <a:r>
              <a:rPr sz="1100" b="0" i="1">
                <a:solidFill>
                  <a:srgbClr val="1E2430"/>
                </a:solidFill>
                <a:latin typeface="Calibri"/>
              </a:rPr>
              <a:t>F</a:t>
            </a:r>
            <a:r>
              <a:rPr sz="1100" b="0" i="0">
                <a:solidFill>
                  <a:srgbClr val="1E2430"/>
                </a:solidFill>
                <a:latin typeface="Calibri"/>
              </a:rPr>
              <a:t>-tables assume </a:t>
            </a:r>
            <a:r>
              <a:rPr sz="1100" b="0" i="1">
                <a:solidFill>
                  <a:srgbClr val="1E2430"/>
                </a:solidFill>
                <a:latin typeface="Calibri"/>
              </a:rPr>
              <a:t>sphericity</a:t>
            </a:r>
            <a:r>
              <a:rPr sz="1100" b="0" i="0">
                <a:solidFill>
                  <a:srgbClr val="1E2430"/>
                </a:solidFill>
                <a:latin typeface="Calibri"/>
              </a:rPr>
              <a:t>—that the variance of differences between every pair of conditions (Zero-Shot vs. Static, Zero-Shot vs. Adaptive, Static vs. Adaptive) is equal. When sphericity is violated (ε &lt; 1.0, e.g., ε = 0.94 in style cosine and ε = 0.65 in pacing error), unadjusted </a:t>
            </a:r>
            <a:r>
              <a:rPr sz="1100" b="0" i="1">
                <a:solidFill>
                  <a:srgbClr val="1E2430"/>
                </a:solidFill>
                <a:latin typeface="Calibri"/>
              </a:rPr>
              <a:t>F</a:t>
            </a:r>
            <a:r>
              <a:rPr sz="1100" b="0" i="0">
                <a:solidFill>
                  <a:srgbClr val="1E2430"/>
                </a:solidFill>
                <a:latin typeface="Calibri"/>
              </a:rPr>
              <a:t>-tests inflate false positives. Multiplying degrees of freedom by ε (e.g., </a:t>
            </a:r>
            <a:r>
              <a:rPr sz="1100" b="0" i="1">
                <a:solidFill>
                  <a:srgbClr val="1E2430"/>
                </a:solidFill>
                <a:latin typeface="Calibri"/>
              </a:rPr>
              <a:t>df</a:t>
            </a:r>
            <a:r>
              <a:rPr sz="1100" b="0" i="0">
                <a:solidFill>
                  <a:srgbClr val="1E2430"/>
                </a:solidFill>
                <a:latin typeface="Calibri"/>
              </a:rPr>
              <a:t> = 1.88, 60.29) yields an exact, conservative </a:t>
            </a:r>
            <a:r>
              <a:rPr sz="1100" b="0" i="1">
                <a:solidFill>
                  <a:srgbClr val="1E2430"/>
                </a:solidFill>
                <a:latin typeface="Calibri"/>
              </a:rPr>
              <a:t>p</a:t>
            </a:r>
            <a:r>
              <a:rPr sz="1100" b="0" i="0">
                <a:solidFill>
                  <a:srgbClr val="1E2430"/>
                </a:solidFill>
                <a:latin typeface="Calibri"/>
              </a:rPr>
              <a:t>-value.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16</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Bulletproof Inference: Why We Pair Parametric, Robust, and Non-Parametric Tests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Ensuring no statistical objection can arise from non-normality, bounded [0, 1] rates, or unequal cell variances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70" cy="3977639"/>
        </p:xfrm>
        <a:graphic>
          <a:graphicData uri="http://schemas.openxmlformats.org/drawingml/2006/table">
            <a:tbl>
              <a:tblPr firstRow="1" bandRow="1">
                <a:tableStyleId>{5C22544A-7EE6-4342-B048-85BDC9FD1C3A}</a:tableStyleId>
              </a:tblPr>
              <a:tblGrid>
                <a:gridCol w="1833154"/>
                <a:gridCol w="2383100"/>
                <a:gridCol w="2474758"/>
                <a:gridCol w="2566416"/>
                <a:gridCol w="2291442"/>
              </a:tblGrid>
              <a:tr h="795527">
                <a:tc>
                  <a:txBody>
                    <a:bodyPr/>
                    <a:lstStyle/>
                    <a:p>
                      <a:pPr algn="l"/>
                      <a:r>
                        <a:rPr sz="1100" b="1" i="0">
                          <a:solidFill>
                            <a:srgbClr val="FFFFFF"/>
                          </a:solidFill>
                          <a:latin typeface="Calibri"/>
                        </a:rPr>
                        <a:t>Potential Statistical Objection</a:t>
                      </a:r>
                    </a:p>
                  </a:txBody>
                  <a:tcPr anchor="ctr" marL="54864" marR="54864" marT="27432" marB="27432">
                    <a:solidFill>
                      <a:srgbClr val="14325C"/>
                    </a:solidFill>
                  </a:tcPr>
                </a:tc>
                <a:tc>
                  <a:txBody>
                    <a:bodyPr/>
                    <a:lstStyle/>
                    <a:p>
                      <a:pPr algn="l"/>
                      <a:r>
                        <a:rPr sz="1100" b="1" i="0">
                          <a:solidFill>
                            <a:srgbClr val="FFFFFF"/>
                          </a:solidFill>
                          <a:latin typeface="Calibri"/>
                        </a:rPr>
                        <a:t>Where It Occurs in Dialogue Data</a:t>
                      </a:r>
                    </a:p>
                  </a:txBody>
                  <a:tcPr anchor="ctr" marL="54864" marR="54864" marT="27432" marB="27432">
                    <a:solidFill>
                      <a:srgbClr val="14325C"/>
                    </a:solidFill>
                  </a:tcPr>
                </a:tc>
                <a:tc>
                  <a:txBody>
                    <a:bodyPr/>
                    <a:lstStyle/>
                    <a:p>
                      <a:pPr algn="l"/>
                      <a:r>
                        <a:rPr sz="1100" b="1" i="0">
                          <a:solidFill>
                            <a:srgbClr val="FFFFFF"/>
                          </a:solidFill>
                          <a:latin typeface="Calibri"/>
                        </a:rPr>
                        <a:t>Our Robust Parametric Solution</a:t>
                      </a:r>
                    </a:p>
                  </a:txBody>
                  <a:tcPr anchor="ctr" marL="54864" marR="54864" marT="27432" marB="27432">
                    <a:solidFill>
                      <a:srgbClr val="14325C"/>
                    </a:solidFill>
                  </a:tcPr>
                </a:tc>
                <a:tc>
                  <a:txBody>
                    <a:bodyPr/>
                    <a:lstStyle/>
                    <a:p>
                      <a:pPr algn="l"/>
                      <a:r>
                        <a:rPr sz="1100" b="1" i="0">
                          <a:solidFill>
                            <a:srgbClr val="FFFFFF"/>
                          </a:solidFill>
                          <a:latin typeface="Calibri"/>
                        </a:rPr>
                        <a:t>Our Distribution-Free Non-Parametric Solution</a:t>
                      </a:r>
                    </a:p>
                  </a:txBody>
                  <a:tcPr anchor="ctr" marL="54864" marR="54864" marT="27432" marB="27432">
                    <a:solidFill>
                      <a:srgbClr val="14325C"/>
                    </a:solidFill>
                  </a:tcPr>
                </a:tc>
                <a:tc>
                  <a:txBody>
                    <a:bodyPr/>
                    <a:lstStyle/>
                    <a:p>
                      <a:pPr algn="l"/>
                      <a:r>
                        <a:rPr sz="1100" b="1" i="0">
                          <a:solidFill>
                            <a:srgbClr val="FFFFFF"/>
                          </a:solidFill>
                          <a:latin typeface="Calibri"/>
                        </a:rPr>
                        <a:t>Concordance Across All 4 RQs</a:t>
                      </a:r>
                    </a:p>
                  </a:txBody>
                  <a:tcPr anchor="ctr" marL="54864" marR="54864" marT="27432" marB="27432">
                    <a:solidFill>
                      <a:srgbClr val="14325C"/>
                    </a:solidFill>
                  </a:tcPr>
                </a:tc>
              </a:tr>
              <a:tr h="795527">
                <a:tc>
                  <a:txBody>
                    <a:bodyPr/>
                    <a:lstStyle/>
                    <a:p>
                      <a:pPr algn="l"/>
                      <a:r>
                        <a:rPr sz="980" b="0" i="0">
                          <a:solidFill>
                            <a:srgbClr val="1E2430"/>
                          </a:solidFill>
                          <a:latin typeface="Calibri"/>
                        </a:rPr>
                        <a:t>1. Heteroscedasticity
(Unequal variances across cells)</a:t>
                      </a:r>
                    </a:p>
                  </a:txBody>
                  <a:tcPr anchor="ctr" marL="54864" marR="54864" marT="22860" marB="22860">
                    <a:solidFill>
                      <a:srgbClr val="FFFFFF"/>
                    </a:solidFill>
                  </a:tcPr>
                </a:tc>
                <a:tc>
                  <a:txBody>
                    <a:bodyPr/>
                    <a:lstStyle/>
                    <a:p>
                      <a:pPr algn="l"/>
                      <a:r>
                        <a:rPr sz="980" b="0" i="0">
                          <a:solidFill>
                            <a:srgbClr val="1E2430"/>
                          </a:solidFill>
                          <a:latin typeface="Calibri"/>
                        </a:rPr>
                        <a:t>In RQ3, when Rules Active eliminates leakage to 0.0%, variance in that cell drops near zero while Rules Off has high variance (SD = .348).</a:t>
                      </a:r>
                    </a:p>
                  </a:txBody>
                  <a:tcPr anchor="ctr" marL="54864" marR="54864" marT="22860" marB="22860">
                    <a:solidFill>
                      <a:srgbClr val="FFFFFF"/>
                    </a:solidFill>
                  </a:tcPr>
                </a:tc>
                <a:tc>
                  <a:txBody>
                    <a:bodyPr/>
                    <a:lstStyle/>
                    <a:p>
                      <a:pPr algn="l"/>
                      <a:r>
                        <a:rPr sz="980" b="1" i="0">
                          <a:solidFill>
                            <a:srgbClr val="1E2430"/>
                          </a:solidFill>
                          <a:latin typeface="Calibri"/>
                        </a:rPr>
                        <a:t>Welch's ANOVA (RQ1) &amp; MacKinnon–White HC3 Sandwich SEs (RQ3, RQ4):</a:t>
                      </a:r>
                      <a:r>
                        <a:rPr sz="980" b="0" i="0">
                          <a:solidFill>
                            <a:srgbClr val="1E2430"/>
                          </a:solidFill>
                          <a:latin typeface="Calibri"/>
                        </a:rPr>
                        <a:t>
Estimates cell-specific error variances without pooling.</a:t>
                      </a:r>
                    </a:p>
                  </a:txBody>
                  <a:tcPr anchor="ctr" marL="54864" marR="54864" marT="22860" marB="22860">
                    <a:solidFill>
                      <a:srgbClr val="FFFFFF"/>
                    </a:solidFill>
                  </a:tcPr>
                </a:tc>
                <a:tc>
                  <a:txBody>
                    <a:bodyPr/>
                    <a:lstStyle/>
                    <a:p>
                      <a:pPr algn="l"/>
                      <a:r>
                        <a:rPr sz="980" b="1" i="0">
                          <a:solidFill>
                            <a:srgbClr val="1E2430"/>
                          </a:solidFill>
                          <a:latin typeface="Calibri"/>
                        </a:rPr>
                        <a:t>Games–Howell Post Hoc (RQ1) &amp; Mann–Whitney U (RQ4):</a:t>
                      </a:r>
                      <a:r>
                        <a:rPr sz="980" b="0" i="0">
                          <a:solidFill>
                            <a:srgbClr val="1E2430"/>
                          </a:solidFill>
                          <a:latin typeface="Calibri"/>
                        </a:rPr>
                        <a:t>
Requires zero equal-variance assumptions.</a:t>
                      </a:r>
                    </a:p>
                  </a:txBody>
                  <a:tcPr anchor="ctr" marL="54864" marR="54864" marT="22860" marB="22860">
                    <a:solidFill>
                      <a:srgbClr val="FFFFFF"/>
                    </a:solidFill>
                  </a:tcPr>
                </a:tc>
                <a:tc>
                  <a:txBody>
                    <a:bodyPr/>
                    <a:lstStyle/>
                    <a:p>
                      <a:pPr algn="l"/>
                      <a:r>
                        <a:rPr sz="980" b="0" i="0">
                          <a:solidFill>
                            <a:srgbClr val="1E2430"/>
                          </a:solidFill>
                          <a:latin typeface="Calibri"/>
                        </a:rPr>
                        <a:t>100% agreement: e.g., RQ3 RAR OLS F = 43.92 (p &lt; .001) vs. HC3 F = 42.71 (p &lt; .001).</a:t>
                      </a:r>
                    </a:p>
                  </a:txBody>
                  <a:tcPr anchor="ctr" marL="54864" marR="54864" marT="22860" marB="22860">
                    <a:solidFill>
                      <a:srgbClr val="FFFFFF"/>
                    </a:solidFill>
                  </a:tcPr>
                </a:tc>
              </a:tr>
              <a:tr h="795527">
                <a:tc>
                  <a:txBody>
                    <a:bodyPr/>
                    <a:lstStyle/>
                    <a:p>
                      <a:pPr algn="l"/>
                      <a:r>
                        <a:rPr sz="980" b="0" i="0">
                          <a:solidFill>
                            <a:srgbClr val="1E2430"/>
                          </a:solidFill>
                          <a:latin typeface="Calibri"/>
                        </a:rPr>
                        <a:t>2. Non-Normality &amp; Bounded Proportions [0, 1]</a:t>
                      </a:r>
                    </a:p>
                  </a:txBody>
                  <a:tcPr anchor="ctr" marL="54864" marR="54864" marT="22860" marB="22860">
                    <a:solidFill>
                      <a:srgbClr val="F2F6FC"/>
                    </a:solidFill>
                  </a:tcPr>
                </a:tc>
                <a:tc>
                  <a:txBody>
                    <a:bodyPr/>
                    <a:lstStyle/>
                    <a:p>
                      <a:pPr algn="l"/>
                      <a:r>
                        <a:rPr sz="980" b="0" i="0">
                          <a:solidFill>
                            <a:srgbClr val="1E2430"/>
                          </a:solidFill>
                          <a:latin typeface="Calibri"/>
                        </a:rPr>
                        <a:t>RAR, ELR, Slot F1 (RQ3), and RER (RQ4) are proportions bounded between 0 and 1 with floor/ceiling clustering.</a:t>
                      </a:r>
                    </a:p>
                  </a:txBody>
                  <a:tcPr anchor="ctr" marL="54864" marR="54864" marT="22860" marB="22860">
                    <a:solidFill>
                      <a:srgbClr val="F2F6FC"/>
                    </a:solidFill>
                  </a:tcPr>
                </a:tc>
                <a:tc>
                  <a:txBody>
                    <a:bodyPr/>
                    <a:lstStyle/>
                    <a:p>
                      <a:pPr algn="l"/>
                      <a:r>
                        <a:rPr sz="980" b="1" i="0">
                          <a:solidFill>
                            <a:srgbClr val="1E2430"/>
                          </a:solidFill>
                          <a:latin typeface="Calibri"/>
                        </a:rPr>
                        <a:t>Balanced Cell Sizes (n = 36/cell in RQ3, n = 30/cell in RQ4):</a:t>
                      </a:r>
                      <a:r>
                        <a:rPr sz="980" b="0" i="0">
                          <a:solidFill>
                            <a:srgbClr val="1E2430"/>
                          </a:solidFill>
                          <a:latin typeface="Calibri"/>
                        </a:rPr>
                        <a:t>
Central Limit Theorem stabilizes cell means.</a:t>
                      </a:r>
                    </a:p>
                  </a:txBody>
                  <a:tcPr anchor="ctr" marL="54864" marR="54864" marT="22860" marB="22860">
                    <a:solidFill>
                      <a:srgbClr val="F2F6FC"/>
                    </a:solidFill>
                  </a:tcPr>
                </a:tc>
                <a:tc>
                  <a:txBody>
                    <a:bodyPr/>
                    <a:lstStyle/>
                    <a:p>
                      <a:pPr algn="l"/>
                      <a:r>
                        <a:rPr sz="980" b="1" i="0">
                          <a:solidFill>
                            <a:srgbClr val="1E2430"/>
                          </a:solidFill>
                          <a:latin typeface="Calibri"/>
                        </a:rPr>
                        <a:t>Aligned Rank Transform (ART) Factorial ANOVA (Wobbrock et al., 2011):</a:t>
                      </a:r>
                      <a:r>
                        <a:rPr sz="980" b="0" i="0">
                          <a:solidFill>
                            <a:srgbClr val="1E2430"/>
                          </a:solidFill>
                          <a:latin typeface="Calibri"/>
                        </a:rPr>
                        <a:t>
Aligns data for each main/interaction effect before ranking, allowing exact non-parametric factorial ANOVA!</a:t>
                      </a:r>
                    </a:p>
                  </a:txBody>
                  <a:tcPr anchor="ctr" marL="54864" marR="54864" marT="22860" marB="22860">
                    <a:solidFill>
                      <a:srgbClr val="F2F6FC"/>
                    </a:solidFill>
                  </a:tcPr>
                </a:tc>
                <a:tc>
                  <a:txBody>
                    <a:bodyPr/>
                    <a:lstStyle/>
                    <a:p>
                      <a:pPr algn="l"/>
                      <a:r>
                        <a:rPr sz="980" b="0" i="0">
                          <a:solidFill>
                            <a:srgbClr val="1E2430"/>
                          </a:solidFill>
                          <a:latin typeface="Calibri"/>
                        </a:rPr>
                        <a:t>100% agreement: RQ3 Leakage Interaction OLS F = 34.82 (p &lt; .001) vs. ART F = 2148.81 (p &lt; .001).</a:t>
                      </a:r>
                    </a:p>
                  </a:txBody>
                  <a:tcPr anchor="ctr" marL="54864" marR="54864" marT="22860" marB="22860">
                    <a:solidFill>
                      <a:srgbClr val="F2F6FC"/>
                    </a:solidFill>
                  </a:tcPr>
                </a:tc>
              </a:tr>
              <a:tr h="795527">
                <a:tc>
                  <a:txBody>
                    <a:bodyPr/>
                    <a:lstStyle/>
                    <a:p>
                      <a:pPr algn="l"/>
                      <a:r>
                        <a:rPr sz="980" b="0" i="0">
                          <a:solidFill>
                            <a:srgbClr val="1E2430"/>
                          </a:solidFill>
                          <a:latin typeface="Calibri"/>
                        </a:rPr>
                        <a:t>3. Right-Skewed Positive Count Data</a:t>
                      </a:r>
                    </a:p>
                  </a:txBody>
                  <a:tcPr anchor="ctr" marL="54864" marR="54864" marT="22860" marB="22860">
                    <a:solidFill>
                      <a:srgbClr val="FFFFFF"/>
                    </a:solidFill>
                  </a:tcPr>
                </a:tc>
                <a:tc>
                  <a:txBody>
                    <a:bodyPr/>
                    <a:lstStyle/>
                    <a:p>
                      <a:pPr algn="l"/>
                      <a:r>
                        <a:rPr sz="980" b="0" i="0">
                          <a:solidFill>
                            <a:srgbClr val="1E2430"/>
                          </a:solidFill>
                          <a:latin typeface="Calibri"/>
                        </a:rPr>
                        <a:t>Multi-turn dialogue length (Turns to Goal Completion in RQ4) is strictly positive and right-skewed.</a:t>
                      </a:r>
                    </a:p>
                  </a:txBody>
                  <a:tcPr anchor="ctr" marL="54864" marR="54864" marT="22860" marB="22860">
                    <a:solidFill>
                      <a:srgbClr val="FFFFFF"/>
                    </a:solidFill>
                  </a:tcPr>
                </a:tc>
                <a:tc>
                  <a:txBody>
                    <a:bodyPr/>
                    <a:lstStyle/>
                    <a:p>
                      <a:pPr algn="l"/>
                      <a:r>
                        <a:rPr sz="980" b="1" i="0">
                          <a:solidFill>
                            <a:srgbClr val="1E2430"/>
                          </a:solidFill>
                          <a:latin typeface="Calibri"/>
                        </a:rPr>
                        <a:t>Natural Log Transformation:</a:t>
                      </a:r>
                      <a:r>
                        <a:rPr sz="980" b="0" i="0">
                          <a:solidFill>
                            <a:srgbClr val="1E2430"/>
                          </a:solidFill>
                          <a:latin typeface="Calibri"/>
                        </a:rPr>
                        <a:t>
Primary DV pre-registered as Y = ln(Turns), plus raw Turns reported side-by-side.</a:t>
                      </a:r>
                    </a:p>
                  </a:txBody>
                  <a:tcPr anchor="ctr" marL="54864" marR="54864" marT="22860" marB="22860">
                    <a:solidFill>
                      <a:srgbClr val="FFFFFF"/>
                    </a:solidFill>
                  </a:tcPr>
                </a:tc>
                <a:tc>
                  <a:txBody>
                    <a:bodyPr/>
                    <a:lstStyle/>
                    <a:p>
                      <a:pPr algn="l"/>
                      <a:r>
                        <a:rPr sz="980" b="1" i="0">
                          <a:solidFill>
                            <a:srgbClr val="1E2430"/>
                          </a:solidFill>
                          <a:latin typeface="Calibri"/>
                        </a:rPr>
                        <a:t>Mann–Whitney U &amp; ART ANOVA on Both Raw and Log Turns:</a:t>
                      </a:r>
                      <a:r>
                        <a:rPr sz="980" b="0" i="0">
                          <a:solidFill>
                            <a:srgbClr val="1E2430"/>
                          </a:solidFill>
                          <a:latin typeface="Calibri"/>
                        </a:rPr>
                        <a:t>
Rank-invariant to any monotone transformation.</a:t>
                      </a:r>
                    </a:p>
                  </a:txBody>
                  <a:tcPr anchor="ctr" marL="54864" marR="54864" marT="22860" marB="22860">
                    <a:solidFill>
                      <a:srgbClr val="FFFFFF"/>
                    </a:solidFill>
                  </a:tcPr>
                </a:tc>
                <a:tc>
                  <a:txBody>
                    <a:bodyPr/>
                    <a:lstStyle/>
                    <a:p>
                      <a:pPr algn="l"/>
                      <a:r>
                        <a:rPr sz="980" b="0" i="0">
                          <a:solidFill>
                            <a:srgbClr val="1E2430"/>
                          </a:solidFill>
                          <a:latin typeface="Calibri"/>
                        </a:rPr>
                        <a:t>100% agreement: RQ4 Interaction OLS F = 10.89 (p &lt; .001), HC3 F = 8.58 (p &lt; .001), ART F = 209.46 (p &lt; .001).</a:t>
                      </a:r>
                    </a:p>
                  </a:txBody>
                  <a:tcPr anchor="ctr" marL="54864" marR="54864" marT="22860" marB="22860">
                    <a:solidFill>
                      <a:srgbClr val="FFFFFF"/>
                    </a:solidFill>
                  </a:tcPr>
                </a:tc>
              </a:tr>
              <a:tr h="795531">
                <a:tc>
                  <a:txBody>
                    <a:bodyPr/>
                    <a:lstStyle/>
                    <a:p>
                      <a:pPr algn="l"/>
                      <a:r>
                        <a:rPr sz="980" b="0" i="0">
                          <a:solidFill>
                            <a:srgbClr val="1E2430"/>
                          </a:solidFill>
                          <a:latin typeface="Calibri"/>
                        </a:rPr>
                        <a:t>4. Correlated Within-Dialogue Skewness</a:t>
                      </a:r>
                    </a:p>
                  </a:txBody>
                  <a:tcPr anchor="ctr" marL="54864" marR="54864" marT="22860" marB="22860">
                    <a:solidFill>
                      <a:srgbClr val="F2F6FC"/>
                    </a:solidFill>
                  </a:tcPr>
                </a:tc>
                <a:tc>
                  <a:txBody>
                    <a:bodyPr/>
                    <a:lstStyle/>
                    <a:p>
                      <a:pPr algn="l"/>
                      <a:r>
                        <a:rPr sz="980" b="0" i="0">
                          <a:solidFill>
                            <a:srgbClr val="1E2430"/>
                          </a:solidFill>
                          <a:latin typeface="Calibri"/>
                        </a:rPr>
                        <a:t>In RQ2, 33 dialogues are measured 3 times; cosine similarity can have mild negative skew.</a:t>
                      </a:r>
                    </a:p>
                  </a:txBody>
                  <a:tcPr anchor="ctr" marL="54864" marR="54864" marT="22860" marB="22860">
                    <a:solidFill>
                      <a:srgbClr val="F2F6FC"/>
                    </a:solidFill>
                  </a:tcPr>
                </a:tc>
                <a:tc>
                  <a:txBody>
                    <a:bodyPr/>
                    <a:lstStyle/>
                    <a:p>
                      <a:pPr algn="l"/>
                      <a:r>
                        <a:rPr sz="980" b="1" i="0">
                          <a:solidFill>
                            <a:srgbClr val="1E2430"/>
                          </a:solidFill>
                          <a:latin typeface="Calibri"/>
                        </a:rPr>
                        <a:t>Greenhouse–Geisser Sphericity-Corrected RM-ANOVA + Holm Step-Down t-tests.</a:t>
                      </a:r>
                    </a:p>
                  </a:txBody>
                  <a:tcPr anchor="ctr" marL="54864" marR="54864" marT="22860" marB="22860">
                    <a:solidFill>
                      <a:srgbClr val="F2F6FC"/>
                    </a:solidFill>
                  </a:tcPr>
                </a:tc>
                <a:tc>
                  <a:txBody>
                    <a:bodyPr/>
                    <a:lstStyle/>
                    <a:p>
                      <a:pPr algn="l"/>
                      <a:r>
                        <a:rPr sz="980" b="1" i="0">
                          <a:solidFill>
                            <a:srgbClr val="1E2430"/>
                          </a:solidFill>
                          <a:latin typeface="Calibri"/>
                        </a:rPr>
                        <a:t>Friedman Non-Parametric Rank Test (χ²):</a:t>
                      </a:r>
                      <a:r>
                        <a:rPr sz="980" b="0" i="0">
                          <a:solidFill>
                            <a:srgbClr val="1E2430"/>
                          </a:solidFill>
                          <a:latin typeface="Calibri"/>
                        </a:rPr>
                        <a:t>
Ranks the 3 conditions (1st, 2nd, 3rd) inside each dialogue.</a:t>
                      </a:r>
                    </a:p>
                  </a:txBody>
                  <a:tcPr anchor="ctr" marL="54864" marR="54864" marT="22860" marB="22860">
                    <a:solidFill>
                      <a:srgbClr val="F2F6FC"/>
                    </a:solidFill>
                  </a:tcPr>
                </a:tc>
                <a:tc>
                  <a:txBody>
                    <a:bodyPr/>
                    <a:lstStyle/>
                    <a:p>
                      <a:pPr algn="l"/>
                      <a:r>
                        <a:rPr sz="980" b="0" i="0">
                          <a:solidFill>
                            <a:srgbClr val="1E2430"/>
                          </a:solidFill>
                          <a:latin typeface="Calibri"/>
                        </a:rPr>
                        <a:t>100% agreement: RQ2 Style RM-ANOVA F = 9.79 (p &lt; .001) vs. Friedman χ²(2) = 12.50 (p = .002).</a:t>
                      </a:r>
                    </a:p>
                  </a:txBody>
                  <a:tcPr anchor="ctr" marL="54864" marR="54864" marT="22860" marB="22860">
                    <a:solidFill>
                      <a:srgbClr val="F2F6FC"/>
                    </a:solidFill>
                  </a:tcPr>
                </a:tc>
              </a:tr>
            </a:tbl>
          </a:graphicData>
        </a:graphic>
      </p:graphicFrame>
      <p:sp>
        <p:nvSpPr>
          <p:cNvPr id="12" name="Rounded Rectangle 11"/>
          <p:cNvSpPr/>
          <p:nvPr/>
        </p:nvSpPr>
        <p:spPr>
          <a:xfrm>
            <a:off x="320040" y="5486400"/>
            <a:ext cx="11548872" cy="960120"/>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Defense Takeaway for Methodology Reviewers:</a:t>
            </a:r>
            <a:r>
              <a:rPr sz="1100" b="0" i="0">
                <a:solidFill>
                  <a:srgbClr val="1E2430"/>
                </a:solidFill>
                <a:latin typeface="Calibri"/>
              </a:rPr>
              <a:t> Every single hypothesis test in this study is reported as a </a:t>
            </a:r>
            <a:r>
              <a:rPr sz="1100" b="1" i="0">
                <a:solidFill>
                  <a:srgbClr val="1E2430"/>
                </a:solidFill>
                <a:latin typeface="Calibri"/>
              </a:rPr>
              <a:t>triad</a:t>
            </a:r>
            <a:r>
              <a:rPr sz="1100" b="0" i="0">
                <a:solidFill>
                  <a:srgbClr val="1E2430"/>
                </a:solidFill>
                <a:latin typeface="Calibri"/>
              </a:rPr>
              <a:t>: (1) Classical Parametric ANOVA, (2) Heteroscedasticity-Consistent (`Welch` / `HC3`) ANOVA, and (3) Non-Parametric (`Kruskal–Wallis` / `Friedman` / `ART`) ANOVA. Because all three reach </a:t>
            </a:r>
            <a:r>
              <a:rPr sz="1100" b="0" i="1">
                <a:solidFill>
                  <a:srgbClr val="1E2430"/>
                </a:solidFill>
                <a:latin typeface="Calibri"/>
              </a:rPr>
              <a:t>p</a:t>
            </a:r>
            <a:r>
              <a:rPr sz="1100" b="0" i="0">
                <a:solidFill>
                  <a:srgbClr val="1E2430"/>
                </a:solidFill>
                <a:latin typeface="Calibri"/>
              </a:rPr>
              <a:t> &lt; .001 on every RQ, our conclusions are mathematically invariant to distributional assumptions.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17</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Proven Concepts Behind Sample-Size Parameters: α, Power (1 − β), Cohen's f, and λ</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#2 &amp; Defense Question #1: How standard noncentral-F parameters determine exact sample sizes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440680" cy="32461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44068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The Noncentral-F Power Formulation (Cohen, 1988; Faul et al., 2007)</a:t>
            </a:r>
          </a:p>
        </p:txBody>
      </p:sp>
      <p:sp>
        <p:nvSpPr>
          <p:cNvPr id="13" name="TextBox 12"/>
          <p:cNvSpPr txBox="1"/>
          <p:nvPr/>
        </p:nvSpPr>
        <p:spPr>
          <a:xfrm>
            <a:off x="411479" y="1755648"/>
            <a:ext cx="5257800" cy="280720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Exact Power Equation (Equation 1 in Report):</a:t>
            </a:r>
          </a:p>
          <a:p>
            <a:pPr>
              <a:spcAft>
                <a:spcPts val="400"/>
              </a:spcAft>
            </a:pPr>
            <a:r>
              <a:rPr sz="1000" b="0" i="0">
                <a:solidFill>
                  <a:srgbClr val="1E2430"/>
                </a:solidFill>
                <a:latin typeface="Calibri"/>
              </a:rPr>
              <a:t>    ▪ </a:t>
            </a:r>
            <a:r>
              <a:rPr sz="1000" b="1" i="0">
                <a:solidFill>
                  <a:srgbClr val="1E2430"/>
                </a:solidFill>
                <a:latin typeface="Calibri"/>
              </a:rPr>
              <a:t>Power (1 − β) = 1 − </a:t>
            </a:r>
            <a:r>
              <a:rPr sz="1000" b="1" i="1">
                <a:solidFill>
                  <a:srgbClr val="1E2430"/>
                </a:solidFill>
                <a:latin typeface="Calibri"/>
              </a:rPr>
              <a:t>F</a:t>
            </a:r>
            <a:r>
              <a:rPr sz="1000" b="1" i="0">
                <a:solidFill>
                  <a:srgbClr val="1E2430"/>
                </a:solidFill>
                <a:latin typeface="Calibri"/>
              </a:rPr>
              <a:t>&lt;sub&gt;nc&lt;/sub&gt;(</a:t>
            </a:r>
            <a:r>
              <a:rPr sz="1000" b="1" i="1">
                <a:solidFill>
                  <a:srgbClr val="1E2430"/>
                </a:solidFill>
                <a:latin typeface="Calibri"/>
              </a:rPr>
              <a:t>F</a:t>
            </a:r>
            <a:r>
              <a:rPr sz="1000" b="1" i="0">
                <a:solidFill>
                  <a:srgbClr val="1E2430"/>
                </a:solidFill>
                <a:latin typeface="Calibri"/>
              </a:rPr>
              <a:t>&lt;sub&gt;crit&lt;/sub&gt; ; </a:t>
            </a:r>
            <a:r>
              <a:rPr sz="1000" b="1" i="1">
                <a:solidFill>
                  <a:srgbClr val="1E2430"/>
                </a:solidFill>
                <a:latin typeface="Calibri"/>
              </a:rPr>
              <a:t>df</a:t>
            </a:r>
            <a:r>
              <a:rPr sz="1000" b="1" i="0">
                <a:solidFill>
                  <a:srgbClr val="1E2430"/>
                </a:solidFill>
                <a:latin typeface="Calibri"/>
              </a:rPr>
              <a:t>&lt;sub&gt;1&lt;/sub&gt;, </a:t>
            </a:r>
            <a:r>
              <a:rPr sz="1000" b="1" i="1">
                <a:solidFill>
                  <a:srgbClr val="1E2430"/>
                </a:solidFill>
                <a:latin typeface="Calibri"/>
              </a:rPr>
              <a:t>df</a:t>
            </a:r>
            <a:r>
              <a:rPr sz="1000" b="1" i="0">
                <a:solidFill>
                  <a:srgbClr val="1E2430"/>
                </a:solidFill>
                <a:latin typeface="Calibri"/>
              </a:rPr>
              <a:t>&lt;sub&gt;2&lt;/sub&gt;, λ)</a:t>
            </a:r>
            <a:r>
              <a:rPr sz="1000" b="0" i="0">
                <a:solidFill>
                  <a:srgbClr val="1E2430"/>
                </a:solidFill>
                <a:latin typeface="Calibri"/>
              </a:rPr>
              <a:t>,  where </a:t>
            </a:r>
            <a:r>
              <a:rPr sz="1000" b="0" i="1">
                <a:solidFill>
                  <a:srgbClr val="1E2430"/>
                </a:solidFill>
                <a:latin typeface="Calibri"/>
              </a:rPr>
              <a:t>F</a:t>
            </a:r>
            <a:r>
              <a:rPr sz="1000" b="0" i="0">
                <a:solidFill>
                  <a:srgbClr val="1E2430"/>
                </a:solidFill>
                <a:latin typeface="Calibri"/>
              </a:rPr>
              <a:t>&lt;sub&gt;crit&lt;/sub&gt; = </a:t>
            </a:r>
            <a:r>
              <a:rPr sz="1000" b="0" i="1">
                <a:solidFill>
                  <a:srgbClr val="1E2430"/>
                </a:solidFill>
                <a:latin typeface="Calibri"/>
              </a:rPr>
              <a:t>F</a:t>
            </a:r>
            <a:r>
              <a:rPr sz="1000" b="0" i="0">
                <a:solidFill>
                  <a:srgbClr val="1E2430"/>
                </a:solidFill>
                <a:latin typeface="Calibri"/>
              </a:rPr>
              <a:t>&lt;sub&gt;1−α&lt;/sub&gt;(</a:t>
            </a:r>
            <a:r>
              <a:rPr sz="1000" b="0" i="1">
                <a:solidFill>
                  <a:srgbClr val="1E2430"/>
                </a:solidFill>
                <a:latin typeface="Calibri"/>
              </a:rPr>
              <a:t>df</a:t>
            </a:r>
            <a:r>
              <a:rPr sz="1000" b="0" i="0">
                <a:solidFill>
                  <a:srgbClr val="1E2430"/>
                </a:solidFill>
                <a:latin typeface="Calibri"/>
              </a:rPr>
              <a:t>&lt;sub&gt;1&lt;/sub&gt;, </a:t>
            </a:r>
            <a:r>
              <a:rPr sz="1000" b="0" i="1">
                <a:solidFill>
                  <a:srgbClr val="1E2430"/>
                </a:solidFill>
                <a:latin typeface="Calibri"/>
              </a:rPr>
              <a:t>df</a:t>
            </a:r>
            <a:r>
              <a:rPr sz="1000" b="0" i="0">
                <a:solidFill>
                  <a:srgbClr val="1E2430"/>
                </a:solidFill>
                <a:latin typeface="Calibri"/>
              </a:rPr>
              <a:t>&lt;sub&gt;2&lt;/sub&gt;)</a:t>
            </a:r>
          </a:p>
          <a:p>
            <a:pPr>
              <a:spcAft>
                <a:spcPts val="400"/>
              </a:spcAft>
            </a:pPr>
            <a:r>
              <a:rPr sz="1050" b="0" i="0">
                <a:solidFill>
                  <a:srgbClr val="1E2430"/>
                </a:solidFill>
                <a:latin typeface="Calibri"/>
              </a:rPr>
              <a:t>• </a:t>
            </a:r>
            <a:r>
              <a:rPr sz="1050" b="1" i="0">
                <a:solidFill>
                  <a:srgbClr val="1E2430"/>
                </a:solidFill>
                <a:latin typeface="Calibri"/>
              </a:rPr>
              <a:t>What Each Proven Parameter Means:</a:t>
            </a:r>
          </a:p>
          <a:p>
            <a:pPr>
              <a:spcAft>
                <a:spcPts val="400"/>
              </a:spcAft>
            </a:pPr>
            <a:r>
              <a:rPr sz="1000" b="0" i="0">
                <a:solidFill>
                  <a:srgbClr val="1E2430"/>
                </a:solidFill>
                <a:latin typeface="Calibri"/>
              </a:rPr>
              <a:t>    ▪ </a:t>
            </a:r>
            <a:r>
              <a:rPr sz="1000" b="1" i="0">
                <a:solidFill>
                  <a:srgbClr val="1E2430"/>
                </a:solidFill>
                <a:latin typeface="Calibri"/>
              </a:rPr>
              <a:t>α = .05 (Type I Error Rate):</a:t>
            </a:r>
            <a:r>
              <a:rPr sz="1000" b="0" i="0">
                <a:solidFill>
                  <a:srgbClr val="1E2430"/>
                </a:solidFill>
                <a:latin typeface="Calibri"/>
              </a:rPr>
              <a:t> Maximum 5% probability of declaring a false positive when the null hypothesis </a:t>
            </a:r>
            <a:r>
              <a:rPr sz="1000" b="0" i="1">
                <a:solidFill>
                  <a:srgbClr val="1E2430"/>
                </a:solidFill>
                <a:latin typeface="Calibri"/>
              </a:rPr>
              <a:t>H</a:t>
            </a:r>
            <a:r>
              <a:rPr sz="1000" b="0" i="0">
                <a:solidFill>
                  <a:srgbClr val="1E2430"/>
                </a:solidFill>
                <a:latin typeface="Calibri"/>
              </a:rPr>
              <a:t>&lt;sub&gt;0&lt;/sub&gt; is true.</a:t>
            </a:r>
          </a:p>
          <a:p>
            <a:pPr>
              <a:spcAft>
                <a:spcPts val="400"/>
              </a:spcAft>
            </a:pPr>
            <a:r>
              <a:rPr sz="1000" b="0" i="0">
                <a:solidFill>
                  <a:srgbClr val="1E2430"/>
                </a:solidFill>
                <a:latin typeface="Calibri"/>
              </a:rPr>
              <a:t>    ▪ </a:t>
            </a:r>
            <a:r>
              <a:rPr sz="1000" b="1" i="0">
                <a:solidFill>
                  <a:srgbClr val="1E2430"/>
                </a:solidFill>
                <a:latin typeface="Calibri"/>
              </a:rPr>
              <a:t>β = .20 → Power (1 − β) ≥ .80:</a:t>
            </a:r>
            <a:r>
              <a:rPr sz="1000" b="0" i="0">
                <a:solidFill>
                  <a:srgbClr val="1E2430"/>
                </a:solidFill>
                <a:latin typeface="Calibri"/>
              </a:rPr>
              <a:t> Minimum 80% probability of detecting a true effect when </a:t>
            </a:r>
            <a:r>
              <a:rPr sz="1000" b="0" i="1">
                <a:solidFill>
                  <a:srgbClr val="1E2430"/>
                </a:solidFill>
                <a:latin typeface="Calibri"/>
              </a:rPr>
              <a:t>H</a:t>
            </a:r>
            <a:r>
              <a:rPr sz="1000" b="0" i="0">
                <a:solidFill>
                  <a:srgbClr val="1E2430"/>
                </a:solidFill>
                <a:latin typeface="Calibri"/>
              </a:rPr>
              <a:t>&lt;sub&gt;a&lt;/sub&gt; is true (4-to-1 ratio of β to α recommended by Cohen, 1988).</a:t>
            </a:r>
          </a:p>
          <a:p>
            <a:pPr>
              <a:spcAft>
                <a:spcPts val="400"/>
              </a:spcAft>
            </a:pPr>
            <a:r>
              <a:rPr sz="1000" b="0" i="0">
                <a:solidFill>
                  <a:srgbClr val="1E2430"/>
                </a:solidFill>
                <a:latin typeface="Calibri"/>
              </a:rPr>
              <a:t>    ▪ </a:t>
            </a:r>
            <a:r>
              <a:rPr sz="1000" b="1" i="0">
                <a:solidFill>
                  <a:srgbClr val="1E2430"/>
                </a:solidFill>
                <a:latin typeface="Calibri"/>
              </a:rPr>
              <a:t>Cohen's </a:t>
            </a:r>
            <a:r>
              <a:rPr sz="1000" b="1" i="1">
                <a:solidFill>
                  <a:srgbClr val="1E2430"/>
                </a:solidFill>
                <a:latin typeface="Calibri"/>
              </a:rPr>
              <a:t>f</a:t>
            </a:r>
            <a:r>
              <a:rPr sz="1000" b="1" i="0">
                <a:solidFill>
                  <a:srgbClr val="1E2430"/>
                </a:solidFill>
                <a:latin typeface="Calibri"/>
              </a:rPr>
              <a:t> = .25 (Medium Effect Size):</a:t>
            </a:r>
            <a:r>
              <a:rPr sz="1000" b="0" i="0">
                <a:solidFill>
                  <a:srgbClr val="1E2430"/>
                </a:solidFill>
                <a:latin typeface="Calibri"/>
              </a:rPr>
              <a:t> Signal SD is 25% of within-group error SD (equivalent to η&lt;sup&gt;2&lt;/sup&gt; = </a:t>
            </a:r>
            <a:r>
              <a:rPr sz="1000" b="0" i="1">
                <a:solidFill>
                  <a:srgbClr val="1E2430"/>
                </a:solidFill>
                <a:latin typeface="Calibri"/>
              </a:rPr>
              <a:t>f</a:t>
            </a:r>
            <a:r>
              <a:rPr sz="1000" b="0" i="0">
                <a:solidFill>
                  <a:srgbClr val="1E2430"/>
                </a:solidFill>
                <a:latin typeface="Calibri"/>
              </a:rPr>
              <a:t>&lt;sup&gt;2&lt;/sup&gt; / (1 + </a:t>
            </a:r>
            <a:r>
              <a:rPr sz="1000" b="0" i="1">
                <a:solidFill>
                  <a:srgbClr val="1E2430"/>
                </a:solidFill>
                <a:latin typeface="Calibri"/>
              </a:rPr>
              <a:t>f</a:t>
            </a:r>
            <a:r>
              <a:rPr sz="1000" b="0" i="0">
                <a:solidFill>
                  <a:srgbClr val="1E2430"/>
                </a:solidFill>
                <a:latin typeface="Calibri"/>
              </a:rPr>
              <a:t>&lt;sup&gt;2&lt;/sup&gt;) = .0588, or ~6% explained variance).</a:t>
            </a:r>
          </a:p>
          <a:p>
            <a:pPr>
              <a:spcAft>
                <a:spcPts val="400"/>
              </a:spcAft>
            </a:pPr>
            <a:r>
              <a:rPr sz="1000" b="0" i="0">
                <a:solidFill>
                  <a:srgbClr val="1E2430"/>
                </a:solidFill>
                <a:latin typeface="Calibri"/>
              </a:rPr>
              <a:t>    ▪ </a:t>
            </a:r>
            <a:r>
              <a:rPr sz="1000" b="1" i="0">
                <a:solidFill>
                  <a:srgbClr val="1E2430"/>
                </a:solidFill>
                <a:latin typeface="Calibri"/>
              </a:rPr>
              <a:t>Noncentrality Parameter (λ):</a:t>
            </a:r>
            <a:r>
              <a:rPr sz="1000" b="0" i="0">
                <a:solidFill>
                  <a:srgbClr val="1E2430"/>
                </a:solidFill>
                <a:latin typeface="Calibri"/>
              </a:rPr>
              <a:t> Measures total statistical shift away from </a:t>
            </a:r>
            <a:r>
              <a:rPr sz="1000" b="0" i="1">
                <a:solidFill>
                  <a:srgbClr val="1E2430"/>
                </a:solidFill>
                <a:latin typeface="Calibri"/>
              </a:rPr>
              <a:t>H</a:t>
            </a:r>
            <a:r>
              <a:rPr sz="1000" b="0" i="0">
                <a:solidFill>
                  <a:srgbClr val="1E2430"/>
                </a:solidFill>
                <a:latin typeface="Calibri"/>
              </a:rPr>
              <a:t>&lt;sub&gt;0&lt;/sub&gt;:
      • Between-subjects (RQ1, RQ3, RQ4):  </a:t>
            </a:r>
            <a:r>
              <a:rPr sz="1000" b="1" i="0">
                <a:solidFill>
                  <a:srgbClr val="1E2430"/>
                </a:solidFill>
                <a:latin typeface="Calibri"/>
              </a:rPr>
              <a:t>λ = </a:t>
            </a:r>
            <a:r>
              <a:rPr sz="1000" b="1" i="1">
                <a:solidFill>
                  <a:srgbClr val="1E2430"/>
                </a:solidFill>
                <a:latin typeface="Calibri"/>
              </a:rPr>
              <a:t>f</a:t>
            </a:r>
            <a:r>
              <a:rPr sz="1000" b="1" i="0">
                <a:solidFill>
                  <a:srgbClr val="1E2430"/>
                </a:solidFill>
                <a:latin typeface="Calibri"/>
              </a:rPr>
              <a:t>&lt;sup&gt;2&lt;/sup&gt; · </a:t>
            </a:r>
            <a:r>
              <a:rPr sz="1000" b="1" i="1">
                <a:solidFill>
                  <a:srgbClr val="1E2430"/>
                </a:solidFill>
                <a:latin typeface="Calibri"/>
              </a:rPr>
              <a:t>N</a:t>
            </a:r>
            <a:r>
              <a:rPr sz="1000" b="0" i="0">
                <a:solidFill>
                  <a:srgbClr val="1E2430"/>
                </a:solidFill>
                <a:latin typeface="Calibri"/>
              </a:rPr>
              <a:t>
      • Repeated-measures (RQ2, </a:t>
            </a:r>
            <a:r>
              <a:rPr sz="1000" b="0" i="1">
                <a:solidFill>
                  <a:srgbClr val="1E2430"/>
                </a:solidFill>
                <a:latin typeface="Calibri"/>
              </a:rPr>
              <a:t>m</a:t>
            </a:r>
            <a:r>
              <a:rPr sz="1000" b="0" i="0">
                <a:solidFill>
                  <a:srgbClr val="1E2430"/>
                </a:solidFill>
                <a:latin typeface="Calibri"/>
              </a:rPr>
              <a:t>=3, ρ=.50):  </a:t>
            </a:r>
            <a:r>
              <a:rPr sz="1000" b="1" i="0">
                <a:solidFill>
                  <a:srgbClr val="1E2430"/>
                </a:solidFill>
                <a:latin typeface="Calibri"/>
              </a:rPr>
              <a:t>λ = </a:t>
            </a:r>
            <a:r>
              <a:rPr sz="1000" b="1" i="1">
                <a:solidFill>
                  <a:srgbClr val="1E2430"/>
                </a:solidFill>
                <a:latin typeface="Calibri"/>
              </a:rPr>
              <a:t>f</a:t>
            </a:r>
            <a:r>
              <a:rPr sz="1000" b="1" i="0">
                <a:solidFill>
                  <a:srgbClr val="1E2430"/>
                </a:solidFill>
                <a:latin typeface="Calibri"/>
              </a:rPr>
              <a:t>&lt;sup&gt;2&lt;/sup&gt; · </a:t>
            </a:r>
            <a:r>
              <a:rPr sz="1000" b="1" i="1">
                <a:solidFill>
                  <a:srgbClr val="1E2430"/>
                </a:solidFill>
                <a:latin typeface="Calibri"/>
              </a:rPr>
              <a:t>N</a:t>
            </a:r>
            <a:r>
              <a:rPr sz="1000" b="1" i="0">
                <a:solidFill>
                  <a:srgbClr val="1E2430"/>
                </a:solidFill>
                <a:latin typeface="Calibri"/>
              </a:rPr>
              <a:t> · </a:t>
            </a:r>
            <a:r>
              <a:rPr sz="1000" b="1" i="1">
                <a:solidFill>
                  <a:srgbClr val="1E2430"/>
                </a:solidFill>
                <a:latin typeface="Calibri"/>
              </a:rPr>
              <a:t>m</a:t>
            </a:r>
            <a:r>
              <a:rPr sz="1000" b="1" i="0">
                <a:solidFill>
                  <a:srgbClr val="1E2430"/>
                </a:solidFill>
                <a:latin typeface="Calibri"/>
              </a:rPr>
              <a:t> · ε / (1 − ρ)</a:t>
            </a:r>
          </a:p>
        </p:txBody>
      </p:sp>
      <p:graphicFrame>
        <p:nvGraphicFramePr>
          <p:cNvPr id="14" name="Table 13"/>
          <p:cNvGraphicFramePr>
            <a:graphicFrameLocks noGrp="1"/>
          </p:cNvGraphicFramePr>
          <p:nvPr/>
        </p:nvGraphicFramePr>
        <p:xfrm>
          <a:off x="5943600" y="1371600"/>
          <a:ext cx="5925308" cy="3246120"/>
        </p:xfrm>
        <a:graphic>
          <a:graphicData uri="http://schemas.openxmlformats.org/drawingml/2006/table">
            <a:tbl>
              <a:tblPr firstRow="1" bandRow="1">
                <a:tableStyleId>{5C22544A-7EE6-4342-B048-85BDC9FD1C3A}</a:tableStyleId>
              </a:tblPr>
              <a:tblGrid>
                <a:gridCol w="522821"/>
                <a:gridCol w="1481328"/>
                <a:gridCol w="609958"/>
                <a:gridCol w="609958"/>
                <a:gridCol w="522821"/>
                <a:gridCol w="609958"/>
                <a:gridCol w="958506"/>
                <a:gridCol w="609958"/>
              </a:tblGrid>
              <a:tr h="649224">
                <a:tc>
                  <a:txBody>
                    <a:bodyPr/>
                    <a:lstStyle/>
                    <a:p>
                      <a:pPr algn="l"/>
                      <a:r>
                        <a:rPr sz="1100" b="1" i="0">
                          <a:solidFill>
                            <a:srgbClr val="FFFFFF"/>
                          </a:solidFill>
                          <a:latin typeface="Calibri"/>
                        </a:rPr>
                        <a:t>RQ</a:t>
                      </a:r>
                    </a:p>
                  </a:txBody>
                  <a:tcPr anchor="ctr" marL="54864" marR="54864" marT="27432" marB="27432">
                    <a:solidFill>
                      <a:srgbClr val="14325C"/>
                    </a:solidFill>
                  </a:tcPr>
                </a:tc>
                <a:tc>
                  <a:txBody>
                    <a:bodyPr/>
                    <a:lstStyle/>
                    <a:p>
                      <a:pPr algn="l"/>
                      <a:r>
                        <a:rPr sz="1100" b="1" i="0">
                          <a:solidFill>
                            <a:srgbClr val="FFFFFF"/>
                          </a:solidFill>
                          <a:latin typeface="Calibri"/>
                        </a:rPr>
                        <a:t>Planned Design</a:t>
                      </a:r>
                    </a:p>
                  </a:txBody>
                  <a:tcPr anchor="ctr" marL="54864" marR="54864" marT="27432" marB="27432">
                    <a:solidFill>
                      <a:srgbClr val="14325C"/>
                    </a:solidFill>
                  </a:tcPr>
                </a:tc>
                <a:tc>
                  <a:txBody>
                    <a:bodyPr/>
                    <a:lstStyle/>
                    <a:p>
                      <a:pPr algn="ctr"/>
                      <a:r>
                        <a:rPr sz="1100" b="1" i="0">
                          <a:solidFill>
                            <a:srgbClr val="FFFFFF"/>
                          </a:solidFill>
                          <a:latin typeface="Calibri"/>
                        </a:rPr>
                        <a:t>df at N_min</a:t>
                      </a:r>
                    </a:p>
                  </a:txBody>
                  <a:tcPr anchor="ctr" marL="54864" marR="54864" marT="27432" marB="27432">
                    <a:solidFill>
                      <a:srgbClr val="14325C"/>
                    </a:solidFill>
                  </a:tcPr>
                </a:tc>
                <a:tc>
                  <a:txBody>
                    <a:bodyPr/>
                    <a:lstStyle/>
                    <a:p>
                      <a:pPr algn="ctr"/>
                      <a:r>
                        <a:rPr sz="1100" b="1" i="0">
                          <a:solidFill>
                            <a:srgbClr val="FFFFFF"/>
                          </a:solidFill>
                          <a:latin typeface="Calibri"/>
                        </a:rPr>
                        <a:t>λ at N_min</a:t>
                      </a:r>
                    </a:p>
                  </a:txBody>
                  <a:tcPr anchor="ctr" marL="54864" marR="54864" marT="27432" marB="27432">
                    <a:solidFill>
                      <a:srgbClr val="14325C"/>
                    </a:solidFill>
                  </a:tcPr>
                </a:tc>
                <a:tc>
                  <a:txBody>
                    <a:bodyPr/>
                    <a:lstStyle/>
                    <a:p>
                      <a:pPr algn="ctr"/>
                      <a:r>
                        <a:rPr sz="1100" b="1" i="0">
                          <a:solidFill>
                            <a:srgbClr val="FFFFFF"/>
                          </a:solidFill>
                          <a:latin typeface="Calibri"/>
                        </a:rPr>
                        <a:t>F_crit</a:t>
                      </a:r>
                    </a:p>
                  </a:txBody>
                  <a:tcPr anchor="ctr" marL="54864" marR="54864" marT="27432" marB="27432">
                    <a:solidFill>
                      <a:srgbClr val="14325C"/>
                    </a:solidFill>
                  </a:tcPr>
                </a:tc>
                <a:tc>
                  <a:txBody>
                    <a:bodyPr/>
                    <a:lstStyle/>
                    <a:p>
                      <a:pPr algn="ctr"/>
                      <a:r>
                        <a:rPr sz="1100" b="1" i="0">
                          <a:solidFill>
                            <a:srgbClr val="FFFFFF"/>
                          </a:solidFill>
                          <a:latin typeface="Calibri"/>
                        </a:rPr>
                        <a:t>N_min (.80)</a:t>
                      </a:r>
                    </a:p>
                  </a:txBody>
                  <a:tcPr anchor="ctr" marL="54864" marR="54864" marT="27432" marB="27432">
                    <a:solidFill>
                      <a:srgbClr val="14325C"/>
                    </a:solidFill>
                  </a:tcPr>
                </a:tc>
                <a:tc>
                  <a:txBody>
                    <a:bodyPr/>
                    <a:lstStyle/>
                    <a:p>
                      <a:pPr algn="ctr"/>
                      <a:r>
                        <a:rPr sz="1100" b="1" i="0">
                          <a:solidFill>
                            <a:srgbClr val="FFFFFF"/>
                          </a:solidFill>
                          <a:latin typeface="Calibri"/>
                        </a:rPr>
                        <a:t>Final N (+10% Buffer)</a:t>
                      </a:r>
                    </a:p>
                  </a:txBody>
                  <a:tcPr anchor="ctr" marL="54864" marR="54864" marT="27432" marB="27432">
                    <a:solidFill>
                      <a:srgbClr val="14325C"/>
                    </a:solidFill>
                  </a:tcPr>
                </a:tc>
                <a:tc>
                  <a:txBody>
                    <a:bodyPr/>
                    <a:lstStyle/>
                    <a:p>
                      <a:pPr algn="ctr"/>
                      <a:r>
                        <a:rPr sz="1100" b="1" i="0">
                          <a:solidFill>
                            <a:srgbClr val="FFFFFF"/>
                          </a:solidFill>
                          <a:latin typeface="Calibri"/>
                        </a:rPr>
                        <a:t>Final Power</a:t>
                      </a:r>
                    </a:p>
                  </a:txBody>
                  <a:tcPr anchor="ctr" marL="54864" marR="54864" marT="27432" marB="27432">
                    <a:solidFill>
                      <a:srgbClr val="14325C"/>
                    </a:solidFill>
                  </a:tcPr>
                </a:tc>
              </a:tr>
              <a:tr h="649224">
                <a:tc>
                  <a:txBody>
                    <a:bodyPr/>
                    <a:lstStyle/>
                    <a:p>
                      <a:pPr algn="l"/>
                      <a:r>
                        <a:rPr sz="1000" b="1" i="0">
                          <a:solidFill>
                            <a:srgbClr val="1E2430"/>
                          </a:solidFill>
                          <a:latin typeface="Calibri"/>
                        </a:rPr>
                        <a:t>RQ1</a:t>
                      </a:r>
                    </a:p>
                  </a:txBody>
                  <a:tcPr anchor="ctr" marL="54864" marR="54864" marT="22860" marB="22860">
                    <a:solidFill>
                      <a:srgbClr val="E1F3E8"/>
                    </a:solidFill>
                  </a:tcPr>
                </a:tc>
                <a:tc>
                  <a:txBody>
                    <a:bodyPr/>
                    <a:lstStyle/>
                    <a:p>
                      <a:pPr algn="l"/>
                      <a:r>
                        <a:rPr sz="1000" b="1" i="0">
                          <a:solidFill>
                            <a:srgbClr val="1E2430"/>
                          </a:solidFill>
                          <a:latin typeface="Calibri"/>
                        </a:rPr>
                        <a:t>One-way ANOVA (3 groups)</a:t>
                      </a:r>
                    </a:p>
                  </a:txBody>
                  <a:tcPr anchor="ctr" marL="54864" marR="54864" marT="22860" marB="22860">
                    <a:solidFill>
                      <a:srgbClr val="E1F3E8"/>
                    </a:solidFill>
                  </a:tcPr>
                </a:tc>
                <a:tc>
                  <a:txBody>
                    <a:bodyPr/>
                    <a:lstStyle/>
                    <a:p>
                      <a:pPr algn="ctr"/>
                      <a:r>
                        <a:rPr sz="1000" b="1" i="0">
                          <a:solidFill>
                            <a:srgbClr val="1E2430"/>
                          </a:solidFill>
                          <a:latin typeface="Calibri"/>
                        </a:rPr>
                        <a:t>2, 155</a:t>
                      </a:r>
                    </a:p>
                  </a:txBody>
                  <a:tcPr anchor="ctr" marL="54864" marR="54864" marT="22860" marB="22860">
                    <a:solidFill>
                      <a:srgbClr val="E1F3E8"/>
                    </a:solidFill>
                  </a:tcPr>
                </a:tc>
                <a:tc>
                  <a:txBody>
                    <a:bodyPr/>
                    <a:lstStyle/>
                    <a:p>
                      <a:pPr algn="ctr"/>
                      <a:r>
                        <a:rPr sz="1000" b="1" i="0">
                          <a:solidFill>
                            <a:srgbClr val="1E2430"/>
                          </a:solidFill>
                          <a:latin typeface="Calibri"/>
                        </a:rPr>
                        <a:t>9.88</a:t>
                      </a:r>
                    </a:p>
                  </a:txBody>
                  <a:tcPr anchor="ctr" marL="54864" marR="54864" marT="22860" marB="22860">
                    <a:solidFill>
                      <a:srgbClr val="E1F3E8"/>
                    </a:solidFill>
                  </a:tcPr>
                </a:tc>
                <a:tc>
                  <a:txBody>
                    <a:bodyPr/>
                    <a:lstStyle/>
                    <a:p>
                      <a:pPr algn="ctr"/>
                      <a:r>
                        <a:rPr sz="1000" b="1" i="0">
                          <a:solidFill>
                            <a:srgbClr val="1E2430"/>
                          </a:solidFill>
                          <a:latin typeface="Calibri"/>
                        </a:rPr>
                        <a:t>3.05</a:t>
                      </a:r>
                    </a:p>
                  </a:txBody>
                  <a:tcPr anchor="ctr" marL="54864" marR="54864" marT="22860" marB="22860">
                    <a:solidFill>
                      <a:srgbClr val="E1F3E8"/>
                    </a:solidFill>
                  </a:tcPr>
                </a:tc>
                <a:tc>
                  <a:txBody>
                    <a:bodyPr/>
                    <a:lstStyle/>
                    <a:p>
                      <a:pPr algn="ctr"/>
                      <a:r>
                        <a:rPr sz="1000" b="1" i="0">
                          <a:solidFill>
                            <a:srgbClr val="1E2430"/>
                          </a:solidFill>
                          <a:latin typeface="Calibri"/>
                        </a:rPr>
                        <a:t>158</a:t>
                      </a:r>
                    </a:p>
                  </a:txBody>
                  <a:tcPr anchor="ctr" marL="54864" marR="54864" marT="22860" marB="22860">
                    <a:solidFill>
                      <a:srgbClr val="E1F3E8"/>
                    </a:solidFill>
                  </a:tcPr>
                </a:tc>
                <a:tc>
                  <a:txBody>
                    <a:bodyPr/>
                    <a:lstStyle/>
                    <a:p>
                      <a:pPr algn="ctr"/>
                      <a:r>
                        <a:rPr sz="1000" b="1" i="0">
                          <a:solidFill>
                            <a:srgbClr val="1E2430"/>
                          </a:solidFill>
                          <a:latin typeface="Calibri"/>
                        </a:rPr>
                        <a:t>159 (53 / alg)</a:t>
                      </a:r>
                    </a:p>
                  </a:txBody>
                  <a:tcPr anchor="ctr" marL="54864" marR="54864" marT="22860" marB="22860">
                    <a:solidFill>
                      <a:srgbClr val="E1F3E8"/>
                    </a:solidFill>
                  </a:tcPr>
                </a:tc>
                <a:tc>
                  <a:txBody>
                    <a:bodyPr/>
                    <a:lstStyle/>
                    <a:p>
                      <a:pPr algn="ctr"/>
                      <a:r>
                        <a:rPr sz="1000" b="1" i="0">
                          <a:solidFill>
                            <a:srgbClr val="1E2430"/>
                          </a:solidFill>
                          <a:latin typeface="Calibri"/>
                        </a:rPr>
                        <a:t>.804</a:t>
                      </a:r>
                    </a:p>
                  </a:txBody>
                  <a:tcPr anchor="ctr" marL="54864" marR="54864" marT="22860" marB="22860">
                    <a:solidFill>
                      <a:srgbClr val="E1F3E8"/>
                    </a:solidFill>
                  </a:tcPr>
                </a:tc>
              </a:tr>
              <a:tr h="649224">
                <a:tc>
                  <a:txBody>
                    <a:bodyPr/>
                    <a:lstStyle/>
                    <a:p>
                      <a:pPr algn="l"/>
                      <a:r>
                        <a:rPr sz="1000" b="1" i="0">
                          <a:solidFill>
                            <a:srgbClr val="1E2430"/>
                          </a:solidFill>
                          <a:latin typeface="Calibri"/>
                        </a:rPr>
                        <a:t>RQ2</a:t>
                      </a:r>
                    </a:p>
                  </a:txBody>
                  <a:tcPr anchor="ctr" marL="54864" marR="54864" marT="22860" marB="22860">
                    <a:solidFill>
                      <a:srgbClr val="E1F3E8"/>
                    </a:solidFill>
                  </a:tcPr>
                </a:tc>
                <a:tc>
                  <a:txBody>
                    <a:bodyPr/>
                    <a:lstStyle/>
                    <a:p>
                      <a:pPr algn="l"/>
                      <a:r>
                        <a:rPr sz="1000" b="1" i="0">
                          <a:solidFill>
                            <a:srgbClr val="1E2430"/>
                          </a:solidFill>
                          <a:latin typeface="Calibri"/>
                        </a:rPr>
                        <a:t>RM-ANOVA (3 conds, ρ=.50)</a:t>
                      </a:r>
                    </a:p>
                  </a:txBody>
                  <a:tcPr anchor="ctr" marL="54864" marR="54864" marT="22860" marB="22860">
                    <a:solidFill>
                      <a:srgbClr val="E1F3E8"/>
                    </a:solidFill>
                  </a:tcPr>
                </a:tc>
                <a:tc>
                  <a:txBody>
                    <a:bodyPr/>
                    <a:lstStyle/>
                    <a:p>
                      <a:pPr algn="ctr"/>
                      <a:r>
                        <a:rPr sz="1000" b="1" i="0">
                          <a:solidFill>
                            <a:srgbClr val="1E2430"/>
                          </a:solidFill>
                          <a:latin typeface="Calibri"/>
                        </a:rPr>
                        <a:t>2, 54</a:t>
                      </a:r>
                    </a:p>
                  </a:txBody>
                  <a:tcPr anchor="ctr" marL="54864" marR="54864" marT="22860" marB="22860">
                    <a:solidFill>
                      <a:srgbClr val="E1F3E8"/>
                    </a:solidFill>
                  </a:tcPr>
                </a:tc>
                <a:tc>
                  <a:txBody>
                    <a:bodyPr/>
                    <a:lstStyle/>
                    <a:p>
                      <a:pPr algn="ctr"/>
                      <a:r>
                        <a:rPr sz="1000" b="1" i="0">
                          <a:solidFill>
                            <a:srgbClr val="1E2430"/>
                          </a:solidFill>
                          <a:latin typeface="Calibri"/>
                        </a:rPr>
                        <a:t>10.50</a:t>
                      </a:r>
                    </a:p>
                  </a:txBody>
                  <a:tcPr anchor="ctr" marL="54864" marR="54864" marT="22860" marB="22860">
                    <a:solidFill>
                      <a:srgbClr val="E1F3E8"/>
                    </a:solidFill>
                  </a:tcPr>
                </a:tc>
                <a:tc>
                  <a:txBody>
                    <a:bodyPr/>
                    <a:lstStyle/>
                    <a:p>
                      <a:pPr algn="ctr"/>
                      <a:r>
                        <a:rPr sz="1000" b="1" i="0">
                          <a:solidFill>
                            <a:srgbClr val="1E2430"/>
                          </a:solidFill>
                          <a:latin typeface="Calibri"/>
                        </a:rPr>
                        <a:t>3.17</a:t>
                      </a:r>
                    </a:p>
                  </a:txBody>
                  <a:tcPr anchor="ctr" marL="54864" marR="54864" marT="22860" marB="22860">
                    <a:solidFill>
                      <a:srgbClr val="E1F3E8"/>
                    </a:solidFill>
                  </a:tcPr>
                </a:tc>
                <a:tc>
                  <a:txBody>
                    <a:bodyPr/>
                    <a:lstStyle/>
                    <a:p>
                      <a:pPr algn="ctr"/>
                      <a:r>
                        <a:rPr sz="1000" b="1" i="0">
                          <a:solidFill>
                            <a:srgbClr val="1E2430"/>
                          </a:solidFill>
                          <a:latin typeface="Calibri"/>
                        </a:rPr>
                        <a:t>28</a:t>
                      </a:r>
                    </a:p>
                  </a:txBody>
                  <a:tcPr anchor="ctr" marL="54864" marR="54864" marT="22860" marB="22860">
                    <a:solidFill>
                      <a:srgbClr val="E1F3E8"/>
                    </a:solidFill>
                  </a:tcPr>
                </a:tc>
                <a:tc>
                  <a:txBody>
                    <a:bodyPr/>
                    <a:lstStyle/>
                    <a:p>
                      <a:pPr algn="ctr"/>
                      <a:r>
                        <a:rPr sz="1000" b="1" i="0">
                          <a:solidFill>
                            <a:srgbClr val="1E2430"/>
                          </a:solidFill>
                          <a:latin typeface="Calibri"/>
                        </a:rPr>
                        <a:t>33 (99 calls)</a:t>
                      </a:r>
                    </a:p>
                  </a:txBody>
                  <a:tcPr anchor="ctr" marL="54864" marR="54864" marT="22860" marB="22860">
                    <a:solidFill>
                      <a:srgbClr val="E1F3E8"/>
                    </a:solidFill>
                  </a:tcPr>
                </a:tc>
                <a:tc>
                  <a:txBody>
                    <a:bodyPr/>
                    <a:lstStyle/>
                    <a:p>
                      <a:pPr algn="ctr"/>
                      <a:r>
                        <a:rPr sz="1000" b="1" i="0">
                          <a:solidFill>
                            <a:srgbClr val="1E2430"/>
                          </a:solidFill>
                          <a:latin typeface="Calibri"/>
                        </a:rPr>
                        <a:t>.865</a:t>
                      </a:r>
                    </a:p>
                  </a:txBody>
                  <a:tcPr anchor="ctr" marL="54864" marR="54864" marT="22860" marB="22860">
                    <a:solidFill>
                      <a:srgbClr val="E1F3E8"/>
                    </a:solidFill>
                  </a:tcPr>
                </a:tc>
              </a:tr>
              <a:tr h="649224">
                <a:tc>
                  <a:txBody>
                    <a:bodyPr/>
                    <a:lstStyle/>
                    <a:p>
                      <a:pPr algn="l"/>
                      <a:r>
                        <a:rPr sz="1000" b="1" i="0">
                          <a:solidFill>
                            <a:srgbClr val="1E2430"/>
                          </a:solidFill>
                          <a:latin typeface="Calibri"/>
                        </a:rPr>
                        <a:t>RQ3</a:t>
                      </a:r>
                    </a:p>
                  </a:txBody>
                  <a:tcPr anchor="ctr" marL="54864" marR="54864" marT="22860" marB="22860">
                    <a:solidFill>
                      <a:srgbClr val="E1F3E8"/>
                    </a:solidFill>
                  </a:tcPr>
                </a:tc>
                <a:tc>
                  <a:txBody>
                    <a:bodyPr/>
                    <a:lstStyle/>
                    <a:p>
                      <a:pPr algn="l"/>
                      <a:r>
                        <a:rPr sz="1000" b="1" i="0">
                          <a:solidFill>
                            <a:srgbClr val="1E2430"/>
                          </a:solidFill>
                          <a:latin typeface="Calibri"/>
                        </a:rPr>
                        <a:t>2 × 2 Factorial (df1 = 1)</a:t>
                      </a:r>
                    </a:p>
                  </a:txBody>
                  <a:tcPr anchor="ctr" marL="54864" marR="54864" marT="22860" marB="22860">
                    <a:solidFill>
                      <a:srgbClr val="E1F3E8"/>
                    </a:solidFill>
                  </a:tcPr>
                </a:tc>
                <a:tc>
                  <a:txBody>
                    <a:bodyPr/>
                    <a:lstStyle/>
                    <a:p>
                      <a:pPr algn="ctr"/>
                      <a:r>
                        <a:rPr sz="1000" b="1" i="0">
                          <a:solidFill>
                            <a:srgbClr val="1E2430"/>
                          </a:solidFill>
                          <a:latin typeface="Calibri"/>
                        </a:rPr>
                        <a:t>1, 124</a:t>
                      </a:r>
                    </a:p>
                  </a:txBody>
                  <a:tcPr anchor="ctr" marL="54864" marR="54864" marT="22860" marB="22860">
                    <a:solidFill>
                      <a:srgbClr val="E1F3E8"/>
                    </a:solidFill>
                  </a:tcPr>
                </a:tc>
                <a:tc>
                  <a:txBody>
                    <a:bodyPr/>
                    <a:lstStyle/>
                    <a:p>
                      <a:pPr algn="ctr"/>
                      <a:r>
                        <a:rPr sz="1000" b="1" i="0">
                          <a:solidFill>
                            <a:srgbClr val="1E2430"/>
                          </a:solidFill>
                          <a:latin typeface="Calibri"/>
                        </a:rPr>
                        <a:t>8.00</a:t>
                      </a:r>
                    </a:p>
                  </a:txBody>
                  <a:tcPr anchor="ctr" marL="54864" marR="54864" marT="22860" marB="22860">
                    <a:solidFill>
                      <a:srgbClr val="E1F3E8"/>
                    </a:solidFill>
                  </a:tcPr>
                </a:tc>
                <a:tc>
                  <a:txBody>
                    <a:bodyPr/>
                    <a:lstStyle/>
                    <a:p>
                      <a:pPr algn="ctr"/>
                      <a:r>
                        <a:rPr sz="1000" b="1" i="0">
                          <a:solidFill>
                            <a:srgbClr val="1E2430"/>
                          </a:solidFill>
                          <a:latin typeface="Calibri"/>
                        </a:rPr>
                        <a:t>3.92</a:t>
                      </a:r>
                    </a:p>
                  </a:txBody>
                  <a:tcPr anchor="ctr" marL="54864" marR="54864" marT="22860" marB="22860">
                    <a:solidFill>
                      <a:srgbClr val="E1F3E8"/>
                    </a:solidFill>
                  </a:tcPr>
                </a:tc>
                <a:tc>
                  <a:txBody>
                    <a:bodyPr/>
                    <a:lstStyle/>
                    <a:p>
                      <a:pPr algn="ctr"/>
                      <a:r>
                        <a:rPr sz="1000" b="1" i="0">
                          <a:solidFill>
                            <a:srgbClr val="1E2430"/>
                          </a:solidFill>
                          <a:latin typeface="Calibri"/>
                        </a:rPr>
                        <a:t>128</a:t>
                      </a:r>
                    </a:p>
                  </a:txBody>
                  <a:tcPr anchor="ctr" marL="54864" marR="54864" marT="22860" marB="22860">
                    <a:solidFill>
                      <a:srgbClr val="E1F3E8"/>
                    </a:solidFill>
                  </a:tcPr>
                </a:tc>
                <a:tc>
                  <a:txBody>
                    <a:bodyPr/>
                    <a:lstStyle/>
                    <a:p>
                      <a:pPr algn="ctr"/>
                      <a:r>
                        <a:rPr sz="1000" b="1" i="0">
                          <a:solidFill>
                            <a:srgbClr val="1E2430"/>
                          </a:solidFill>
                          <a:latin typeface="Calibri"/>
                        </a:rPr>
                        <a:t>144 (36 / cell)</a:t>
                      </a:r>
                    </a:p>
                  </a:txBody>
                  <a:tcPr anchor="ctr" marL="54864" marR="54864" marT="22860" marB="22860">
                    <a:solidFill>
                      <a:srgbClr val="E1F3E8"/>
                    </a:solidFill>
                  </a:tcPr>
                </a:tc>
                <a:tc>
                  <a:txBody>
                    <a:bodyPr/>
                    <a:lstStyle/>
                    <a:p>
                      <a:pPr algn="ctr"/>
                      <a:r>
                        <a:rPr sz="1000" b="1" i="0">
                          <a:solidFill>
                            <a:srgbClr val="1E2430"/>
                          </a:solidFill>
                          <a:latin typeface="Calibri"/>
                        </a:rPr>
                        <a:t>.847</a:t>
                      </a:r>
                    </a:p>
                  </a:txBody>
                  <a:tcPr anchor="ctr" marL="54864" marR="54864" marT="22860" marB="22860">
                    <a:solidFill>
                      <a:srgbClr val="E1F3E8"/>
                    </a:solidFill>
                  </a:tcPr>
                </a:tc>
              </a:tr>
              <a:tr h="649224">
                <a:tc>
                  <a:txBody>
                    <a:bodyPr/>
                    <a:lstStyle/>
                    <a:p>
                      <a:pPr algn="l"/>
                      <a:r>
                        <a:rPr sz="1000" b="1" i="0">
                          <a:solidFill>
                            <a:srgbClr val="1E2430"/>
                          </a:solidFill>
                          <a:latin typeface="Calibri"/>
                        </a:rPr>
                        <a:t>RQ4</a:t>
                      </a:r>
                    </a:p>
                  </a:txBody>
                  <a:tcPr anchor="ctr" marL="54864" marR="54864" marT="22860" marB="22860">
                    <a:solidFill>
                      <a:srgbClr val="E1F3E8"/>
                    </a:solidFill>
                  </a:tcPr>
                </a:tc>
                <a:tc>
                  <a:txBody>
                    <a:bodyPr/>
                    <a:lstStyle/>
                    <a:p>
                      <a:pPr algn="l"/>
                      <a:r>
                        <a:rPr sz="1000" b="1" i="0">
                          <a:solidFill>
                            <a:srgbClr val="1E2430"/>
                          </a:solidFill>
                          <a:latin typeface="Calibri"/>
                        </a:rPr>
                        <a:t>2 × 3 Factorial (df1 = 2)</a:t>
                      </a:r>
                    </a:p>
                  </a:txBody>
                  <a:tcPr anchor="ctr" marL="54864" marR="54864" marT="22860" marB="22860">
                    <a:solidFill>
                      <a:srgbClr val="E1F3E8"/>
                    </a:solidFill>
                  </a:tcPr>
                </a:tc>
                <a:tc>
                  <a:txBody>
                    <a:bodyPr/>
                    <a:lstStyle/>
                    <a:p>
                      <a:pPr algn="ctr"/>
                      <a:r>
                        <a:rPr sz="1000" b="1" i="0">
                          <a:solidFill>
                            <a:srgbClr val="1E2430"/>
                          </a:solidFill>
                          <a:latin typeface="Calibri"/>
                        </a:rPr>
                        <a:t>2, 152</a:t>
                      </a:r>
                    </a:p>
                  </a:txBody>
                  <a:tcPr anchor="ctr" marL="54864" marR="54864" marT="22860" marB="22860">
                    <a:solidFill>
                      <a:srgbClr val="E1F3E8"/>
                    </a:solidFill>
                  </a:tcPr>
                </a:tc>
                <a:tc>
                  <a:txBody>
                    <a:bodyPr/>
                    <a:lstStyle/>
                    <a:p>
                      <a:pPr algn="ctr"/>
                      <a:r>
                        <a:rPr sz="1000" b="1" i="0">
                          <a:solidFill>
                            <a:srgbClr val="1E2430"/>
                          </a:solidFill>
                          <a:latin typeface="Calibri"/>
                        </a:rPr>
                        <a:t>9.88</a:t>
                      </a:r>
                    </a:p>
                  </a:txBody>
                  <a:tcPr anchor="ctr" marL="54864" marR="54864" marT="22860" marB="22860">
                    <a:solidFill>
                      <a:srgbClr val="E1F3E8"/>
                    </a:solidFill>
                  </a:tcPr>
                </a:tc>
                <a:tc>
                  <a:txBody>
                    <a:bodyPr/>
                    <a:lstStyle/>
                    <a:p>
                      <a:pPr algn="ctr"/>
                      <a:r>
                        <a:rPr sz="1000" b="1" i="0">
                          <a:solidFill>
                            <a:srgbClr val="1E2430"/>
                          </a:solidFill>
                          <a:latin typeface="Calibri"/>
                        </a:rPr>
                        <a:t>3.06</a:t>
                      </a:r>
                    </a:p>
                  </a:txBody>
                  <a:tcPr anchor="ctr" marL="54864" marR="54864" marT="22860" marB="22860">
                    <a:solidFill>
                      <a:srgbClr val="E1F3E8"/>
                    </a:solidFill>
                  </a:tcPr>
                </a:tc>
                <a:tc>
                  <a:txBody>
                    <a:bodyPr/>
                    <a:lstStyle/>
                    <a:p>
                      <a:pPr algn="ctr"/>
                      <a:r>
                        <a:rPr sz="1000" b="1" i="0">
                          <a:solidFill>
                            <a:srgbClr val="1E2430"/>
                          </a:solidFill>
                          <a:latin typeface="Calibri"/>
                        </a:rPr>
                        <a:t>158</a:t>
                      </a:r>
                    </a:p>
                  </a:txBody>
                  <a:tcPr anchor="ctr" marL="54864" marR="54864" marT="22860" marB="22860">
                    <a:solidFill>
                      <a:srgbClr val="E1F3E8"/>
                    </a:solidFill>
                  </a:tcPr>
                </a:tc>
                <a:tc>
                  <a:txBody>
                    <a:bodyPr/>
                    <a:lstStyle/>
                    <a:p>
                      <a:pPr algn="ctr"/>
                      <a:r>
                        <a:rPr sz="1000" b="1" i="0">
                          <a:solidFill>
                            <a:srgbClr val="1E2430"/>
                          </a:solidFill>
                          <a:latin typeface="Calibri"/>
                        </a:rPr>
                        <a:t>180 (30 / cell)</a:t>
                      </a:r>
                    </a:p>
                  </a:txBody>
                  <a:tcPr anchor="ctr" marL="54864" marR="54864" marT="22860" marB="22860">
                    <a:solidFill>
                      <a:srgbClr val="E1F3E8"/>
                    </a:solidFill>
                  </a:tcPr>
                </a:tc>
                <a:tc>
                  <a:txBody>
                    <a:bodyPr/>
                    <a:lstStyle/>
                    <a:p>
                      <a:pPr algn="ctr"/>
                      <a:r>
                        <a:rPr sz="1000" b="1" i="0">
                          <a:solidFill>
                            <a:srgbClr val="1E2430"/>
                          </a:solidFill>
                          <a:latin typeface="Calibri"/>
                        </a:rPr>
                        <a:t>.857</a:t>
                      </a:r>
                    </a:p>
                  </a:txBody>
                  <a:tcPr anchor="ctr" marL="54864" marR="54864" marT="22860" marB="22860">
                    <a:solidFill>
                      <a:srgbClr val="E1F3E8"/>
                    </a:solidFill>
                  </a:tcPr>
                </a:tc>
              </a:tr>
            </a:tbl>
          </a:graphicData>
        </a:graphic>
      </p:graphicFrame>
      <p:sp>
        <p:nvSpPr>
          <p:cNvPr id="15" name="Rounded Rectangle 14"/>
          <p:cNvSpPr/>
          <p:nvPr/>
        </p:nvSpPr>
        <p:spPr>
          <a:xfrm>
            <a:off x="320040" y="4754880"/>
            <a:ext cx="11548872" cy="1691640"/>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080" b="1" i="0">
                <a:solidFill>
                  <a:srgbClr val="1E2430"/>
                </a:solidFill>
                <a:latin typeface="Calibri"/>
              </a:rPr>
              <a:t>Why λ (Noncentrality) Is the Key Bridge Between Effect Size (f) and Sample Size (N):</a:t>
            </a:r>
            <a:r>
              <a:rPr sz="1080" b="0" i="0">
                <a:solidFill>
                  <a:srgbClr val="1E2430"/>
                </a:solidFill>
                <a:latin typeface="Calibri"/>
              </a:rPr>
              <a:t>
• To achieve 80% power at α = .05, the noncentral </a:t>
            </a:r>
            <a:r>
              <a:rPr sz="1080" b="0" i="1">
                <a:solidFill>
                  <a:srgbClr val="1E2430"/>
                </a:solidFill>
                <a:latin typeface="Calibri"/>
              </a:rPr>
              <a:t>F</a:t>
            </a:r>
            <a:r>
              <a:rPr sz="1080" b="0" i="0">
                <a:solidFill>
                  <a:srgbClr val="1E2430"/>
                </a:solidFill>
                <a:latin typeface="Calibri"/>
              </a:rPr>
              <a:t> distribution requires a minimum noncentrality shift of </a:t>
            </a:r>
            <a:r>
              <a:rPr sz="1080" b="1" i="0">
                <a:solidFill>
                  <a:srgbClr val="1E2430"/>
                </a:solidFill>
                <a:latin typeface="Calibri"/>
              </a:rPr>
              <a:t>λ ≈ 7.85 to 9.88</a:t>
            </a:r>
            <a:r>
              <a:rPr sz="1080" b="0" i="0">
                <a:solidFill>
                  <a:srgbClr val="1E2430"/>
                </a:solidFill>
                <a:latin typeface="Calibri"/>
              </a:rPr>
              <a:t> (depending on numerator </a:t>
            </a:r>
            <a:r>
              <a:rPr sz="1080" b="0" i="1">
                <a:solidFill>
                  <a:srgbClr val="1E2430"/>
                </a:solidFill>
                <a:latin typeface="Calibri"/>
              </a:rPr>
              <a:t>df</a:t>
            </a:r>
            <a:r>
              <a:rPr sz="1080" b="0" i="0">
                <a:solidFill>
                  <a:srgbClr val="1E2430"/>
                </a:solidFill>
                <a:latin typeface="Calibri"/>
              </a:rPr>
              <a:t>&lt;sub&gt;1&lt;/sub&gt; = 1 or 2).
• Since </a:t>
            </a:r>
            <a:r>
              <a:rPr sz="1080" b="1" i="0">
                <a:solidFill>
                  <a:srgbClr val="1E2430"/>
                </a:solidFill>
                <a:latin typeface="Calibri"/>
              </a:rPr>
              <a:t>λ = </a:t>
            </a:r>
            <a:r>
              <a:rPr sz="1080" b="1" i="1">
                <a:solidFill>
                  <a:srgbClr val="1E2430"/>
                </a:solidFill>
                <a:latin typeface="Calibri"/>
              </a:rPr>
              <a:t>f</a:t>
            </a:r>
            <a:r>
              <a:rPr sz="1080" b="1" i="0">
                <a:solidFill>
                  <a:srgbClr val="1E2430"/>
                </a:solidFill>
                <a:latin typeface="Calibri"/>
              </a:rPr>
              <a:t>&lt;sup&gt;2&lt;/sup&gt; · </a:t>
            </a:r>
            <a:r>
              <a:rPr sz="1080" b="1" i="1">
                <a:solidFill>
                  <a:srgbClr val="1E2430"/>
                </a:solidFill>
                <a:latin typeface="Calibri"/>
              </a:rPr>
              <a:t>N</a:t>
            </a:r>
            <a:r>
              <a:rPr sz="1080" b="0" i="0">
                <a:solidFill>
                  <a:srgbClr val="1E2430"/>
                </a:solidFill>
                <a:latin typeface="Calibri"/>
              </a:rPr>
              <a:t> and </a:t>
            </a:r>
            <a:r>
              <a:rPr sz="1080" b="0" i="1">
                <a:solidFill>
                  <a:srgbClr val="1E2430"/>
                </a:solidFill>
                <a:latin typeface="Calibri"/>
              </a:rPr>
              <a:t>f</a:t>
            </a:r>
            <a:r>
              <a:rPr sz="1080" b="0" i="0">
                <a:solidFill>
                  <a:srgbClr val="1E2430"/>
                </a:solidFill>
                <a:latin typeface="Calibri"/>
              </a:rPr>
              <a:t>&lt;sup&gt;2&lt;/sup&gt; = (0.25)&lt;sup&gt;2&lt;/sup&gt; = 0.0625, solving 0.0625 · </a:t>
            </a:r>
            <a:r>
              <a:rPr sz="1080" b="0" i="1">
                <a:solidFill>
                  <a:srgbClr val="1E2430"/>
                </a:solidFill>
                <a:latin typeface="Calibri"/>
              </a:rPr>
              <a:t>N</a:t>
            </a:r>
            <a:r>
              <a:rPr sz="1080" b="0" i="0">
                <a:solidFill>
                  <a:srgbClr val="1E2430"/>
                </a:solidFill>
                <a:latin typeface="Calibri"/>
              </a:rPr>
              <a:t> ≈ 8.00 immediately yields </a:t>
            </a:r>
            <a:r>
              <a:rPr sz="1080" b="1" i="1">
                <a:solidFill>
                  <a:srgbClr val="1E2430"/>
                </a:solidFill>
                <a:latin typeface="Calibri"/>
              </a:rPr>
              <a:t>N</a:t>
            </a:r>
            <a:r>
              <a:rPr sz="1080" b="1" i="0">
                <a:solidFill>
                  <a:srgbClr val="1E2430"/>
                </a:solidFill>
                <a:latin typeface="Calibri"/>
              </a:rPr>
              <a:t>&lt;sub&gt;min&lt;/sub&gt; = 128</a:t>
            </a:r>
            <a:r>
              <a:rPr sz="1080" b="0" i="0">
                <a:solidFill>
                  <a:srgbClr val="1E2430"/>
                </a:solidFill>
                <a:latin typeface="Calibri"/>
              </a:rPr>
              <a:t> for </a:t>
            </a:r>
            <a:r>
              <a:rPr sz="1080" b="0" i="1">
                <a:solidFill>
                  <a:srgbClr val="1E2430"/>
                </a:solidFill>
                <a:latin typeface="Calibri"/>
              </a:rPr>
              <a:t>df</a:t>
            </a:r>
            <a:r>
              <a:rPr sz="1080" b="0" i="0">
                <a:solidFill>
                  <a:srgbClr val="1E2430"/>
                </a:solidFill>
                <a:latin typeface="Calibri"/>
              </a:rPr>
              <a:t>&lt;sub&gt;1&lt;/sub&gt; = 1 (RQ3) and solving 0.0625 · </a:t>
            </a:r>
            <a:r>
              <a:rPr sz="1080" b="0" i="1">
                <a:solidFill>
                  <a:srgbClr val="1E2430"/>
                </a:solidFill>
                <a:latin typeface="Calibri"/>
              </a:rPr>
              <a:t>N</a:t>
            </a:r>
            <a:r>
              <a:rPr sz="1080" b="0" i="0">
                <a:solidFill>
                  <a:srgbClr val="1E2430"/>
                </a:solidFill>
                <a:latin typeface="Calibri"/>
              </a:rPr>
              <a:t> ≈ 9.88 yields </a:t>
            </a:r>
            <a:r>
              <a:rPr sz="1080" b="1" i="1">
                <a:solidFill>
                  <a:srgbClr val="1E2430"/>
                </a:solidFill>
                <a:latin typeface="Calibri"/>
              </a:rPr>
              <a:t>N</a:t>
            </a:r>
            <a:r>
              <a:rPr sz="1080" b="1" i="0">
                <a:solidFill>
                  <a:srgbClr val="1E2430"/>
                </a:solidFill>
                <a:latin typeface="Calibri"/>
              </a:rPr>
              <a:t>&lt;sub&gt;min&lt;/sub&gt; = 158</a:t>
            </a:r>
            <a:r>
              <a:rPr sz="1080" b="0" i="0">
                <a:solidFill>
                  <a:srgbClr val="1E2430"/>
                </a:solidFill>
                <a:latin typeface="Calibri"/>
              </a:rPr>
              <a:t> for </a:t>
            </a:r>
            <a:r>
              <a:rPr sz="1080" b="0" i="1">
                <a:solidFill>
                  <a:srgbClr val="1E2430"/>
                </a:solidFill>
                <a:latin typeface="Calibri"/>
              </a:rPr>
              <a:t>df</a:t>
            </a:r>
            <a:r>
              <a:rPr sz="1080" b="0" i="0">
                <a:solidFill>
                  <a:srgbClr val="1E2430"/>
                </a:solidFill>
                <a:latin typeface="Calibri"/>
              </a:rPr>
              <a:t>&lt;sub&gt;1&lt;/sub&gt; = 2 (RQ1, RQ4)!
• In RQ2, because each dialogue acts as its own control across </a:t>
            </a:r>
            <a:r>
              <a:rPr sz="1080" b="0" i="1">
                <a:solidFill>
                  <a:srgbClr val="1E2430"/>
                </a:solidFill>
                <a:latin typeface="Calibri"/>
              </a:rPr>
              <a:t>m</a:t>
            </a:r>
            <a:r>
              <a:rPr sz="1080" b="0" i="0">
                <a:solidFill>
                  <a:srgbClr val="1E2430"/>
                </a:solidFill>
                <a:latin typeface="Calibri"/>
              </a:rPr>
              <a:t> = 3 conditions with within-subject correlation ρ = .50, the variance is halved by (1 − ρ) = 0.50, multiplying λ by </a:t>
            </a:r>
            <a:r>
              <a:rPr sz="1080" b="0" i="1">
                <a:solidFill>
                  <a:srgbClr val="1E2430"/>
                </a:solidFill>
                <a:latin typeface="Calibri"/>
              </a:rPr>
              <a:t>m</a:t>
            </a:r>
            <a:r>
              <a:rPr sz="1080" b="0" i="0">
                <a:solidFill>
                  <a:srgbClr val="1E2430"/>
                </a:solidFill>
                <a:latin typeface="Calibri"/>
              </a:rPr>
              <a:t>/(1−ρ) = 6 and requiring only </a:t>
            </a:r>
            <a:r>
              <a:rPr sz="1080" b="1" i="1">
                <a:solidFill>
                  <a:srgbClr val="1E2430"/>
                </a:solidFill>
                <a:latin typeface="Calibri"/>
              </a:rPr>
              <a:t>N</a:t>
            </a:r>
            <a:r>
              <a:rPr sz="1080" b="1" i="0">
                <a:solidFill>
                  <a:srgbClr val="1E2430"/>
                </a:solidFill>
                <a:latin typeface="Calibri"/>
              </a:rPr>
              <a:t>&lt;sub&gt;min&lt;/sub&gt; = 28 dialogues</a:t>
            </a:r>
            <a:r>
              <a:rPr sz="1080" b="0" i="0">
                <a:solidFill>
                  <a:srgbClr val="1E2430"/>
                </a:solidFill>
                <a:latin typeface="Calibri"/>
              </a:rPr>
              <a:t> (buffered to </a:t>
            </a:r>
            <a:r>
              <a:rPr sz="1080" b="0" i="1">
                <a:solidFill>
                  <a:srgbClr val="1E2430"/>
                </a:solidFill>
                <a:latin typeface="Calibri"/>
              </a:rPr>
              <a:t>N</a:t>
            </a:r>
            <a:r>
              <a:rPr sz="1080" b="0" i="0">
                <a:solidFill>
                  <a:srgbClr val="1E2430"/>
                </a:solidFill>
                <a:latin typeface="Calibri"/>
              </a:rPr>
              <a:t> = 33, power = .865).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18</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Counterfactual Analysis: What Happens If α, Power, f, or λ Are Mischosen?</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#2: Concrete numerical demonstrations of how improper parameter choices break experimental validity</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3977639"/>
        </p:xfrm>
        <a:graphic>
          <a:graphicData uri="http://schemas.openxmlformats.org/drawingml/2006/table">
            <a:tbl>
              <a:tblPr firstRow="1" bandRow="1">
                <a:tableStyleId>{5C22544A-7EE6-4342-B048-85BDC9FD1C3A}</a:tableStyleId>
              </a:tblPr>
              <a:tblGrid>
                <a:gridCol w="1649838"/>
                <a:gridCol w="1924812"/>
                <a:gridCol w="2016469"/>
                <a:gridCol w="2749731"/>
                <a:gridCol w="3208019"/>
              </a:tblGrid>
              <a:tr h="795527">
                <a:tc>
                  <a:txBody>
                    <a:bodyPr/>
                    <a:lstStyle/>
                    <a:p>
                      <a:pPr algn="l"/>
                      <a:r>
                        <a:rPr sz="1100" b="1" i="0">
                          <a:solidFill>
                            <a:srgbClr val="FFFFFF"/>
                          </a:solidFill>
                          <a:latin typeface="Calibri"/>
                        </a:rPr>
                        <a:t>Parameter Choice Scenario</a:t>
                      </a:r>
                    </a:p>
                  </a:txBody>
                  <a:tcPr anchor="ctr" marL="54864" marR="54864" marT="27432" marB="27432">
                    <a:solidFill>
                      <a:srgbClr val="14325C"/>
                    </a:solidFill>
                  </a:tcPr>
                </a:tc>
                <a:tc>
                  <a:txBody>
                    <a:bodyPr/>
                    <a:lstStyle/>
                    <a:p>
                      <a:pPr algn="l"/>
                      <a:r>
                        <a:rPr sz="1100" b="1" i="0">
                          <a:solidFill>
                            <a:srgbClr val="FFFFFF"/>
                          </a:solidFill>
                          <a:latin typeface="Calibri"/>
                        </a:rPr>
                        <a:t>Altered Value vs. Standard</a:t>
                      </a:r>
                    </a:p>
                  </a:txBody>
                  <a:tcPr anchor="ctr" marL="54864" marR="54864" marT="27432" marB="27432">
                    <a:solidFill>
                      <a:srgbClr val="14325C"/>
                    </a:solidFill>
                  </a:tcPr>
                </a:tc>
                <a:tc>
                  <a:txBody>
                    <a:bodyPr/>
                    <a:lstStyle/>
                    <a:p>
                      <a:pPr algn="l"/>
                      <a:r>
                        <a:rPr sz="1100" b="1" i="0">
                          <a:solidFill>
                            <a:srgbClr val="FFFFFF"/>
                          </a:solidFill>
                          <a:latin typeface="Calibri"/>
                        </a:rPr>
                        <a:t>Resulting Noncentrality λ &amp; Sample Size N</a:t>
                      </a:r>
                    </a:p>
                  </a:txBody>
                  <a:tcPr anchor="ctr" marL="54864" marR="54864" marT="27432" marB="27432">
                    <a:solidFill>
                      <a:srgbClr val="14325C"/>
                    </a:solidFill>
                  </a:tcPr>
                </a:tc>
                <a:tc>
                  <a:txBody>
                    <a:bodyPr/>
                    <a:lstStyle/>
                    <a:p>
                      <a:pPr algn="l"/>
                      <a:r>
                        <a:rPr sz="1100" b="1" i="0">
                          <a:solidFill>
                            <a:srgbClr val="FFFFFF"/>
                          </a:solidFill>
                          <a:latin typeface="Calibri"/>
                        </a:rPr>
                        <a:t>Statistical &amp; Practical Consequence</a:t>
                      </a:r>
                    </a:p>
                  </a:txBody>
                  <a:tcPr anchor="ctr" marL="54864" marR="54864" marT="27432" marB="27432">
                    <a:solidFill>
                      <a:srgbClr val="14325C"/>
                    </a:solidFill>
                  </a:tcPr>
                </a:tc>
                <a:tc>
                  <a:txBody>
                    <a:bodyPr/>
                    <a:lstStyle/>
                    <a:p>
                      <a:pPr algn="l"/>
                      <a:r>
                        <a:rPr sz="1100" b="1" i="0">
                          <a:solidFill>
                            <a:srgbClr val="FFFFFF"/>
                          </a:solidFill>
                          <a:latin typeface="Calibri"/>
                        </a:rPr>
                        <a:t>Concrete Example in Our Travel Chatbot Study</a:t>
                      </a:r>
                    </a:p>
                  </a:txBody>
                  <a:tcPr anchor="ctr" marL="54864" marR="54864" marT="27432" marB="27432">
                    <a:solidFill>
                      <a:srgbClr val="14325C"/>
                    </a:solidFill>
                  </a:tcPr>
                </a:tc>
              </a:tr>
              <a:tr h="795527">
                <a:tc>
                  <a:txBody>
                    <a:bodyPr/>
                    <a:lstStyle/>
                    <a:p>
                      <a:pPr algn="l"/>
                      <a:r>
                        <a:rPr sz="980" b="0" i="0">
                          <a:solidFill>
                            <a:srgbClr val="1E2430"/>
                          </a:solidFill>
                          <a:latin typeface="Calibri"/>
                        </a:rPr>
                        <a:t>Failure Mode 1:
Arbitrary Small Sample
(Underpowered λ)</a:t>
                      </a:r>
                    </a:p>
                  </a:txBody>
                  <a:tcPr anchor="ctr" marL="54864" marR="54864" marT="22860" marB="22860">
                    <a:solidFill>
                      <a:srgbClr val="FFFFFF"/>
                    </a:solidFill>
                  </a:tcPr>
                </a:tc>
                <a:tc>
                  <a:txBody>
                    <a:bodyPr/>
                    <a:lstStyle/>
                    <a:p>
                      <a:pPr algn="l"/>
                      <a:r>
                        <a:rPr sz="980" b="0" i="0">
                          <a:solidFill>
                            <a:srgbClr val="1E2430"/>
                          </a:solidFill>
                          <a:latin typeface="Calibri"/>
                        </a:rPr>
                        <a:t>Pick N = 36 total (9 per cell in RQ3) instead of N = 144
→ λ drops from 9.00 to 2.25!</a:t>
                      </a:r>
                    </a:p>
                  </a:txBody>
                  <a:tcPr anchor="ctr" marL="54864" marR="54864" marT="22860" marB="22860">
                    <a:solidFill>
                      <a:srgbClr val="FFFFFF"/>
                    </a:solidFill>
                  </a:tcPr>
                </a:tc>
                <a:tc>
                  <a:txBody>
                    <a:bodyPr/>
                    <a:lstStyle/>
                    <a:p>
                      <a:pPr algn="l"/>
                      <a:r>
                        <a:rPr sz="980" b="0" i="0">
                          <a:solidFill>
                            <a:srgbClr val="1E2430"/>
                          </a:solidFill>
                          <a:latin typeface="Calibri"/>
                        </a:rPr>
                        <a:t>λ = 0.0625 × 36 = 2.25
Power 1 − β drops from .847 to .308 (69.2% Type II error rate!)</a:t>
                      </a:r>
                    </a:p>
                  </a:txBody>
                  <a:tcPr anchor="ctr" marL="54864" marR="54864" marT="22860" marB="22860">
                    <a:solidFill>
                      <a:srgbClr val="FFFFFF"/>
                    </a:solidFill>
                  </a:tcPr>
                </a:tc>
                <a:tc>
                  <a:txBody>
                    <a:bodyPr/>
                    <a:lstStyle/>
                    <a:p>
                      <a:pPr algn="l"/>
                      <a:r>
                        <a:rPr sz="980" b="1" i="0">
                          <a:solidFill>
                            <a:srgbClr val="1E2430"/>
                          </a:solidFill>
                          <a:latin typeface="Calibri"/>
                        </a:rPr>
                        <a:t>Severe False Negative Risk:</a:t>
                      </a:r>
                      <a:r>
                        <a:rPr sz="980" b="0" i="0">
                          <a:solidFill>
                            <a:srgbClr val="1E2430"/>
                          </a:solidFill>
                          <a:latin typeface="Calibri"/>
                        </a:rPr>
                        <a:t> Nearly 7 out of 10 times, a genuine medium improvement (f = .25) will produce p &gt; .05 and be falsely dismissed as 'no effect'.</a:t>
                      </a:r>
                    </a:p>
                  </a:txBody>
                  <a:tcPr anchor="ctr" marL="54864" marR="54864" marT="22860" marB="22860">
                    <a:solidFill>
                      <a:srgbClr val="FFFFFF"/>
                    </a:solidFill>
                  </a:tcPr>
                </a:tc>
                <a:tc>
                  <a:txBody>
                    <a:bodyPr/>
                    <a:lstStyle/>
                    <a:p>
                      <a:pPr algn="l"/>
                      <a:r>
                        <a:rPr sz="980" b="0" i="0">
                          <a:solidFill>
                            <a:srgbClr val="1E2430"/>
                          </a:solidFill>
                          <a:latin typeface="Calibri"/>
                        </a:rPr>
                        <a:t>In RQ4, the Prompting × Archetype interaction has ηp² = .111 (f = .35). At N = 36 total (6/cell), power to detect this interaction drops to .44—we would have missed the persona moderation effect!</a:t>
                      </a:r>
                    </a:p>
                  </a:txBody>
                  <a:tcPr anchor="ctr" marL="54864" marR="54864" marT="22860" marB="22860">
                    <a:solidFill>
                      <a:srgbClr val="FFFFFF"/>
                    </a:solidFill>
                  </a:tcPr>
                </a:tc>
              </a:tr>
              <a:tr h="795527">
                <a:tc>
                  <a:txBody>
                    <a:bodyPr/>
                    <a:lstStyle/>
                    <a:p>
                      <a:pPr algn="l"/>
                      <a:r>
                        <a:rPr sz="980" b="0" i="0">
                          <a:solidFill>
                            <a:srgbClr val="1E2430"/>
                          </a:solidFill>
                          <a:latin typeface="Calibri"/>
                        </a:rPr>
                        <a:t>Failure Mode 2:
Loose Significance α
(Inflated Type I Error)</a:t>
                      </a:r>
                    </a:p>
                  </a:txBody>
                  <a:tcPr anchor="ctr" marL="54864" marR="54864" marT="22860" marB="22860">
                    <a:solidFill>
                      <a:srgbClr val="F2F6FC"/>
                    </a:solidFill>
                  </a:tcPr>
                </a:tc>
                <a:tc>
                  <a:txBody>
                    <a:bodyPr/>
                    <a:lstStyle/>
                    <a:p>
                      <a:pPr algn="l"/>
                      <a:r>
                        <a:rPr sz="980" b="0" i="0">
                          <a:solidFill>
                            <a:srgbClr val="1E2430"/>
                          </a:solidFill>
                          <a:latin typeface="Calibri"/>
                        </a:rPr>
                        <a:t>Set α = .20 instead of α = .05 to 'make it easier to get significance'</a:t>
                      </a:r>
                    </a:p>
                  </a:txBody>
                  <a:tcPr anchor="ctr" marL="54864" marR="54864" marT="22860" marB="22860">
                    <a:solidFill>
                      <a:srgbClr val="F2F6FC"/>
                    </a:solidFill>
                  </a:tcPr>
                </a:tc>
                <a:tc>
                  <a:txBody>
                    <a:bodyPr/>
                    <a:lstStyle/>
                    <a:p>
                      <a:pPr algn="l"/>
                      <a:r>
                        <a:rPr sz="980" b="0" i="0">
                          <a:solidFill>
                            <a:srgbClr val="1E2430"/>
                          </a:solidFill>
                          <a:latin typeface="Calibri"/>
                        </a:rPr>
                        <a:t>F_crit drops from 3.92 to 1.66 (at df = 1, 140)</a:t>
                      </a:r>
                    </a:p>
                  </a:txBody>
                  <a:tcPr anchor="ctr" marL="54864" marR="54864" marT="22860" marB="22860">
                    <a:solidFill>
                      <a:srgbClr val="F2F6FC"/>
                    </a:solidFill>
                  </a:tcPr>
                </a:tc>
                <a:tc>
                  <a:txBody>
                    <a:bodyPr/>
                    <a:lstStyle/>
                    <a:p>
                      <a:pPr algn="l"/>
                      <a:r>
                        <a:rPr sz="980" b="1" i="0">
                          <a:solidFill>
                            <a:srgbClr val="1E2430"/>
                          </a:solidFill>
                          <a:latin typeface="Calibri"/>
                        </a:rPr>
                        <a:t>20% False Positive Risk:</a:t>
                      </a:r>
                      <a:r>
                        <a:rPr sz="980" b="0" i="0">
                          <a:solidFill>
                            <a:srgbClr val="1E2430"/>
                          </a:solidFill>
                          <a:latin typeface="Calibri"/>
                        </a:rPr>
                        <a:t> Across 4 RQs with multiple metrics, random LLM sampling noise would be falsely published as a scientific improvement.</a:t>
                      </a:r>
                    </a:p>
                  </a:txBody>
                  <a:tcPr anchor="ctr" marL="54864" marR="54864" marT="22860" marB="22860">
                    <a:solidFill>
                      <a:srgbClr val="F2F6FC"/>
                    </a:solidFill>
                  </a:tcPr>
                </a:tc>
                <a:tc>
                  <a:txBody>
                    <a:bodyPr/>
                    <a:lstStyle/>
                    <a:p>
                      <a:pPr algn="l"/>
                      <a:r>
                        <a:rPr sz="980" b="0" i="0">
                          <a:solidFill>
                            <a:srgbClr val="1E2430"/>
                          </a:solidFill>
                          <a:latin typeface="Calibri"/>
                        </a:rPr>
                        <a:t>In Primary RQ2 (coarse routing), style cosine had F = 1.61, p = .211. A loose α = .25 would have falsely claimed coarse routing worked, hiding the need to fix RQ1 prefix routing!</a:t>
                      </a:r>
                    </a:p>
                  </a:txBody>
                  <a:tcPr anchor="ctr" marL="54864" marR="54864" marT="22860" marB="22860">
                    <a:solidFill>
                      <a:srgbClr val="F2F6FC"/>
                    </a:solidFill>
                  </a:tcPr>
                </a:tc>
              </a:tr>
              <a:tr h="795527">
                <a:tc>
                  <a:txBody>
                    <a:bodyPr/>
                    <a:lstStyle/>
                    <a:p>
                      <a:pPr algn="l"/>
                      <a:r>
                        <a:rPr sz="980" b="0" i="0">
                          <a:solidFill>
                            <a:srgbClr val="1E2430"/>
                          </a:solidFill>
                          <a:latin typeface="Calibri"/>
                        </a:rPr>
                        <a:t>Failure Mode 3:
Overly Tiny Target Effect
(Overpowered for Noise)</a:t>
                      </a:r>
                    </a:p>
                  </a:txBody>
                  <a:tcPr anchor="ctr" marL="54864" marR="54864" marT="22860" marB="22860">
                    <a:solidFill>
                      <a:srgbClr val="FFFFFF"/>
                    </a:solidFill>
                  </a:tcPr>
                </a:tc>
                <a:tc>
                  <a:txBody>
                    <a:bodyPr/>
                    <a:lstStyle/>
                    <a:p>
                      <a:pPr algn="l"/>
                      <a:r>
                        <a:rPr sz="980" b="0" i="0">
                          <a:solidFill>
                            <a:srgbClr val="1E2430"/>
                          </a:solidFill>
                          <a:latin typeface="Calibri"/>
                        </a:rPr>
                        <a:t>Set f = .05 (η² = .0025, 0.25% variance) instead of f = .25</a:t>
                      </a:r>
                    </a:p>
                  </a:txBody>
                  <a:tcPr anchor="ctr" marL="54864" marR="54864" marT="22860" marB="22860">
                    <a:solidFill>
                      <a:srgbClr val="FFFFFF"/>
                    </a:solidFill>
                  </a:tcPr>
                </a:tc>
                <a:tc>
                  <a:txBody>
                    <a:bodyPr/>
                    <a:lstStyle/>
                    <a:p>
                      <a:pPr algn="l"/>
                      <a:r>
                        <a:rPr sz="980" b="0" i="0">
                          <a:solidFill>
                            <a:srgbClr val="1E2430"/>
                          </a:solidFill>
                          <a:latin typeface="Calibri"/>
                        </a:rPr>
                        <a:t>Needs λ = 9.88 with f² = .0025
→ Requires N = 3,952 dialogues (exceeds the entire Frames corpus of 1,334!)</a:t>
                      </a:r>
                    </a:p>
                  </a:txBody>
                  <a:tcPr anchor="ctr" marL="54864" marR="54864" marT="22860" marB="22860">
                    <a:solidFill>
                      <a:srgbClr val="FFFFFF"/>
                    </a:solidFill>
                  </a:tcPr>
                </a:tc>
                <a:tc>
                  <a:txBody>
                    <a:bodyPr/>
                    <a:lstStyle/>
                    <a:p>
                      <a:pPr algn="l"/>
                      <a:r>
                        <a:rPr sz="980" b="1" i="0">
                          <a:solidFill>
                            <a:srgbClr val="1E2430"/>
                          </a:solidFill>
                          <a:latin typeface="Calibri"/>
                        </a:rPr>
                        <a:t>Trivial Practical Significance &amp; Exhausted Corpus:</a:t>
                      </a:r>
                      <a:r>
                        <a:rPr sz="980" b="0" i="0">
                          <a:solidFill>
                            <a:srgbClr val="1E2430"/>
                          </a:solidFill>
                          <a:latin typeface="Calibri"/>
                        </a:rPr>
                        <a:t> Wastes thousands of API calls to detect a 0.05-turn difference that has zero business value.</a:t>
                      </a:r>
                    </a:p>
                  </a:txBody>
                  <a:tcPr anchor="ctr" marL="54864" marR="54864" marT="22860" marB="22860">
                    <a:solidFill>
                      <a:srgbClr val="FFFFFF"/>
                    </a:solidFill>
                  </a:tcPr>
                </a:tc>
                <a:tc>
                  <a:txBody>
                    <a:bodyPr/>
                    <a:lstStyle/>
                    <a:p>
                      <a:pPr algn="l"/>
                      <a:r>
                        <a:rPr sz="980" b="0" i="0">
                          <a:solidFill>
                            <a:srgbClr val="1E2430"/>
                          </a:solidFill>
                          <a:latin typeface="Calibri"/>
                        </a:rPr>
                        <a:t>Even if an OTA chatbot saved 0.04 turns (p &lt; .05 at N = 4,000), customers cannot perceive a 0.04-turn difference. Medium effect f = .25 ensures statistical significance aligns with business value.</a:t>
                      </a:r>
                    </a:p>
                  </a:txBody>
                  <a:tcPr anchor="ctr" marL="54864" marR="54864" marT="22860" marB="22860">
                    <a:solidFill>
                      <a:srgbClr val="FFFFFF"/>
                    </a:solidFill>
                  </a:tcPr>
                </a:tc>
              </a:tr>
              <a:tr h="795531">
                <a:tc>
                  <a:txBody>
                    <a:bodyPr/>
                    <a:lstStyle/>
                    <a:p>
                      <a:pPr algn="l"/>
                      <a:r>
                        <a:rPr sz="980" b="0" i="0">
                          <a:solidFill>
                            <a:srgbClr val="1E2430"/>
                          </a:solidFill>
                          <a:latin typeface="Calibri"/>
                        </a:rPr>
                        <a:t>Failure Mode 4:
Ignoring Repeated-Measures ρ in RQ2</a:t>
                      </a:r>
                    </a:p>
                  </a:txBody>
                  <a:tcPr anchor="ctr" marL="54864" marR="54864" marT="22860" marB="22860">
                    <a:solidFill>
                      <a:srgbClr val="F2F6FC"/>
                    </a:solidFill>
                  </a:tcPr>
                </a:tc>
                <a:tc>
                  <a:txBody>
                    <a:bodyPr/>
                    <a:lstStyle/>
                    <a:p>
                      <a:pPr algn="l"/>
                      <a:r>
                        <a:rPr sz="980" b="0" i="0">
                          <a:solidFill>
                            <a:srgbClr val="1E2430"/>
                          </a:solidFill>
                          <a:latin typeface="Calibri"/>
                        </a:rPr>
                        <a:t>Assume ρ = .00 (between-subjects formula) or ρ = .90 (over-optimistic)</a:t>
                      </a:r>
                    </a:p>
                  </a:txBody>
                  <a:tcPr anchor="ctr" marL="54864" marR="54864" marT="22860" marB="22860">
                    <a:solidFill>
                      <a:srgbClr val="F2F6FC"/>
                    </a:solidFill>
                  </a:tcPr>
                </a:tc>
                <a:tc>
                  <a:txBody>
                    <a:bodyPr/>
                    <a:lstStyle/>
                    <a:p>
                      <a:pPr algn="l"/>
                      <a:r>
                        <a:rPr sz="980" b="0" i="0">
                          <a:solidFill>
                            <a:srgbClr val="1E2430"/>
                          </a:solidFill>
                          <a:latin typeface="Calibri"/>
                        </a:rPr>
                        <a:t>If ρ = .90 assumed: N_min = 7 dialogues (severely underpowered if true ρ = .50).
If between-subjects used: N = 159 dialogues × 3 = 477 calls.</a:t>
                      </a:r>
                    </a:p>
                  </a:txBody>
                  <a:tcPr anchor="ctr" marL="54864" marR="54864" marT="22860" marB="22860">
                    <a:solidFill>
                      <a:srgbClr val="F2F6FC"/>
                    </a:solidFill>
                  </a:tcPr>
                </a:tc>
                <a:tc>
                  <a:txBody>
                    <a:bodyPr/>
                    <a:lstStyle/>
                    <a:p>
                      <a:pPr algn="l"/>
                      <a:r>
                        <a:rPr sz="980" b="1" i="0">
                          <a:solidFill>
                            <a:srgbClr val="1E2430"/>
                          </a:solidFill>
                          <a:latin typeface="Calibri"/>
                        </a:rPr>
                        <a:t>Miscalibrated Within-Subject Sensitivity:</a:t>
                      </a:r>
                      <a:r>
                        <a:rPr sz="980" b="0" i="0">
                          <a:solidFill>
                            <a:srgbClr val="1E2430"/>
                          </a:solidFill>
                          <a:latin typeface="Calibri"/>
                        </a:rPr>
                        <a:t> Setting conservative ρ = .50 with a +18% buffer (N = 33 vs. N_min = 28) protects against sphericity loss (ε = 0.65–0.94).</a:t>
                      </a:r>
                    </a:p>
                  </a:txBody>
                  <a:tcPr anchor="ctr" marL="54864" marR="54864" marT="22860" marB="22860">
                    <a:solidFill>
                      <a:srgbClr val="F2F6FC"/>
                    </a:solidFill>
                  </a:tcPr>
                </a:tc>
                <a:tc>
                  <a:txBody>
                    <a:bodyPr/>
                    <a:lstStyle/>
                    <a:p>
                      <a:pPr algn="l"/>
                      <a:r>
                        <a:rPr sz="980" b="0" i="0">
                          <a:solidFill>
                            <a:srgbClr val="1E2430"/>
                          </a:solidFill>
                          <a:latin typeface="Calibri"/>
                        </a:rPr>
                        <a:t>In Refined RQ2, pacing error had Greenhouse–Geisser ε = 0.65. Because we buffered N from 28 to 33, even under ε = 0.65 our test achieved F(1.30, 41.70) = 7.10, p = .007!</a:t>
                      </a:r>
                    </a:p>
                  </a:txBody>
                  <a:tcPr anchor="ctr" marL="54864" marR="54864" marT="22860" marB="22860">
                    <a:solidFill>
                      <a:srgbClr val="F2F6FC"/>
                    </a:solidFill>
                  </a:tcPr>
                </a:tc>
              </a:tr>
            </a:tbl>
          </a:graphicData>
        </a:graphic>
      </p:graphicFrame>
      <p:sp>
        <p:nvSpPr>
          <p:cNvPr id="12" name="Rounded Rectangle 11"/>
          <p:cNvSpPr/>
          <p:nvPr/>
        </p:nvSpPr>
        <p:spPr>
          <a:xfrm>
            <a:off x="320040" y="5486400"/>
            <a:ext cx="11548872" cy="960120"/>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Summary Rule for Defense Committee:</a:t>
            </a:r>
            <a:r>
              <a:rPr sz="1100" b="0" i="0">
                <a:solidFill>
                  <a:srgbClr val="1E2430"/>
                </a:solidFill>
                <a:latin typeface="Calibri"/>
              </a:rPr>
              <a:t> Standard values (</a:t>
            </a:r>
            <a:r>
              <a:rPr sz="1100" b="1" i="0">
                <a:solidFill>
                  <a:srgbClr val="1E2430"/>
                </a:solidFill>
                <a:latin typeface="Calibri"/>
              </a:rPr>
              <a:t>α = .05, 1 − β = .80, </a:t>
            </a:r>
            <a:r>
              <a:rPr sz="1100" b="1" i="1">
                <a:solidFill>
                  <a:srgbClr val="1E2430"/>
                </a:solidFill>
                <a:latin typeface="Calibri"/>
              </a:rPr>
              <a:t>f</a:t>
            </a:r>
            <a:r>
              <a:rPr sz="1100" b="1" i="0">
                <a:solidFill>
                  <a:srgbClr val="1E2430"/>
                </a:solidFill>
                <a:latin typeface="Calibri"/>
              </a:rPr>
              <a:t> = .25, ρ = .50</a:t>
            </a:r>
            <a:r>
              <a:rPr sz="1100" b="0" i="0">
                <a:solidFill>
                  <a:srgbClr val="1E2430"/>
                </a:solidFill>
                <a:latin typeface="Calibri"/>
              </a:rPr>
              <a:t>, plus a </a:t>
            </a:r>
            <a:r>
              <a:rPr sz="1100" b="1" i="0">
                <a:solidFill>
                  <a:srgbClr val="1E2430"/>
                </a:solidFill>
                <a:latin typeface="Calibri"/>
              </a:rPr>
              <a:t>10% cell-balancing buffer</a:t>
            </a:r>
            <a:r>
              <a:rPr sz="1100" b="0" i="0">
                <a:solidFill>
                  <a:srgbClr val="1E2430"/>
                </a:solidFill>
                <a:latin typeface="Calibri"/>
              </a:rPr>
              <a:t>) sit at the exact mathematical sweet spot: large enough (λ = 8.0–10.5) to guarantee &gt;83% detection of meaningful engineering gains, yet compact enough to fit strictly inside the 401 held-out test dialogues of Microsoft Frames.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4: GROUND-UP STATISTICAL METHODOLOGY</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19</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Domain Parameter Choices: Why Decay λ_d = 0.15 and Prefix Horizon M = 9?</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Mathematical justification and sensitivity proof for our trajectory pooling and truncation parameters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1. Exponential Turn Decay λ_d = 0.15 (Equation 2 in Report)</a:t>
            </a:r>
          </a:p>
        </p:txBody>
      </p:sp>
      <p:sp>
        <p:nvSpPr>
          <p:cNvPr id="13" name="TextBox 12"/>
          <p:cNvSpPr txBox="1"/>
          <p:nvPr/>
        </p:nvSpPr>
        <p:spPr>
          <a:xfrm>
            <a:off x="411479" y="1755648"/>
            <a:ext cx="5440680" cy="454456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Mathematical Formula (Eq. 2):</a:t>
            </a:r>
          </a:p>
          <a:p>
            <a:pPr>
              <a:spcAft>
                <a:spcPts val="400"/>
              </a:spcAft>
            </a:pPr>
            <a:r>
              <a:rPr sz="1000" b="0" i="0">
                <a:solidFill>
                  <a:srgbClr val="1E2430"/>
                </a:solidFill>
                <a:latin typeface="Calibri"/>
              </a:rPr>
              <a:t>    ▪ </a:t>
            </a:r>
            <a:r>
              <a:rPr sz="1000" b="1" i="0">
                <a:solidFill>
                  <a:srgbClr val="1E2430"/>
                </a:solidFill>
                <a:latin typeface="Calibri"/>
              </a:rPr>
              <a:t>v = Σ </a:t>
            </a:r>
            <a:r>
              <a:rPr sz="1000" b="1" i="1">
                <a:solidFill>
                  <a:srgbClr val="1E2430"/>
                </a:solidFill>
                <a:latin typeface="Calibri"/>
              </a:rPr>
              <a:t>w&lt;sub&gt;t&lt;/sub&gt;</a:t>
            </a:r>
            <a:r>
              <a:rPr sz="1000" b="1" i="0">
                <a:solidFill>
                  <a:srgbClr val="1E2430"/>
                </a:solidFill>
                <a:latin typeface="Calibri"/>
              </a:rPr>
              <a:t> e&lt;sub&gt;</a:t>
            </a:r>
            <a:r>
              <a:rPr sz="1000" b="1" i="1">
                <a:solidFill>
                  <a:srgbClr val="1E2430"/>
                </a:solidFill>
                <a:latin typeface="Calibri"/>
              </a:rPr>
              <a:t>t</a:t>
            </a:r>
            <a:r>
              <a:rPr sz="1000" b="1" i="0">
                <a:solidFill>
                  <a:srgbClr val="1E2430"/>
                </a:solidFill>
                <a:latin typeface="Calibri"/>
              </a:rPr>
              <a:t>&lt;/sub&gt;</a:t>
            </a:r>
            <a:r>
              <a:rPr sz="1000" b="0" i="0">
                <a:solidFill>
                  <a:srgbClr val="1E2430"/>
                </a:solidFill>
                <a:latin typeface="Calibri"/>
              </a:rPr>
              <a:t>,   where  </a:t>
            </a:r>
            <a:r>
              <a:rPr sz="1000" b="1" i="1">
                <a:solidFill>
                  <a:srgbClr val="1E2430"/>
                </a:solidFill>
                <a:latin typeface="Calibri"/>
              </a:rPr>
              <a:t>w&lt;sub&gt;t&lt;/sub&gt;</a:t>
            </a:r>
            <a:r>
              <a:rPr sz="1000" b="1" i="0">
                <a:solidFill>
                  <a:srgbClr val="1E2430"/>
                </a:solidFill>
                <a:latin typeface="Calibri"/>
              </a:rPr>
              <a:t> ∝ exp[−λ&lt;sub&gt;d&lt;/sub&gt;(</a:t>
            </a:r>
            <a:r>
              <a:rPr sz="1000" b="1" i="1">
                <a:solidFill>
                  <a:srgbClr val="1E2430"/>
                </a:solidFill>
                <a:latin typeface="Calibri"/>
              </a:rPr>
              <a:t>T</a:t>
            </a:r>
            <a:r>
              <a:rPr sz="1000" b="1" i="0">
                <a:solidFill>
                  <a:srgbClr val="1E2430"/>
                </a:solidFill>
                <a:latin typeface="Calibri"/>
              </a:rPr>
              <a:t> − </a:t>
            </a:r>
            <a:r>
              <a:rPr sz="1000" b="1" i="1">
                <a:solidFill>
                  <a:srgbClr val="1E2430"/>
                </a:solidFill>
                <a:latin typeface="Calibri"/>
              </a:rPr>
              <a:t>t</a:t>
            </a:r>
            <a:r>
              <a:rPr sz="1000" b="1" i="0">
                <a:solidFill>
                  <a:srgbClr val="1E2430"/>
                </a:solidFill>
                <a:latin typeface="Calibri"/>
              </a:rPr>
              <a:t>)]</a:t>
            </a:r>
          </a:p>
          <a:p>
            <a:pPr>
              <a:spcAft>
                <a:spcPts val="400"/>
              </a:spcAft>
            </a:pPr>
            <a:r>
              <a:rPr sz="1050" b="0" i="0">
                <a:solidFill>
                  <a:srgbClr val="1E2430"/>
                </a:solidFill>
                <a:latin typeface="Calibri"/>
              </a:rPr>
              <a:t>• </a:t>
            </a:r>
            <a:r>
              <a:rPr sz="1050" b="1" i="0">
                <a:solidFill>
                  <a:srgbClr val="1E2430"/>
                </a:solidFill>
                <a:latin typeface="Calibri"/>
              </a:rPr>
              <a:t>Why λ&lt;sub&gt;d&lt;/sub&gt; = 0.15 Is Used for Trajectory Pooling:</a:t>
            </a:r>
          </a:p>
          <a:p>
            <a:pPr>
              <a:spcAft>
                <a:spcPts val="400"/>
              </a:spcAft>
            </a:pPr>
            <a:r>
              <a:rPr sz="1000" b="0" i="0">
                <a:solidFill>
                  <a:srgbClr val="1E2430"/>
                </a:solidFill>
                <a:latin typeface="Calibri"/>
              </a:rPr>
              <a:t>    ▪ In a multi-turn travel dialogue, Turn 1 is often a generic greeting (</a:t>
            </a:r>
            <a:r>
              <a:rPr sz="1000" b="0" i="1">
                <a:solidFill>
                  <a:srgbClr val="1E2430"/>
                </a:solidFill>
                <a:latin typeface="Calibri"/>
              </a:rPr>
              <a:t>'Hi, can you help me?'</a:t>
            </a:r>
            <a:r>
              <a:rPr sz="1000" b="0" i="0">
                <a:solidFill>
                  <a:srgbClr val="1E2430"/>
                </a:solidFill>
                <a:latin typeface="Calibri"/>
              </a:rPr>
              <a:t>), while recent turns contain active constraint negotiation.</a:t>
            </a:r>
          </a:p>
          <a:p>
            <a:pPr>
              <a:spcAft>
                <a:spcPts val="400"/>
              </a:spcAft>
            </a:pPr>
            <a:r>
              <a:rPr sz="1000" b="0" i="0">
                <a:solidFill>
                  <a:srgbClr val="1E2430"/>
                </a:solidFill>
                <a:latin typeface="Calibri"/>
              </a:rPr>
              <a:t>    ▪ With λ&lt;sub&gt;d&lt;/sub&gt; = 0.15, the most recent turn gets weight 1.00, 3 turns ago gets exp(−0.45) = 0.64, and 10 turns ago gets exp(−1.50) = 0.22—preserving full history while emphasizing active negotiation.</a:t>
            </a:r>
          </a:p>
          <a:p>
            <a:pPr>
              <a:spcAft>
                <a:spcPts val="400"/>
              </a:spcAft>
            </a:pPr>
            <a:r>
              <a:rPr sz="1050" b="0" i="0">
                <a:solidFill>
                  <a:srgbClr val="1E2430"/>
                </a:solidFill>
                <a:latin typeface="Calibri"/>
              </a:rPr>
              <a:t>• </a:t>
            </a:r>
            <a:r>
              <a:rPr sz="1050" b="1" i="0">
                <a:solidFill>
                  <a:srgbClr val="1E2430"/>
                </a:solidFill>
                <a:latin typeface="Calibri"/>
              </a:rPr>
              <a:t>What Happens If λ&lt;sub&gt;d&lt;/sub&gt; Is Chosen Poorly (Sensitivity Grid `step2b`):</a:t>
            </a:r>
          </a:p>
          <a:p>
            <a:pPr>
              <a:spcAft>
                <a:spcPts val="400"/>
              </a:spcAft>
            </a:pPr>
            <a:r>
              <a:rPr sz="1000" b="0" i="0">
                <a:solidFill>
                  <a:srgbClr val="1E2430"/>
                </a:solidFill>
                <a:latin typeface="Calibri"/>
              </a:rPr>
              <a:t>    ▪ </a:t>
            </a:r>
            <a:r>
              <a:rPr sz="1000" b="1" i="0">
                <a:solidFill>
                  <a:srgbClr val="1E2430"/>
                </a:solidFill>
                <a:latin typeface="Calibri"/>
              </a:rPr>
              <a:t>If λ&lt;sub&gt;d&lt;/sub&gt; = 0.0 (Uniform Mean):</a:t>
            </a:r>
            <a:r>
              <a:rPr sz="1000" b="0" i="0">
                <a:solidFill>
                  <a:srgbClr val="1E2430"/>
                </a:solidFill>
                <a:latin typeface="Calibri"/>
              </a:rPr>
              <a:t> Opening pleasantries dilute active negotiation constraints.</a:t>
            </a:r>
          </a:p>
          <a:p>
            <a:pPr>
              <a:spcAft>
                <a:spcPts val="400"/>
              </a:spcAft>
            </a:pPr>
            <a:r>
              <a:rPr sz="1000" b="0" i="0">
                <a:solidFill>
                  <a:srgbClr val="1E2430"/>
                </a:solidFill>
                <a:latin typeface="Calibri"/>
              </a:rPr>
              <a:t>    ▪ </a:t>
            </a:r>
            <a:r>
              <a:rPr sz="1000" b="1" i="0">
                <a:solidFill>
                  <a:srgbClr val="1E2430"/>
                </a:solidFill>
                <a:latin typeface="Calibri"/>
              </a:rPr>
              <a:t>If λ&lt;sub&gt;d&lt;/sub&gt; ≥ 1.0 (Memoryless Last-Turn Only):</a:t>
            </a:r>
            <a:r>
              <a:rPr sz="1000" b="0" i="0">
                <a:solidFill>
                  <a:srgbClr val="1E2430"/>
                </a:solidFill>
                <a:latin typeface="Calibri"/>
              </a:rPr>
              <a:t> Forgets early trip constraints stated in Turn 2.</a:t>
            </a:r>
          </a:p>
          <a:p>
            <a:pPr>
              <a:spcAft>
                <a:spcPts val="400"/>
              </a:spcAft>
            </a:pPr>
            <a:r>
              <a:rPr sz="1000" b="0" i="0">
                <a:solidFill>
                  <a:srgbClr val="1E2430"/>
                </a:solidFill>
                <a:latin typeface="Calibri"/>
              </a:rPr>
              <a:t>    ▪ </a:t>
            </a:r>
            <a:r>
              <a:rPr sz="1000" b="1" i="0">
                <a:solidFill>
                  <a:srgbClr val="1E2430"/>
                </a:solidFill>
                <a:latin typeface="Calibri"/>
              </a:rPr>
              <a:t>Empirical Check (`t_rq1_rep_matrix.csv`):</a:t>
            </a:r>
            <a:r>
              <a:rPr sz="1000" b="0" i="0">
                <a:solidFill>
                  <a:srgbClr val="1E2430"/>
                </a:solidFill>
                <a:latin typeface="Calibri"/>
              </a:rPr>
              <a:t> Testing R0 (λ&lt;sub&gt;d&lt;/sub&gt;=0.15), R1 (user-only), and R2 (concatenated) confirmed that embedding pooling alone only reaches ARI = .25–.54, motivating our hybrid `Blocks` representation!</a:t>
            </a:r>
          </a:p>
        </p:txBody>
      </p:sp>
      <p:sp>
        <p:nvSpPr>
          <p:cNvPr id="14" name="Rounded Rectangle 13"/>
          <p:cNvSpPr/>
          <p:nvPr/>
        </p:nvSpPr>
        <p:spPr>
          <a:xfrm>
            <a:off x="6217920" y="1371600"/>
            <a:ext cx="5650992"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2. Truncation Horizon M = 9 User Messages (`step2g` &amp; `step2h`)</a:t>
            </a:r>
          </a:p>
        </p:txBody>
      </p:sp>
      <p:sp>
        <p:nvSpPr>
          <p:cNvPr id="16" name="TextBox 15"/>
          <p:cNvSpPr txBox="1"/>
          <p:nvPr/>
        </p:nvSpPr>
        <p:spPr>
          <a:xfrm>
            <a:off x="6309359" y="1755648"/>
            <a:ext cx="5468112" cy="454456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Why We Must Truncate Before the End of the Conversation:</a:t>
            </a:r>
          </a:p>
          <a:p>
            <a:pPr>
              <a:spcAft>
                <a:spcPts val="400"/>
              </a:spcAft>
            </a:pPr>
            <a:r>
              <a:rPr sz="1000" b="0" i="0">
                <a:solidFill>
                  <a:srgbClr val="1E2430"/>
                </a:solidFill>
                <a:latin typeface="Calibri"/>
              </a:rPr>
              <a:t>    ▪ If we cluster </a:t>
            </a:r>
            <a:r>
              <a:rPr sz="1000" b="0" i="1">
                <a:solidFill>
                  <a:srgbClr val="1E2430"/>
                </a:solidFill>
                <a:latin typeface="Calibri"/>
              </a:rPr>
              <a:t>whole conversations</a:t>
            </a:r>
            <a:r>
              <a:rPr sz="1000" b="0" i="0">
                <a:solidFill>
                  <a:srgbClr val="1E2430"/>
                </a:solidFill>
                <a:latin typeface="Calibri"/>
              </a:rPr>
              <a:t>, the final turns contain </a:t>
            </a:r>
            <a:r>
              <a:rPr sz="1000" b="0" i="1">
                <a:solidFill>
                  <a:srgbClr val="1E2430"/>
                </a:solidFill>
                <a:latin typeface="Calibri"/>
              </a:rPr>
              <a:t>'Great, book it!'</a:t>
            </a:r>
            <a:r>
              <a:rPr sz="1000" b="0" i="0">
                <a:solidFill>
                  <a:srgbClr val="1E2430"/>
                </a:solidFill>
                <a:latin typeface="Calibri"/>
              </a:rPr>
              <a:t> vs. </a:t>
            </a:r>
            <a:r>
              <a:rPr sz="1000" b="0" i="1">
                <a:solidFill>
                  <a:srgbClr val="1E2430"/>
                </a:solidFill>
                <a:latin typeface="Calibri"/>
              </a:rPr>
              <a:t>'Never mind, too expensive'</a:t>
            </a:r>
            <a:r>
              <a:rPr sz="1000" b="0" i="0">
                <a:solidFill>
                  <a:srgbClr val="1E2430"/>
                </a:solidFill>
                <a:latin typeface="Calibri"/>
              </a:rPr>
              <a:t>. The clusters then trivially reflect </a:t>
            </a:r>
            <a:r>
              <a:rPr sz="1000" b="1" i="0">
                <a:solidFill>
                  <a:srgbClr val="1E2430"/>
                </a:solidFill>
                <a:latin typeface="Calibri"/>
              </a:rPr>
              <a:t>session outcome</a:t>
            </a:r>
            <a:r>
              <a:rPr sz="1000" b="0" i="0">
                <a:solidFill>
                  <a:srgbClr val="1E2430"/>
                </a:solidFill>
                <a:latin typeface="Calibri"/>
              </a:rPr>
              <a:t> (Outcome Cramér's </a:t>
            </a:r>
            <a:r>
              <a:rPr sz="1000" b="0" i="1">
                <a:solidFill>
                  <a:srgbClr val="1E2430"/>
                </a:solidFill>
                <a:latin typeface="Calibri"/>
              </a:rPr>
              <a:t>V</a:t>
            </a:r>
            <a:r>
              <a:rPr sz="1000" b="0" i="0">
                <a:solidFill>
                  <a:srgbClr val="1E2430"/>
                </a:solidFill>
                <a:latin typeface="Calibri"/>
              </a:rPr>
              <a:t> = .29) rather than </a:t>
            </a:r>
            <a:r>
              <a:rPr sz="1000" b="1" i="0">
                <a:solidFill>
                  <a:srgbClr val="1E2430"/>
                </a:solidFill>
                <a:latin typeface="Calibri"/>
              </a:rPr>
              <a:t>how the customer shops</a:t>
            </a:r>
            <a:r>
              <a:rPr sz="1000" b="0" i="0">
                <a:solidFill>
                  <a:srgbClr val="1E2430"/>
                </a:solidFill>
                <a:latin typeface="Calibri"/>
              </a:rPr>
              <a:t>!</a:t>
            </a:r>
          </a:p>
          <a:p>
            <a:pPr>
              <a:spcAft>
                <a:spcPts val="400"/>
              </a:spcAft>
            </a:pPr>
            <a:r>
              <a:rPr sz="1050" b="0" i="0">
                <a:solidFill>
                  <a:srgbClr val="1E2430"/>
                </a:solidFill>
                <a:latin typeface="Calibri"/>
              </a:rPr>
              <a:t>• </a:t>
            </a:r>
            <a:r>
              <a:rPr sz="1050" b="1" i="0">
                <a:solidFill>
                  <a:srgbClr val="1E2430"/>
                </a:solidFill>
                <a:latin typeface="Calibri"/>
              </a:rPr>
              <a:t>What Happens Across Different Values of </a:t>
            </a:r>
            <a:r>
              <a:rPr sz="1050" b="1" i="1">
                <a:solidFill>
                  <a:srgbClr val="1E2430"/>
                </a:solidFill>
                <a:latin typeface="Calibri"/>
              </a:rPr>
              <a:t>M</a:t>
            </a:r>
            <a:r>
              <a:rPr sz="1050" b="1" i="0">
                <a:solidFill>
                  <a:srgbClr val="1E2430"/>
                </a:solidFill>
                <a:latin typeface="Calibri"/>
              </a:rPr>
              <a:t> (Table D5 Proof):</a:t>
            </a:r>
          </a:p>
          <a:p>
            <a:pPr>
              <a:spcAft>
                <a:spcPts val="400"/>
              </a:spcAft>
            </a:pPr>
            <a:r>
              <a:rPr sz="1000" b="0" i="0">
                <a:solidFill>
                  <a:srgbClr val="1E2430"/>
                </a:solidFill>
                <a:latin typeface="Calibri"/>
              </a:rPr>
              <a:t>    ▪ </a:t>
            </a:r>
            <a:r>
              <a:rPr sz="1000" b="1" i="1">
                <a:solidFill>
                  <a:srgbClr val="1E2430"/>
                </a:solidFill>
                <a:latin typeface="Calibri"/>
              </a:rPr>
              <a:t>M</a:t>
            </a:r>
            <a:r>
              <a:rPr sz="1000" b="1" i="0">
                <a:solidFill>
                  <a:srgbClr val="1E2430"/>
                </a:solidFill>
                <a:latin typeface="Calibri"/>
              </a:rPr>
              <a:t> = 3 user messages:</a:t>
            </a:r>
            <a:r>
              <a:rPr sz="1000" b="0" i="0">
                <a:solidFill>
                  <a:srgbClr val="1E2430"/>
                </a:solidFill>
                <a:latin typeface="Calibri"/>
              </a:rPr>
              <a:t> Stability ARI = .69, but many explorers haven't finished stating initial preferences (held-out routing accuracy = 59.4%, κ = .359).</a:t>
            </a:r>
          </a:p>
          <a:p>
            <a:pPr>
              <a:spcAft>
                <a:spcPts val="400"/>
              </a:spcAft>
            </a:pPr>
            <a:r>
              <a:rPr sz="1000" b="0" i="0">
                <a:solidFill>
                  <a:srgbClr val="1E2430"/>
                </a:solidFill>
                <a:latin typeface="Calibri"/>
              </a:rPr>
              <a:t>    ▪ </a:t>
            </a:r>
            <a:r>
              <a:rPr sz="1000" b="1" i="1">
                <a:solidFill>
                  <a:srgbClr val="1E2430"/>
                </a:solidFill>
                <a:latin typeface="Calibri"/>
              </a:rPr>
              <a:t>M</a:t>
            </a:r>
            <a:r>
              <a:rPr sz="1000" b="1" i="0">
                <a:solidFill>
                  <a:srgbClr val="1E2430"/>
                </a:solidFill>
                <a:latin typeface="Calibri"/>
              </a:rPr>
              <a:t> = 5 user messages:</a:t>
            </a:r>
            <a:r>
              <a:rPr sz="1000" b="0" i="0">
                <a:solidFill>
                  <a:srgbClr val="1E2430"/>
                </a:solidFill>
                <a:latin typeface="Calibri"/>
              </a:rPr>
              <a:t> Stability ARI = .57; held-out routing jumps to </a:t>
            </a:r>
            <a:r>
              <a:rPr sz="1000" b="1" i="0">
                <a:solidFill>
                  <a:srgbClr val="1E2430"/>
                </a:solidFill>
                <a:latin typeface="Calibri"/>
              </a:rPr>
              <a:t>70.1% (κ = .535)</a:t>
            </a:r>
            <a:r>
              <a:rPr sz="1000" b="0" i="0">
                <a:solidFill>
                  <a:srgbClr val="1E2430"/>
                </a:solidFill>
                <a:latin typeface="Calibri"/>
              </a:rPr>
              <a:t>—strong enough for mid-conversation RQ2 prompting!</a:t>
            </a:r>
          </a:p>
          <a:p>
            <a:pPr>
              <a:spcAft>
                <a:spcPts val="400"/>
              </a:spcAft>
            </a:pPr>
            <a:r>
              <a:rPr sz="1000" b="0" i="0">
                <a:solidFill>
                  <a:srgbClr val="1E2430"/>
                </a:solidFill>
                <a:latin typeface="Calibri"/>
              </a:rPr>
              <a:t>    ▪ </a:t>
            </a:r>
            <a:r>
              <a:rPr sz="1000" b="1" i="1">
                <a:solidFill>
                  <a:srgbClr val="1E2430"/>
                </a:solidFill>
                <a:latin typeface="Calibri"/>
              </a:rPr>
              <a:t>M</a:t>
            </a:r>
            <a:r>
              <a:rPr sz="1000" b="1" i="0">
                <a:solidFill>
                  <a:srgbClr val="1E2430"/>
                </a:solidFill>
                <a:latin typeface="Calibri"/>
              </a:rPr>
              <a:t> = 7 user messages:</a:t>
            </a:r>
            <a:r>
              <a:rPr sz="1000" b="0" i="0">
                <a:solidFill>
                  <a:srgbClr val="1E2430"/>
                </a:solidFill>
                <a:latin typeface="Calibri"/>
              </a:rPr>
              <a:t> Stability ARI = .69; held-out routing reaches </a:t>
            </a:r>
            <a:r>
              <a:rPr sz="1000" b="1" i="0">
                <a:solidFill>
                  <a:srgbClr val="1E2430"/>
                </a:solidFill>
                <a:latin typeface="Calibri"/>
              </a:rPr>
              <a:t>82.0% (κ = .722)</a:t>
            </a:r>
            <a:r>
              <a:rPr sz="1000" b="0" i="0">
                <a:solidFill>
                  <a:srgbClr val="1E2430"/>
                </a:solidFill>
                <a:latin typeface="Calibri"/>
              </a:rPr>
              <a:t>.</a:t>
            </a:r>
          </a:p>
          <a:p>
            <a:pPr>
              <a:spcAft>
                <a:spcPts val="400"/>
              </a:spcAft>
            </a:pPr>
            <a:r>
              <a:rPr sz="1000" b="0" i="0">
                <a:solidFill>
                  <a:srgbClr val="1E2430"/>
                </a:solidFill>
                <a:latin typeface="Calibri"/>
              </a:rPr>
              <a:t>    ▪ </a:t>
            </a:r>
            <a:r>
              <a:rPr sz="1000" b="1" i="1">
                <a:solidFill>
                  <a:srgbClr val="1E2430"/>
                </a:solidFill>
                <a:latin typeface="Calibri"/>
              </a:rPr>
              <a:t>M</a:t>
            </a:r>
            <a:r>
              <a:rPr sz="1000" b="1" i="0">
                <a:solidFill>
                  <a:srgbClr val="1E2430"/>
                </a:solidFill>
                <a:latin typeface="Calibri"/>
              </a:rPr>
              <a:t> = 9 user messages (Adopted Golden Definition):</a:t>
            </a:r>
            <a:r>
              <a:rPr sz="1000" b="0" i="0">
                <a:solidFill>
                  <a:srgbClr val="1E2430"/>
                </a:solidFill>
                <a:latin typeface="Calibri"/>
              </a:rPr>
              <a:t> 38.6% of long dialogues are truncated (eliminating end-of-dialogue outcome leakage, </a:t>
            </a:r>
            <a:r>
              <a:rPr sz="1000" b="0" i="1">
                <a:solidFill>
                  <a:srgbClr val="1E2430"/>
                </a:solidFill>
                <a:latin typeface="Calibri"/>
              </a:rPr>
              <a:t>V</a:t>
            </a:r>
            <a:r>
              <a:rPr sz="1000" b="0" i="0">
                <a:solidFill>
                  <a:srgbClr val="1E2430"/>
                </a:solidFill>
                <a:latin typeface="Calibri"/>
              </a:rPr>
              <a:t> = .20), bootstrap stability peaks at </a:t>
            </a:r>
            <a:r>
              <a:rPr sz="1000" b="1" i="0">
                <a:solidFill>
                  <a:srgbClr val="1E2430"/>
                </a:solidFill>
                <a:latin typeface="Calibri"/>
              </a:rPr>
              <a:t>ARI = .76</a:t>
            </a:r>
            <a:r>
              <a:rPr sz="1000" b="0" i="0">
                <a:solidFill>
                  <a:srgbClr val="1E2430"/>
                </a:solidFill>
                <a:latin typeface="Calibri"/>
              </a:rPr>
              <a:t> (</a:t>
            </a:r>
            <a:r>
              <a:rPr sz="1000" b="1" i="0">
                <a:solidFill>
                  <a:srgbClr val="1E2430"/>
                </a:solidFill>
                <a:latin typeface="Calibri"/>
              </a:rPr>
              <a:t>74.8% core membership</a:t>
            </a:r>
            <a:r>
              <a:rPr sz="1000" b="0" i="0">
                <a:solidFill>
                  <a:srgbClr val="1E2430"/>
                </a:solidFill>
                <a:latin typeface="Calibri"/>
              </a:rPr>
              <a:t>), and held-out prefix routing reaches </a:t>
            </a:r>
            <a:r>
              <a:rPr sz="1000" b="1" i="0">
                <a:solidFill>
                  <a:srgbClr val="1E2430"/>
                </a:solidFill>
                <a:latin typeface="Calibri"/>
              </a:rPr>
              <a:t>97.3% (κ = .958)</a:t>
            </a:r>
            <a:r>
              <a:rPr sz="1000" b="0" i="0">
                <a:solidFill>
                  <a:srgbClr val="1E2430"/>
                </a:solidFill>
                <a:latin typeface="Calibri"/>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5: SYSTEM ARCHITECTURE &amp; WORKFLOWS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20</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End-to-End Five-Layer Neuro-Symbolic System Architecture (Figure 4)</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Strict separation between Offline Golden Discovery (D_gold, n = 933) and Online Runtime Execution (D_test, n = 401)</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2054656"/>
            <a:ext cx="7616952" cy="3452774"/>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system_architecture.png"/>
          <p:cNvPicPr>
            <a:picLocks noChangeAspect="1"/>
          </p:cNvPicPr>
          <p:nvPr/>
        </p:nvPicPr>
        <p:blipFill>
          <a:blip r:embed="rId3"/>
          <a:stretch>
            <a:fillRect/>
          </a:stretch>
        </p:blipFill>
        <p:spPr>
          <a:xfrm>
            <a:off x="320040" y="2091232"/>
            <a:ext cx="7543800" cy="3379622"/>
          </a:xfrm>
          <a:prstGeom prst="rect">
            <a:avLst/>
          </a:prstGeom>
        </p:spPr>
      </p:pic>
      <p:sp>
        <p:nvSpPr>
          <p:cNvPr id="13" name="TextBox 12"/>
          <p:cNvSpPr txBox="1"/>
          <p:nvPr/>
        </p:nvSpPr>
        <p:spPr>
          <a:xfrm>
            <a:off x="320040" y="6190488"/>
            <a:ext cx="7543800" cy="256032"/>
          </a:xfrm>
          <a:prstGeom prst="rect">
            <a:avLst/>
          </a:prstGeom>
          <a:noFill/>
        </p:spPr>
        <p:txBody>
          <a:bodyPr wrap="square">
            <a:spAutoFit/>
          </a:bodyPr>
          <a:lstStyle/>
          <a:p>
            <a:pPr algn="ctr"/>
            <a:r>
              <a:rPr sz="950" b="0" i="1">
                <a:solidFill>
                  <a:srgbClr val="5A6577"/>
                </a:solidFill>
                <a:latin typeface="Calibri"/>
              </a:rPr>
              <a:t>Figure 4: Five-Layer Neuro-Symbolic Cluster-Adaptive Conversational System Architecture</a:t>
            </a:r>
          </a:p>
        </p:txBody>
      </p:sp>
      <p:sp>
        <p:nvSpPr>
          <p:cNvPr id="14" name="Rounded Rectangle 13"/>
          <p:cNvSpPr/>
          <p:nvPr/>
        </p:nvSpPr>
        <p:spPr>
          <a:xfrm>
            <a:off x="8001000" y="1371600"/>
            <a:ext cx="3867912" cy="5074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01000" y="1371600"/>
            <a:ext cx="3867912"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Architectural Walkthrough</a:t>
            </a:r>
          </a:p>
        </p:txBody>
      </p:sp>
      <p:sp>
        <p:nvSpPr>
          <p:cNvPr id="16" name="TextBox 15"/>
          <p:cNvSpPr txBox="1"/>
          <p:nvPr/>
        </p:nvSpPr>
        <p:spPr>
          <a:xfrm>
            <a:off x="8092440" y="1755648"/>
            <a:ext cx="3685032" cy="4636008"/>
          </a:xfrm>
          <a:prstGeom prst="rect">
            <a:avLst/>
          </a:prstGeom>
          <a:noFill/>
        </p:spPr>
        <p:txBody>
          <a:bodyPr wrap="square" lIns="36576" rIns="36576" tIns="18288" bIns="18288">
            <a:spAutoFit/>
          </a:bodyPr>
          <a:lstStyle/>
          <a:p>
            <a:pPr>
              <a:spcAft>
                <a:spcPts val="400"/>
              </a:spcAft>
            </a:pPr>
            <a:r>
              <a:rPr sz="980" b="0" i="0">
                <a:solidFill>
                  <a:srgbClr val="1E2430"/>
                </a:solidFill>
                <a:latin typeface="Calibri"/>
              </a:rPr>
              <a:t>• </a:t>
            </a:r>
            <a:r>
              <a:rPr sz="980" b="1" i="0">
                <a:solidFill>
                  <a:srgbClr val="1E2430"/>
                </a:solidFill>
                <a:latin typeface="Calibri"/>
              </a:rPr>
              <a:t>Layer 1 (Canonical Ingestion):</a:t>
            </a:r>
            <a:r>
              <a:rPr sz="980" b="0" i="0">
                <a:solidFill>
                  <a:srgbClr val="1E2430"/>
                </a:solidFill>
                <a:latin typeface="Calibri"/>
              </a:rPr>
              <a:t> Parses raw Frames &amp; MultiWOZ JSON into validated Two-Tier Pydantic trajectories.</a:t>
            </a:r>
          </a:p>
          <a:p>
            <a:pPr>
              <a:spcAft>
                <a:spcPts val="400"/>
              </a:spcAft>
            </a:pPr>
            <a:r>
              <a:rPr sz="980" b="0" i="0">
                <a:solidFill>
                  <a:srgbClr val="1E2430"/>
                </a:solidFill>
                <a:latin typeface="Calibri"/>
              </a:rPr>
              <a:t>• </a:t>
            </a:r>
            <a:r>
              <a:rPr sz="980" b="1" i="0">
                <a:solidFill>
                  <a:srgbClr val="1E2430"/>
                </a:solidFill>
                <a:latin typeface="Calibri"/>
              </a:rPr>
              <a:t>Layer 2 (Offline Discovery on D_gold = 933):</a:t>
            </a:r>
          </a:p>
          <a:p>
            <a:pPr>
              <a:spcAft>
                <a:spcPts val="400"/>
              </a:spcAft>
            </a:pPr>
            <a:r>
              <a:rPr sz="1000" b="0" i="0">
                <a:solidFill>
                  <a:srgbClr val="1E2430"/>
                </a:solidFill>
                <a:latin typeface="Calibri"/>
              </a:rPr>
              <a:t>    ▪ Extracts first </a:t>
            </a:r>
            <a:r>
              <a:rPr sz="1000" b="0" i="1">
                <a:solidFill>
                  <a:srgbClr val="1E2430"/>
                </a:solidFill>
                <a:latin typeface="Calibri"/>
              </a:rPr>
              <a:t>M</a:t>
            </a:r>
            <a:r>
              <a:rPr sz="1000" b="0" i="0">
                <a:solidFill>
                  <a:srgbClr val="1E2430"/>
                </a:solidFill>
                <a:latin typeface="Calibri"/>
              </a:rPr>
              <a:t> = 9 user messages.</a:t>
            </a:r>
          </a:p>
          <a:p>
            <a:pPr>
              <a:spcAft>
                <a:spcPts val="400"/>
              </a:spcAft>
            </a:pPr>
            <a:r>
              <a:rPr sz="1000" b="0" i="0">
                <a:solidFill>
                  <a:srgbClr val="1E2430"/>
                </a:solidFill>
                <a:latin typeface="Calibri"/>
              </a:rPr>
              <a:t>    ▪ Computes PCA-20 of 3,072-d Gemini prefix embeddings + 16-field LLM behavioral profile (`Blocks`).</a:t>
            </a:r>
          </a:p>
          <a:p>
            <a:pPr>
              <a:spcAft>
                <a:spcPts val="400"/>
              </a:spcAft>
            </a:pPr>
            <a:r>
              <a:rPr sz="1000" b="0" i="0">
                <a:solidFill>
                  <a:srgbClr val="1E2430"/>
                </a:solidFill>
                <a:latin typeface="Calibri"/>
              </a:rPr>
              <a:t>    ▪ Freezes </a:t>
            </a:r>
            <a:r>
              <a:rPr sz="1000" b="0" i="1">
                <a:solidFill>
                  <a:srgbClr val="1E2430"/>
                </a:solidFill>
                <a:latin typeface="Calibri"/>
              </a:rPr>
              <a:t>k</a:t>
            </a:r>
            <a:r>
              <a:rPr sz="1000" b="0" i="0">
                <a:solidFill>
                  <a:srgbClr val="1E2430"/>
                </a:solidFill>
                <a:latin typeface="Calibri"/>
              </a:rPr>
              <a:t> = 3 K-Means centroids, L1 logistic router, and 3 slot-masked FAISS `IndexFlatIP` sub-indices.</a:t>
            </a:r>
          </a:p>
          <a:p>
            <a:pPr>
              <a:spcAft>
                <a:spcPts val="400"/>
              </a:spcAft>
            </a:pPr>
            <a:r>
              <a:rPr sz="980" b="0" i="0">
                <a:solidFill>
                  <a:srgbClr val="1E2430"/>
                </a:solidFill>
                <a:latin typeface="Calibri"/>
              </a:rPr>
              <a:t>• </a:t>
            </a:r>
            <a:r>
              <a:rPr sz="980" b="1" i="0">
                <a:solidFill>
                  <a:srgbClr val="1E2430"/>
                </a:solidFill>
                <a:latin typeface="Calibri"/>
              </a:rPr>
              <a:t>Layer 3 (Online Prefix Router &amp; FAISS Retrieval):</a:t>
            </a:r>
          </a:p>
          <a:p>
            <a:pPr>
              <a:spcAft>
                <a:spcPts val="400"/>
              </a:spcAft>
            </a:pPr>
            <a:r>
              <a:rPr sz="1000" b="0" i="0">
                <a:solidFill>
                  <a:srgbClr val="1E2430"/>
                </a:solidFill>
                <a:latin typeface="Calibri"/>
              </a:rPr>
              <a:t>    ▪ Projects live test prefix into golden `Blocks` space (&lt; 2 ms) and retrieves </a:t>
            </a:r>
            <a:r>
              <a:rPr sz="1000" b="0" i="1">
                <a:solidFill>
                  <a:srgbClr val="1E2430"/>
                </a:solidFill>
                <a:latin typeface="Calibri"/>
              </a:rPr>
              <a:t>k</a:t>
            </a:r>
            <a:r>
              <a:rPr sz="1000" b="0" i="0">
                <a:solidFill>
                  <a:srgbClr val="1E2430"/>
                </a:solidFill>
                <a:latin typeface="Calibri"/>
              </a:rPr>
              <a:t> = 3 `[SLOT]`-masked exemplars.</a:t>
            </a:r>
          </a:p>
          <a:p>
            <a:pPr>
              <a:spcAft>
                <a:spcPts val="400"/>
              </a:spcAft>
            </a:pPr>
            <a:r>
              <a:rPr sz="980" b="0" i="0">
                <a:solidFill>
                  <a:srgbClr val="1E2430"/>
                </a:solidFill>
                <a:latin typeface="Calibri"/>
              </a:rPr>
              <a:t>• </a:t>
            </a:r>
            <a:r>
              <a:rPr sz="980" b="1" i="0">
                <a:solidFill>
                  <a:srgbClr val="1E2430"/>
                </a:solidFill>
                <a:latin typeface="Calibri"/>
              </a:rPr>
              <a:t>Layer 4 (Symbolic Guardrails &amp; Generation):</a:t>
            </a:r>
          </a:p>
          <a:p>
            <a:pPr>
              <a:spcAft>
                <a:spcPts val="400"/>
              </a:spcAft>
            </a:pPr>
            <a:r>
              <a:rPr sz="1000" b="0" i="0">
                <a:solidFill>
                  <a:srgbClr val="1E2430"/>
                </a:solidFill>
                <a:latin typeface="Calibri"/>
              </a:rPr>
              <a:t>    ▪ Updates </a:t>
            </a:r>
            <a:r>
              <a:rPr sz="1000" b="0" i="1">
                <a:solidFill>
                  <a:srgbClr val="1E2430"/>
                </a:solidFill>
                <a:latin typeface="Calibri"/>
              </a:rPr>
              <a:t>Verified Informed Slot Ledger</a:t>
            </a:r>
            <a:r>
              <a:rPr sz="1000" b="0" i="0">
                <a:solidFill>
                  <a:srgbClr val="1E2430"/>
                </a:solidFill>
                <a:latin typeface="Calibri"/>
              </a:rPr>
              <a:t> (prevents re-asking).</a:t>
            </a:r>
          </a:p>
          <a:p>
            <a:pPr>
              <a:spcAft>
                <a:spcPts val="400"/>
              </a:spcAft>
            </a:pPr>
            <a:r>
              <a:rPr sz="1000" b="0" i="0">
                <a:solidFill>
                  <a:srgbClr val="1E2430"/>
                </a:solidFill>
                <a:latin typeface="Calibri"/>
              </a:rPr>
              <a:t>    ▪ Evaluates 5 YAML rules (`src/rule_engine.py`, &lt; 1 ms) + sanitizes post-generation entity leakage.</a:t>
            </a:r>
          </a:p>
          <a:p>
            <a:pPr>
              <a:spcAft>
                <a:spcPts val="400"/>
              </a:spcAft>
            </a:pPr>
            <a:r>
              <a:rPr sz="980" b="0" i="0">
                <a:solidFill>
                  <a:srgbClr val="1E2430"/>
                </a:solidFill>
                <a:latin typeface="Calibri"/>
              </a:rPr>
              <a:t>• </a:t>
            </a:r>
            <a:r>
              <a:rPr sz="980" b="1" i="0">
                <a:solidFill>
                  <a:srgbClr val="1E2430"/>
                </a:solidFill>
                <a:latin typeface="Calibri"/>
              </a:rPr>
              <a:t>Layer 5 (Evaluation &amp; Dual-Judge Audit):</a:t>
            </a:r>
          </a:p>
          <a:p>
            <a:pPr>
              <a:spcAft>
                <a:spcPts val="400"/>
              </a:spcAft>
            </a:pPr>
            <a:r>
              <a:rPr sz="1000" b="0" i="0">
                <a:solidFill>
                  <a:srgbClr val="1E2430"/>
                </a:solidFill>
                <a:latin typeface="Calibri"/>
              </a:rPr>
              <a:t>    ▪ Scores Style Cosine, RAR, ELR, Slot F1, TGC, RER + cross-validates with `gemini-2.5-pro` (κ = .917 &amp; .933).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5: SYSTEM ARCHITECTURE &amp; WORKFLOWS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21</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Algorithmic Execution Workflows Across RQ1 to RQ4 (Figure 5)</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Visualizing the exact experimental pipeline, sample sizes, and statistical tests for each research question</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1477756"/>
            <a:ext cx="7708392" cy="4606575"/>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_workflows_4panel.png"/>
          <p:cNvPicPr>
            <a:picLocks noChangeAspect="1"/>
          </p:cNvPicPr>
          <p:nvPr/>
        </p:nvPicPr>
        <p:blipFill>
          <a:blip r:embed="rId3"/>
          <a:stretch>
            <a:fillRect/>
          </a:stretch>
        </p:blipFill>
        <p:spPr>
          <a:xfrm>
            <a:off x="320040" y="1514332"/>
            <a:ext cx="7635240" cy="4533423"/>
          </a:xfrm>
          <a:prstGeom prst="rect">
            <a:avLst/>
          </a:prstGeom>
        </p:spPr>
      </p:pic>
      <p:sp>
        <p:nvSpPr>
          <p:cNvPr id="13" name="TextBox 12"/>
          <p:cNvSpPr txBox="1"/>
          <p:nvPr/>
        </p:nvSpPr>
        <p:spPr>
          <a:xfrm>
            <a:off x="320040" y="6190488"/>
            <a:ext cx="7635240" cy="256032"/>
          </a:xfrm>
          <a:prstGeom prst="rect">
            <a:avLst/>
          </a:prstGeom>
          <a:noFill/>
        </p:spPr>
        <p:txBody>
          <a:bodyPr wrap="square">
            <a:spAutoFit/>
          </a:bodyPr>
          <a:lstStyle/>
          <a:p>
            <a:pPr algn="ctr"/>
            <a:r>
              <a:rPr sz="950" b="0" i="1">
                <a:solidFill>
                  <a:srgbClr val="5A6577"/>
                </a:solidFill>
                <a:latin typeface="Calibri"/>
              </a:rPr>
              <a:t>Figure 5: Four-Panel Algorithmic Execution Workflows for RQ1 (A), RQ2 (B), RQ3 (C), and RQ4 (D)</a:t>
            </a:r>
          </a:p>
        </p:txBody>
      </p:sp>
      <p:sp>
        <p:nvSpPr>
          <p:cNvPr id="14" name="Rounded Rectangle 13"/>
          <p:cNvSpPr/>
          <p:nvPr/>
        </p:nvSpPr>
        <p:spPr>
          <a:xfrm>
            <a:off x="8092440" y="1371600"/>
            <a:ext cx="3776472" cy="5074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92440" y="1371600"/>
            <a:ext cx="377647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How the Four Pipelines Connect</a:t>
            </a:r>
          </a:p>
        </p:txBody>
      </p:sp>
      <p:sp>
        <p:nvSpPr>
          <p:cNvPr id="16" name="TextBox 15"/>
          <p:cNvSpPr txBox="1"/>
          <p:nvPr/>
        </p:nvSpPr>
        <p:spPr>
          <a:xfrm>
            <a:off x="8183879" y="1755648"/>
            <a:ext cx="3593591" cy="4636008"/>
          </a:xfrm>
          <a:prstGeom prst="rect">
            <a:avLst/>
          </a:prstGeom>
          <a:noFill/>
        </p:spPr>
        <p:txBody>
          <a:bodyPr wrap="square" lIns="36576" rIns="36576" tIns="18288" bIns="18288">
            <a:spAutoFit/>
          </a:bodyPr>
          <a:lstStyle/>
          <a:p>
            <a:pPr>
              <a:spcAft>
                <a:spcPts val="400"/>
              </a:spcAft>
            </a:pPr>
            <a:r>
              <a:rPr sz="1019" b="0" i="0">
                <a:solidFill>
                  <a:srgbClr val="1E2430"/>
                </a:solidFill>
                <a:latin typeface="Calibri"/>
              </a:rPr>
              <a:t>• </a:t>
            </a:r>
            <a:r>
              <a:rPr sz="1019" b="1" i="0">
                <a:solidFill>
                  <a:srgbClr val="1E2430"/>
                </a:solidFill>
                <a:latin typeface="Calibri"/>
              </a:rPr>
              <a:t>Panel A (RQ1 — Unsupervised Discovery):</a:t>
            </a:r>
          </a:p>
          <a:p>
            <a:pPr>
              <a:spcAft>
                <a:spcPts val="400"/>
              </a:spcAft>
            </a:pPr>
            <a:r>
              <a:rPr sz="1000" b="0" i="0">
                <a:solidFill>
                  <a:srgbClr val="1E2430"/>
                </a:solidFill>
                <a:latin typeface="Calibri"/>
              </a:rPr>
              <a:t>    ▪ 159 subsample runs (53 × 3 algorithms) on MiniLM &amp; Gemini embeddings → Representation × Truncation grid → 3 Refined Archetypes &amp; `RefinedArchetypeRouter`.</a:t>
            </a:r>
          </a:p>
          <a:p>
            <a:pPr>
              <a:spcAft>
                <a:spcPts val="400"/>
              </a:spcAft>
            </a:pPr>
            <a:r>
              <a:rPr sz="1019" b="0" i="0">
                <a:solidFill>
                  <a:srgbClr val="1E2430"/>
                </a:solidFill>
                <a:latin typeface="Calibri"/>
              </a:rPr>
              <a:t>• </a:t>
            </a:r>
            <a:r>
              <a:rPr sz="1019" b="1" i="0">
                <a:solidFill>
                  <a:srgbClr val="1E2430"/>
                </a:solidFill>
                <a:latin typeface="Calibri"/>
              </a:rPr>
              <a:t>Panel B (RQ2 — Within-Subject Prompting):</a:t>
            </a:r>
          </a:p>
          <a:p>
            <a:pPr>
              <a:spcAft>
                <a:spcPts val="400"/>
              </a:spcAft>
            </a:pPr>
            <a:r>
              <a:rPr sz="1000" b="0" i="0">
                <a:solidFill>
                  <a:srgbClr val="1E2430"/>
                </a:solidFill>
                <a:latin typeface="Calibri"/>
              </a:rPr>
              <a:t>    ▪ 33 held-out dialogues × 3 conditions = 99 calls. Contrasts Primary Archetypes (κ=.24) vs. Refined Archetypes (κ=.535).</a:t>
            </a:r>
          </a:p>
          <a:p>
            <a:pPr>
              <a:spcAft>
                <a:spcPts val="400"/>
              </a:spcAft>
            </a:pPr>
            <a:r>
              <a:rPr sz="1019" b="0" i="0">
                <a:solidFill>
                  <a:srgbClr val="1E2430"/>
                </a:solidFill>
                <a:latin typeface="Calibri"/>
              </a:rPr>
              <a:t>• </a:t>
            </a:r>
            <a:r>
              <a:rPr sz="1019" b="1" i="0">
                <a:solidFill>
                  <a:srgbClr val="1E2430"/>
                </a:solidFill>
                <a:latin typeface="Calibri"/>
              </a:rPr>
              <a:t>Panel C (RQ3 — 2 × 2 Factorial Guardrails):</a:t>
            </a:r>
          </a:p>
          <a:p>
            <a:pPr>
              <a:spcAft>
                <a:spcPts val="400"/>
              </a:spcAft>
            </a:pPr>
            <a:r>
              <a:rPr sz="1000" b="0" i="0">
                <a:solidFill>
                  <a:srgbClr val="1E2430"/>
                </a:solidFill>
                <a:latin typeface="Calibri"/>
              </a:rPr>
              <a:t>    ▪ 144 held-out scenarios (36/cell; 50% violating) crossing `Rules Off/Active` × `Zero-Shot/Cluster-Adaptive` + 48-unit `gemini-2.5-pro` dual-judge audit.</a:t>
            </a:r>
          </a:p>
          <a:p>
            <a:pPr>
              <a:spcAft>
                <a:spcPts val="400"/>
              </a:spcAft>
            </a:pPr>
            <a:r>
              <a:rPr sz="1019" b="0" i="0">
                <a:solidFill>
                  <a:srgbClr val="1E2430"/>
                </a:solidFill>
                <a:latin typeface="Calibri"/>
              </a:rPr>
              <a:t>• </a:t>
            </a:r>
            <a:r>
              <a:rPr sz="1019" b="1" i="0">
                <a:solidFill>
                  <a:srgbClr val="1E2430"/>
                </a:solidFill>
                <a:latin typeface="Calibri"/>
              </a:rPr>
              <a:t>Panel D (RQ4 — 2 × 3 Multi-Turn Simulation):</a:t>
            </a:r>
          </a:p>
          <a:p>
            <a:pPr>
              <a:spcAft>
                <a:spcPts val="400"/>
              </a:spcAft>
            </a:pPr>
            <a:r>
              <a:rPr sz="1000" b="0" i="0">
                <a:solidFill>
                  <a:srgbClr val="1E2430"/>
                </a:solidFill>
                <a:latin typeface="Calibri"/>
              </a:rPr>
              <a:t>    ▪ 180 closed-loop simulations (30/cell) crossing `Zero-Shot/Cluster-Adaptive` × 3 Refined Archetypes + 45-unit blind persona fidelity audit.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(RQ1)</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22</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RQ1 (Part 1): Clustering Algorithm Benchmark Across 159 Runs &amp; Embedding Invariance</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Table 12 &amp; Figures D1–D2: Rejecting H01 (p &lt; .001) across both MiniLM (384-d) and Gemini (3,072-d) spaces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1557389"/>
            <a:ext cx="5056632" cy="1704109"/>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1_k_selection.png"/>
          <p:cNvPicPr>
            <a:picLocks noChangeAspect="1"/>
          </p:cNvPicPr>
          <p:nvPr/>
        </p:nvPicPr>
        <p:blipFill>
          <a:blip r:embed="rId3"/>
          <a:stretch>
            <a:fillRect/>
          </a:stretch>
        </p:blipFill>
        <p:spPr>
          <a:xfrm>
            <a:off x="320040" y="1593965"/>
            <a:ext cx="4983480" cy="1630957"/>
          </a:xfrm>
          <a:prstGeom prst="rect">
            <a:avLst/>
          </a:prstGeom>
        </p:spPr>
      </p:pic>
      <p:sp>
        <p:nvSpPr>
          <p:cNvPr id="13" name="TextBox 12"/>
          <p:cNvSpPr txBox="1"/>
          <p:nvPr/>
        </p:nvSpPr>
        <p:spPr>
          <a:xfrm>
            <a:off x="320040" y="3447287"/>
            <a:ext cx="4983480" cy="256032"/>
          </a:xfrm>
          <a:prstGeom prst="rect">
            <a:avLst/>
          </a:prstGeom>
          <a:noFill/>
        </p:spPr>
        <p:txBody>
          <a:bodyPr wrap="square">
            <a:spAutoFit/>
          </a:bodyPr>
          <a:lstStyle/>
          <a:p>
            <a:pPr algn="ctr"/>
            <a:r>
              <a:rPr sz="950" b="0" i="1">
                <a:solidFill>
                  <a:srgbClr val="5A6577"/>
                </a:solidFill>
                <a:latin typeface="Calibri"/>
              </a:rPr>
              <a:t>Figure D1: Cluster-Number Selection (k = 2..8) on Golden Partition (k = 3 balances Silhouette &amp; size ≥ 20%)</a:t>
            </a:r>
          </a:p>
        </p:txBody>
      </p:sp>
      <p:sp>
        <p:nvSpPr>
          <p:cNvPr id="14" name="Rectangle 13"/>
          <p:cNvSpPr/>
          <p:nvPr/>
        </p:nvSpPr>
        <p:spPr>
          <a:xfrm>
            <a:off x="740664" y="3758184"/>
            <a:ext cx="4142232" cy="2514600"/>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_rq1_silhouette.png"/>
          <p:cNvPicPr>
            <a:picLocks noChangeAspect="1"/>
          </p:cNvPicPr>
          <p:nvPr/>
        </p:nvPicPr>
        <p:blipFill>
          <a:blip r:embed="rId4"/>
          <a:stretch>
            <a:fillRect/>
          </a:stretch>
        </p:blipFill>
        <p:spPr>
          <a:xfrm>
            <a:off x="777240" y="3794760"/>
            <a:ext cx="4069080" cy="2441448"/>
          </a:xfrm>
          <a:prstGeom prst="rect">
            <a:avLst/>
          </a:prstGeom>
        </p:spPr>
      </p:pic>
      <p:sp>
        <p:nvSpPr>
          <p:cNvPr id="16" name="TextBox 15"/>
          <p:cNvSpPr txBox="1"/>
          <p:nvPr/>
        </p:nvSpPr>
        <p:spPr>
          <a:xfrm>
            <a:off x="320040" y="6236208"/>
            <a:ext cx="4983480" cy="256032"/>
          </a:xfrm>
          <a:prstGeom prst="rect">
            <a:avLst/>
          </a:prstGeom>
          <a:noFill/>
        </p:spPr>
        <p:txBody>
          <a:bodyPr wrap="square">
            <a:spAutoFit/>
          </a:bodyPr>
          <a:lstStyle/>
          <a:p>
            <a:pPr algn="ctr"/>
            <a:r>
              <a:rPr sz="950" b="0" i="1">
                <a:solidFill>
                  <a:srgbClr val="5A6577"/>
                </a:solidFill>
                <a:latin typeface="Calibri"/>
              </a:rPr>
              <a:t>Figure D2: Cosine Silhouette Across 159 Subsample Runs (53 per Algorithm) vs. Permutation Baseline</a:t>
            </a:r>
          </a:p>
        </p:txBody>
      </p:sp>
      <p:graphicFrame>
        <p:nvGraphicFramePr>
          <p:cNvPr id="17" name="Table 16"/>
          <p:cNvGraphicFramePr>
            <a:graphicFrameLocks noGrp="1"/>
          </p:cNvGraphicFramePr>
          <p:nvPr/>
        </p:nvGraphicFramePr>
        <p:xfrm>
          <a:off x="5440680" y="1371600"/>
          <a:ext cx="6428229" cy="2971800"/>
        </p:xfrm>
        <a:graphic>
          <a:graphicData uri="http://schemas.openxmlformats.org/drawingml/2006/table">
            <a:tbl>
              <a:tblPr firstRow="1" bandRow="1">
                <a:tableStyleId>{5C22544A-7EE6-4342-B048-85BDC9FD1C3A}</a:tableStyleId>
              </a:tblPr>
              <a:tblGrid>
                <a:gridCol w="2295797"/>
                <a:gridCol w="459159"/>
                <a:gridCol w="1101982"/>
                <a:gridCol w="1010150"/>
                <a:gridCol w="1101982"/>
                <a:gridCol w="459159"/>
              </a:tblGrid>
              <a:tr h="424542">
                <a:tc>
                  <a:txBody>
                    <a:bodyPr/>
                    <a:lstStyle/>
                    <a:p>
                      <a:pPr algn="l"/>
                      <a:r>
                        <a:rPr sz="1100" b="1" i="0">
                          <a:solidFill>
                            <a:srgbClr val="FFFFFF"/>
                          </a:solidFill>
                          <a:latin typeface="Calibri"/>
                        </a:rPr>
                        <a:t>Embedding Family &amp; Algorithm</a:t>
                      </a:r>
                    </a:p>
                  </a:txBody>
                  <a:tcPr anchor="ctr" marL="54864" marR="54864" marT="27432" marB="27432">
                    <a:solidFill>
                      <a:srgbClr val="14325C"/>
                    </a:solidFill>
                  </a:tcPr>
                </a:tc>
                <a:tc>
                  <a:txBody>
                    <a:bodyPr/>
                    <a:lstStyle/>
                    <a:p>
                      <a:pPr algn="ctr"/>
                      <a:r>
                        <a:rPr sz="1100" b="1" i="0">
                          <a:solidFill>
                            <a:srgbClr val="FFFFFF"/>
                          </a:solidFill>
                          <a:latin typeface="Calibri"/>
                        </a:rPr>
                        <a:t>Runs</a:t>
                      </a:r>
                    </a:p>
                  </a:txBody>
                  <a:tcPr anchor="ctr" marL="54864" marR="54864" marT="27432" marB="27432">
                    <a:solidFill>
                      <a:srgbClr val="14325C"/>
                    </a:solidFill>
                  </a:tcPr>
                </a:tc>
                <a:tc>
                  <a:txBody>
                    <a:bodyPr/>
                    <a:lstStyle/>
                    <a:p>
                      <a:pPr algn="ctr"/>
                      <a:r>
                        <a:rPr sz="1100" b="1" i="0">
                          <a:solidFill>
                            <a:srgbClr val="FFFFFF"/>
                          </a:solidFill>
                          <a:latin typeface="Calibri"/>
                        </a:rPr>
                        <a:t>Silhouette M (SD)</a:t>
                      </a:r>
                    </a:p>
                  </a:txBody>
                  <a:tcPr anchor="ctr" marL="54864" marR="54864" marT="27432" marB="27432">
                    <a:solidFill>
                      <a:srgbClr val="14325C"/>
                    </a:solidFill>
                  </a:tcPr>
                </a:tc>
                <a:tc>
                  <a:txBody>
                    <a:bodyPr/>
                    <a:lstStyle/>
                    <a:p>
                      <a:pPr algn="ctr"/>
                      <a:r>
                        <a:rPr sz="1100" b="1" i="0">
                          <a:solidFill>
                            <a:srgbClr val="FFFFFF"/>
                          </a:solidFill>
                          <a:latin typeface="Calibri"/>
                        </a:rPr>
                        <a:t>Davies–Bouldin</a:t>
                      </a:r>
                    </a:p>
                  </a:txBody>
                  <a:tcPr anchor="ctr" marL="54864" marR="54864" marT="27432" marB="27432">
                    <a:solidFill>
                      <a:srgbClr val="14325C"/>
                    </a:solidFill>
                  </a:tcPr>
                </a:tc>
                <a:tc>
                  <a:txBody>
                    <a:bodyPr/>
                    <a:lstStyle/>
                    <a:p>
                      <a:pPr algn="ctr"/>
                      <a:r>
                        <a:rPr sz="1100" b="1" i="0">
                          <a:solidFill>
                            <a:srgbClr val="FFFFFF"/>
                          </a:solidFill>
                          <a:latin typeface="Calibri"/>
                        </a:rPr>
                        <a:t>ANOVA F (p)</a:t>
                      </a:r>
                    </a:p>
                  </a:txBody>
                  <a:tcPr anchor="ctr" marL="54864" marR="54864" marT="27432" marB="27432">
                    <a:solidFill>
                      <a:srgbClr val="14325C"/>
                    </a:solidFill>
                  </a:tcPr>
                </a:tc>
                <a:tc>
                  <a:txBody>
                    <a:bodyPr/>
                    <a:lstStyle/>
                    <a:p>
                      <a:pPr algn="ctr"/>
                      <a:r>
                        <a:rPr sz="1100" b="1" i="0">
                          <a:solidFill>
                            <a:srgbClr val="FFFFFF"/>
                          </a:solidFill>
                          <a:latin typeface="Calibri"/>
                        </a:rPr>
                        <a:t>η²</a:t>
                      </a:r>
                    </a:p>
                  </a:txBody>
                  <a:tcPr anchor="ctr" marL="54864" marR="54864" marT="27432" marB="27432">
                    <a:solidFill>
                      <a:srgbClr val="14325C"/>
                    </a:solidFill>
                  </a:tcPr>
                </a:tc>
              </a:tr>
              <a:tr h="424542">
                <a:tc>
                  <a:txBody>
                    <a:bodyPr/>
                    <a:lstStyle/>
                    <a:p>
                      <a:pPr algn="l"/>
                      <a:r>
                        <a:rPr sz="950" b="1" i="0">
                          <a:solidFill>
                            <a:srgbClr val="1E2430"/>
                          </a:solidFill>
                          <a:latin typeface="Calibri"/>
                        </a:rPr>
                        <a:t>MiniLM (384-d) — K-Means (k = 3)</a:t>
                      </a:r>
                    </a:p>
                  </a:txBody>
                  <a:tcPr anchor="ctr" marL="54864" marR="54864" marT="22860" marB="22860">
                    <a:solidFill>
                      <a:srgbClr val="E1F3E8"/>
                    </a:solidFill>
                  </a:tcPr>
                </a:tc>
                <a:tc>
                  <a:txBody>
                    <a:bodyPr/>
                    <a:lstStyle/>
                    <a:p>
                      <a:pPr algn="ctr"/>
                      <a:r>
                        <a:rPr sz="950" b="1" i="0">
                          <a:solidFill>
                            <a:srgbClr val="1E2430"/>
                          </a:solidFill>
                          <a:latin typeface="Calibri"/>
                        </a:rPr>
                        <a:t>53</a:t>
                      </a:r>
                    </a:p>
                  </a:txBody>
                  <a:tcPr anchor="ctr" marL="54864" marR="54864" marT="22860" marB="22860">
                    <a:solidFill>
                      <a:srgbClr val="E1F3E8"/>
                    </a:solidFill>
                  </a:tcPr>
                </a:tc>
                <a:tc>
                  <a:txBody>
                    <a:bodyPr/>
                    <a:lstStyle/>
                    <a:p>
                      <a:pPr algn="ctr"/>
                      <a:r>
                        <a:rPr sz="950" b="1" i="0">
                          <a:solidFill>
                            <a:srgbClr val="1E2430"/>
                          </a:solidFill>
                          <a:latin typeface="Calibri"/>
                        </a:rPr>
                        <a:t>.099 (.005)</a:t>
                      </a:r>
                    </a:p>
                  </a:txBody>
                  <a:tcPr anchor="ctr" marL="54864" marR="54864" marT="22860" marB="22860">
                    <a:solidFill>
                      <a:srgbClr val="E1F3E8"/>
                    </a:solidFill>
                  </a:tcPr>
                </a:tc>
                <a:tc>
                  <a:txBody>
                    <a:bodyPr/>
                    <a:lstStyle/>
                    <a:p>
                      <a:pPr algn="ctr"/>
                      <a:r>
                        <a:rPr sz="950" b="1" i="0">
                          <a:solidFill>
                            <a:srgbClr val="1E2430"/>
                          </a:solidFill>
                          <a:latin typeface="Calibri"/>
                        </a:rPr>
                        <a:t>2.712 (0.068)</a:t>
                      </a:r>
                    </a:p>
                  </a:txBody>
                  <a:tcPr anchor="ctr" marL="54864" marR="54864" marT="22860" marB="22860">
                    <a:solidFill>
                      <a:srgbClr val="E1F3E8"/>
                    </a:solidFill>
                  </a:tcPr>
                </a:tc>
                <a:tc>
                  <a:txBody>
                    <a:bodyPr/>
                    <a:lstStyle/>
                    <a:p>
                      <a:pPr algn="ctr"/>
                      <a:r>
                        <a:rPr sz="950" b="1" i="0">
                          <a:solidFill>
                            <a:srgbClr val="1E2430"/>
                          </a:solidFill>
                          <a:latin typeface="Calibri"/>
                        </a:rPr>
                        <a:t>F(2, 156) = 91.33
(p &lt; .001)</a:t>
                      </a:r>
                    </a:p>
                  </a:txBody>
                  <a:tcPr anchor="ctr" marL="54864" marR="54864" marT="22860" marB="22860">
                    <a:solidFill>
                      <a:srgbClr val="E1F3E8"/>
                    </a:solidFill>
                  </a:tcPr>
                </a:tc>
                <a:tc>
                  <a:txBody>
                    <a:bodyPr/>
                    <a:lstStyle/>
                    <a:p>
                      <a:pPr algn="ctr"/>
                      <a:r>
                        <a:rPr sz="950" b="1" i="0">
                          <a:solidFill>
                            <a:srgbClr val="1E2430"/>
                          </a:solidFill>
                          <a:latin typeface="Calibri"/>
                        </a:rPr>
                        <a:t>.539</a:t>
                      </a:r>
                    </a:p>
                  </a:txBody>
                  <a:tcPr anchor="ctr" marL="54864" marR="54864" marT="22860" marB="22860">
                    <a:solidFill>
                      <a:srgbClr val="E1F3E8"/>
                    </a:solidFill>
                  </a:tcPr>
                </a:tc>
              </a:tr>
              <a:tr h="424542">
                <a:tc>
                  <a:txBody>
                    <a:bodyPr/>
                    <a:lstStyle/>
                    <a:p>
                      <a:pPr algn="l"/>
                      <a:r>
                        <a:rPr sz="950" b="0" i="0">
                          <a:solidFill>
                            <a:srgbClr val="1E2430"/>
                          </a:solidFill>
                          <a:latin typeface="Calibri"/>
                        </a:rPr>
                        <a:t>MiniLM (384-d) — Agglomerative (Ward)</a:t>
                      </a:r>
                    </a:p>
                  </a:txBody>
                  <a:tcPr anchor="ctr" marL="54864" marR="54864" marT="22860" marB="22860">
                    <a:solidFill>
                      <a:srgbClr val="F2F6FC"/>
                    </a:solidFill>
                  </a:tcPr>
                </a:tc>
                <a:tc>
                  <a:txBody>
                    <a:bodyPr/>
                    <a:lstStyle/>
                    <a:p>
                      <a:pPr algn="ctr"/>
                      <a:r>
                        <a:rPr sz="950" b="0" i="0">
                          <a:solidFill>
                            <a:srgbClr val="1E2430"/>
                          </a:solidFill>
                          <a:latin typeface="Calibri"/>
                        </a:rPr>
                        <a:t>53</a:t>
                      </a:r>
                    </a:p>
                  </a:txBody>
                  <a:tcPr anchor="ctr" marL="54864" marR="54864" marT="22860" marB="22860">
                    <a:solidFill>
                      <a:srgbClr val="F2F6FC"/>
                    </a:solidFill>
                  </a:tcPr>
                </a:tc>
                <a:tc>
                  <a:txBody>
                    <a:bodyPr/>
                    <a:lstStyle/>
                    <a:p>
                      <a:pPr algn="ctr"/>
                      <a:r>
                        <a:rPr sz="950" b="0" i="0">
                          <a:solidFill>
                            <a:srgbClr val="1E2430"/>
                          </a:solidFill>
                          <a:latin typeface="Calibri"/>
                        </a:rPr>
                        <a:t>.075 (.007)</a:t>
                      </a:r>
                    </a:p>
                  </a:txBody>
                  <a:tcPr anchor="ctr" marL="54864" marR="54864" marT="22860" marB="22860">
                    <a:solidFill>
                      <a:srgbClr val="F2F6FC"/>
                    </a:solidFill>
                  </a:tcPr>
                </a:tc>
                <a:tc>
                  <a:txBody>
                    <a:bodyPr/>
                    <a:lstStyle/>
                    <a:p>
                      <a:pPr algn="ctr"/>
                      <a:r>
                        <a:rPr sz="950" b="0" i="0">
                          <a:solidFill>
                            <a:srgbClr val="1E2430"/>
                          </a:solidFill>
                          <a:latin typeface="Calibri"/>
                        </a:rPr>
                        <a:t>3.047 (0.129)</a:t>
                      </a:r>
                    </a:p>
                  </a:txBody>
                  <a:tcPr anchor="ctr" marL="54864" marR="54864" marT="22860" marB="22860">
                    <a:solidFill>
                      <a:srgbClr val="F2F6FC"/>
                    </a:solidFill>
                  </a:tcPr>
                </a:tc>
                <a:tc>
                  <a:txBody>
                    <a:bodyPr/>
                    <a:lstStyle/>
                    <a:p>
                      <a:pPr algn="ctr"/>
                      <a:r>
                        <a:rPr sz="950" b="0" i="0">
                          <a:solidFill>
                            <a:srgbClr val="1E2430"/>
                          </a:solidFill>
                          <a:latin typeface="Calibri"/>
                        </a:rPr>
                        <a:t>Welch F = 113.84
(p &lt; .001)</a:t>
                      </a:r>
                    </a:p>
                  </a:txBody>
                  <a:tcPr anchor="ctr" marL="54864" marR="54864" marT="22860" marB="22860">
                    <a:solidFill>
                      <a:srgbClr val="F2F6FC"/>
                    </a:solidFill>
                  </a:tcPr>
                </a:tc>
                <a:tc>
                  <a:txBody>
                    <a:bodyPr/>
                    <a:lstStyle/>
                    <a:p>
                      <a:pPr algn="ctr"/>
                      <a:r>
                        <a:rPr sz="950" b="0" i="0">
                          <a:solidFill>
                            <a:srgbClr val="1E2430"/>
                          </a:solidFill>
                          <a:latin typeface="Calibri"/>
                        </a:rPr>
                        <a:t>—</a:t>
                      </a:r>
                    </a:p>
                  </a:txBody>
                  <a:tcPr anchor="ctr" marL="54864" marR="54864" marT="22860" marB="22860">
                    <a:solidFill>
                      <a:srgbClr val="F2F6FC"/>
                    </a:solidFill>
                  </a:tcPr>
                </a:tc>
              </a:tr>
              <a:tr h="424542">
                <a:tc>
                  <a:txBody>
                    <a:bodyPr/>
                    <a:lstStyle/>
                    <a:p>
                      <a:pPr algn="l"/>
                      <a:r>
                        <a:rPr sz="950" b="0" i="0">
                          <a:solidFill>
                            <a:srgbClr val="1E2430"/>
                          </a:solidFill>
                          <a:latin typeface="Calibri"/>
                        </a:rPr>
                        <a:t>MiniLM (384-d) — HDBSCAN (relaxed)</a:t>
                      </a:r>
                    </a:p>
                  </a:txBody>
                  <a:tcPr anchor="ctr" marL="54864" marR="54864" marT="22860" marB="22860">
                    <a:solidFill>
                      <a:srgbClr val="FFFFFF"/>
                    </a:solidFill>
                  </a:tcPr>
                </a:tc>
                <a:tc>
                  <a:txBody>
                    <a:bodyPr/>
                    <a:lstStyle/>
                    <a:p>
                      <a:pPr algn="ctr"/>
                      <a:r>
                        <a:rPr sz="950" b="0" i="0">
                          <a:solidFill>
                            <a:srgbClr val="1E2430"/>
                          </a:solidFill>
                          <a:latin typeface="Calibri"/>
                        </a:rPr>
                        <a:t>53</a:t>
                      </a:r>
                    </a:p>
                  </a:txBody>
                  <a:tcPr anchor="ctr" marL="54864" marR="54864" marT="22860" marB="22860">
                    <a:solidFill>
                      <a:srgbClr val="FFFFFF"/>
                    </a:solidFill>
                  </a:tcPr>
                </a:tc>
                <a:tc>
                  <a:txBody>
                    <a:bodyPr/>
                    <a:lstStyle/>
                    <a:p>
                      <a:pPr algn="ctr"/>
                      <a:r>
                        <a:rPr sz="950" b="0" i="0">
                          <a:solidFill>
                            <a:srgbClr val="1E2430"/>
                          </a:solidFill>
                          <a:latin typeface="Calibri"/>
                        </a:rPr>
                        <a:t>.170 (.050)</a:t>
                      </a:r>
                    </a:p>
                  </a:txBody>
                  <a:tcPr anchor="ctr" marL="54864" marR="54864" marT="22860" marB="22860">
                    <a:solidFill>
                      <a:srgbClr val="FFFFFF"/>
                    </a:solidFill>
                  </a:tcPr>
                </a:tc>
                <a:tc>
                  <a:txBody>
                    <a:bodyPr/>
                    <a:lstStyle/>
                    <a:p>
                      <a:pPr algn="ctr"/>
                      <a:r>
                        <a:rPr sz="950" b="0" i="0">
                          <a:solidFill>
                            <a:srgbClr val="1E2430"/>
                          </a:solidFill>
                          <a:latin typeface="Calibri"/>
                        </a:rPr>
                        <a:t>1.787 (0.310)</a:t>
                      </a:r>
                    </a:p>
                  </a:txBody>
                  <a:tcPr anchor="ctr" marL="54864" marR="54864" marT="22860" marB="22860">
                    <a:solidFill>
                      <a:srgbClr val="FFFFFF"/>
                    </a:solidFill>
                  </a:tcPr>
                </a:tc>
                <a:tc>
                  <a:txBody>
                    <a:bodyPr/>
                    <a:lstStyle/>
                    <a:p>
                      <a:pPr algn="ctr"/>
                      <a:r>
                        <a:rPr sz="950" b="0" i="0">
                          <a:solidFill>
                            <a:srgbClr val="1E2430"/>
                          </a:solidFill>
                          <a:latin typeface="Calibri"/>
                        </a:rPr>
                        <a:t>Kruskal H = 123.70
(p &lt; .001)</a:t>
                      </a:r>
                    </a:p>
                  </a:txBody>
                  <a:tcPr anchor="ctr" marL="54864" marR="54864" marT="22860" marB="22860">
                    <a:solidFill>
                      <a:srgbClr val="FFFFFF"/>
                    </a:solidFill>
                  </a:tcPr>
                </a:tc>
                <a:tc>
                  <a:txBody>
                    <a:bodyPr/>
                    <a:lstStyle/>
                    <a:p>
                      <a:pPr algn="ctr"/>
                      <a:r>
                        <a:rPr sz="950" b="0" i="0">
                          <a:solidFill>
                            <a:srgbClr val="1E2430"/>
                          </a:solidFill>
                          <a:latin typeface="Calibri"/>
                        </a:rPr>
                        <a:t>—</a:t>
                      </a:r>
                    </a:p>
                  </a:txBody>
                  <a:tcPr anchor="ctr" marL="54864" marR="54864" marT="22860" marB="22860">
                    <a:solidFill>
                      <a:srgbClr val="FFFFFF"/>
                    </a:solidFill>
                  </a:tcPr>
                </a:tc>
              </a:tr>
              <a:tr h="424542">
                <a:tc>
                  <a:txBody>
                    <a:bodyPr/>
                    <a:lstStyle/>
                    <a:p>
                      <a:pPr algn="l"/>
                      <a:r>
                        <a:rPr sz="950" b="0" i="0">
                          <a:solidFill>
                            <a:srgbClr val="1E2430"/>
                          </a:solidFill>
                          <a:latin typeface="Calibri"/>
                        </a:rPr>
                        <a:t>MiniLM (384-d) — Permutation Baseline</a:t>
                      </a:r>
                    </a:p>
                  </a:txBody>
                  <a:tcPr anchor="ctr" marL="54864" marR="54864" marT="22860" marB="22860">
                    <a:solidFill>
                      <a:srgbClr val="F2F6FC"/>
                    </a:solidFill>
                  </a:tcPr>
                </a:tc>
                <a:tc>
                  <a:txBody>
                    <a:bodyPr/>
                    <a:lstStyle/>
                    <a:p>
                      <a:pPr algn="ctr"/>
                      <a:r>
                        <a:rPr sz="950" b="0" i="0">
                          <a:solidFill>
                            <a:srgbClr val="1E2430"/>
                          </a:solidFill>
                          <a:latin typeface="Calibri"/>
                        </a:rPr>
                        <a:t>53</a:t>
                      </a:r>
                    </a:p>
                  </a:txBody>
                  <a:tcPr anchor="ctr" marL="54864" marR="54864" marT="22860" marB="22860">
                    <a:solidFill>
                      <a:srgbClr val="F2F6FC"/>
                    </a:solidFill>
                  </a:tcPr>
                </a:tc>
                <a:tc>
                  <a:txBody>
                    <a:bodyPr/>
                    <a:lstStyle/>
                    <a:p>
                      <a:pPr algn="ctr"/>
                      <a:r>
                        <a:rPr sz="950" b="0" i="0">
                          <a:solidFill>
                            <a:srgbClr val="1E2430"/>
                          </a:solidFill>
                          <a:latin typeface="Calibri"/>
                        </a:rPr>
                        <a:t>−.001 (.002)</a:t>
                      </a:r>
                    </a:p>
                  </a:txBody>
                  <a:tcPr anchor="ctr" marL="54864" marR="54864" marT="22860" marB="22860">
                    <a:solidFill>
                      <a:srgbClr val="F2F6FC"/>
                    </a:solidFill>
                  </a:tcPr>
                </a:tc>
                <a:tc>
                  <a:txBody>
                    <a:bodyPr/>
                    <a:lstStyle/>
                    <a:p>
                      <a:pPr algn="ctr"/>
                      <a:r>
                        <a:rPr sz="950" b="0" i="0">
                          <a:solidFill>
                            <a:srgbClr val="1E2430"/>
                          </a:solidFill>
                          <a:latin typeface="Calibri"/>
                        </a:rPr>
                        <a:t>—</a:t>
                      </a:r>
                    </a:p>
                  </a:txBody>
                  <a:tcPr anchor="ctr" marL="54864" marR="54864" marT="22860" marB="22860">
                    <a:solidFill>
                      <a:srgbClr val="F2F6FC"/>
                    </a:solidFill>
                  </a:tcPr>
                </a:tc>
                <a:tc>
                  <a:txBody>
                    <a:bodyPr/>
                    <a:lstStyle/>
                    <a:p>
                      <a:pPr algn="ctr"/>
                      <a:r>
                        <a:rPr sz="950" b="0" i="0">
                          <a:solidFill>
                            <a:srgbClr val="1E2430"/>
                          </a:solidFill>
                          <a:latin typeface="Calibri"/>
                        </a:rPr>
                        <a:t>Shuffled labels</a:t>
                      </a:r>
                    </a:p>
                  </a:txBody>
                  <a:tcPr anchor="ctr" marL="54864" marR="54864" marT="22860" marB="22860">
                    <a:solidFill>
                      <a:srgbClr val="F2F6FC"/>
                    </a:solidFill>
                  </a:tcPr>
                </a:tc>
                <a:tc>
                  <a:txBody>
                    <a:bodyPr/>
                    <a:lstStyle/>
                    <a:p>
                      <a:pPr algn="ctr"/>
                      <a:r>
                        <a:rPr sz="950" b="0" i="0">
                          <a:solidFill>
                            <a:srgbClr val="1E2430"/>
                          </a:solidFill>
                          <a:latin typeface="Calibri"/>
                        </a:rPr>
                        <a:t>—</a:t>
                      </a:r>
                    </a:p>
                  </a:txBody>
                  <a:tcPr anchor="ctr" marL="54864" marR="54864" marT="22860" marB="22860">
                    <a:solidFill>
                      <a:srgbClr val="F2F6FC"/>
                    </a:solidFill>
                  </a:tcPr>
                </a:tc>
              </a:tr>
              <a:tr h="424542">
                <a:tc>
                  <a:txBody>
                    <a:bodyPr/>
                    <a:lstStyle/>
                    <a:p>
                      <a:pPr algn="l"/>
                      <a:r>
                        <a:rPr sz="950" b="1" i="0">
                          <a:solidFill>
                            <a:srgbClr val="1E2430"/>
                          </a:solidFill>
                          <a:latin typeface="Calibri"/>
                        </a:rPr>
                        <a:t>Gemini-001 (3,072-d turn pool) — KM / Ward / HDB</a:t>
                      </a:r>
                    </a:p>
                  </a:txBody>
                  <a:tcPr anchor="ctr" marL="54864" marR="54864" marT="22860" marB="22860">
                    <a:solidFill>
                      <a:srgbClr val="E1F3E8"/>
                    </a:solidFill>
                  </a:tcPr>
                </a:tc>
                <a:tc>
                  <a:txBody>
                    <a:bodyPr/>
                    <a:lstStyle/>
                    <a:p>
                      <a:pPr algn="ctr"/>
                      <a:r>
                        <a:rPr sz="950" b="1" i="0">
                          <a:solidFill>
                            <a:srgbClr val="1E2430"/>
                          </a:solidFill>
                          <a:latin typeface="Calibri"/>
                        </a:rPr>
                        <a:t>159</a:t>
                      </a:r>
                    </a:p>
                  </a:txBody>
                  <a:tcPr anchor="ctr" marL="54864" marR="54864" marT="22860" marB="22860">
                    <a:solidFill>
                      <a:srgbClr val="E1F3E8"/>
                    </a:solidFill>
                  </a:tcPr>
                </a:tc>
                <a:tc>
                  <a:txBody>
                    <a:bodyPr/>
                    <a:lstStyle/>
                    <a:p>
                      <a:pPr algn="ctr"/>
                      <a:r>
                        <a:rPr sz="950" b="1" i="0">
                          <a:solidFill>
                            <a:srgbClr val="1E2430"/>
                          </a:solidFill>
                          <a:latin typeface="Calibri"/>
                        </a:rPr>
                        <a:t>.075 / .058 / .198</a:t>
                      </a:r>
                    </a:p>
                  </a:txBody>
                  <a:tcPr anchor="ctr" marL="54864" marR="54864" marT="22860" marB="22860">
                    <a:solidFill>
                      <a:srgbClr val="E1F3E8"/>
                    </a:solidFill>
                  </a:tcPr>
                </a:tc>
                <a:tc>
                  <a:txBody>
                    <a:bodyPr/>
                    <a:lstStyle/>
                    <a:p>
                      <a:pPr algn="ctr"/>
                      <a:r>
                        <a:rPr sz="950" b="1" i="0">
                          <a:solidFill>
                            <a:srgbClr val="1E2430"/>
                          </a:solidFill>
                          <a:latin typeface="Calibri"/>
                        </a:rPr>
                        <a:t>—</a:t>
                      </a:r>
                    </a:p>
                  </a:txBody>
                  <a:tcPr anchor="ctr" marL="54864" marR="54864" marT="22860" marB="22860">
                    <a:solidFill>
                      <a:srgbClr val="E1F3E8"/>
                    </a:solidFill>
                  </a:tcPr>
                </a:tc>
                <a:tc>
                  <a:txBody>
                    <a:bodyPr/>
                    <a:lstStyle/>
                    <a:p>
                      <a:pPr algn="ctr"/>
                      <a:r>
                        <a:rPr sz="950" b="1" i="0">
                          <a:solidFill>
                            <a:srgbClr val="1E2430"/>
                          </a:solidFill>
                          <a:latin typeface="Calibri"/>
                        </a:rPr>
                        <a:t>F = 169.39 (&lt; .001)</a:t>
                      </a:r>
                    </a:p>
                  </a:txBody>
                  <a:tcPr anchor="ctr" marL="54864" marR="54864" marT="22860" marB="22860">
                    <a:solidFill>
                      <a:srgbClr val="E1F3E8"/>
                    </a:solidFill>
                  </a:tcPr>
                </a:tc>
                <a:tc>
                  <a:txBody>
                    <a:bodyPr/>
                    <a:lstStyle/>
                    <a:p>
                      <a:pPr algn="ctr"/>
                      <a:r>
                        <a:rPr sz="950" b="1" i="0">
                          <a:solidFill>
                            <a:srgbClr val="1E2430"/>
                          </a:solidFill>
                          <a:latin typeface="Calibri"/>
                        </a:rPr>
                        <a:t>.685</a:t>
                      </a:r>
                    </a:p>
                  </a:txBody>
                  <a:tcPr anchor="ctr" marL="54864" marR="54864" marT="22860" marB="22860">
                    <a:solidFill>
                      <a:srgbClr val="E1F3E8"/>
                    </a:solidFill>
                  </a:tcPr>
                </a:tc>
              </a:tr>
              <a:tr h="424548">
                <a:tc>
                  <a:txBody>
                    <a:bodyPr/>
                    <a:lstStyle/>
                    <a:p>
                      <a:pPr algn="l"/>
                      <a:r>
                        <a:rPr sz="950" b="1" i="0">
                          <a:solidFill>
                            <a:srgbClr val="1E2430"/>
                          </a:solidFill>
                          <a:latin typeface="Calibri"/>
                        </a:rPr>
                        <a:t>Gemini-001 (3,072-d document) — KM / Ward / HDB</a:t>
                      </a:r>
                    </a:p>
                  </a:txBody>
                  <a:tcPr anchor="ctr" marL="54864" marR="54864" marT="22860" marB="22860">
                    <a:solidFill>
                      <a:srgbClr val="E1F3E8"/>
                    </a:solidFill>
                  </a:tcPr>
                </a:tc>
                <a:tc>
                  <a:txBody>
                    <a:bodyPr/>
                    <a:lstStyle/>
                    <a:p>
                      <a:pPr algn="ctr"/>
                      <a:r>
                        <a:rPr sz="950" b="1" i="0">
                          <a:solidFill>
                            <a:srgbClr val="1E2430"/>
                          </a:solidFill>
                          <a:latin typeface="Calibri"/>
                        </a:rPr>
                        <a:t>159</a:t>
                      </a:r>
                    </a:p>
                  </a:txBody>
                  <a:tcPr anchor="ctr" marL="54864" marR="54864" marT="22860" marB="22860">
                    <a:solidFill>
                      <a:srgbClr val="E1F3E8"/>
                    </a:solidFill>
                  </a:tcPr>
                </a:tc>
                <a:tc>
                  <a:txBody>
                    <a:bodyPr/>
                    <a:lstStyle/>
                    <a:p>
                      <a:pPr algn="ctr"/>
                      <a:r>
                        <a:rPr sz="950" b="1" i="0">
                          <a:solidFill>
                            <a:srgbClr val="1E2430"/>
                          </a:solidFill>
                          <a:latin typeface="Calibri"/>
                        </a:rPr>
                        <a:t>.091 / .068 / .268</a:t>
                      </a:r>
                    </a:p>
                  </a:txBody>
                  <a:tcPr anchor="ctr" marL="54864" marR="54864" marT="22860" marB="22860">
                    <a:solidFill>
                      <a:srgbClr val="E1F3E8"/>
                    </a:solidFill>
                  </a:tcPr>
                </a:tc>
                <a:tc>
                  <a:txBody>
                    <a:bodyPr/>
                    <a:lstStyle/>
                    <a:p>
                      <a:pPr algn="ctr"/>
                      <a:r>
                        <a:rPr sz="950" b="1" i="0">
                          <a:solidFill>
                            <a:srgbClr val="1E2430"/>
                          </a:solidFill>
                          <a:latin typeface="Calibri"/>
                        </a:rPr>
                        <a:t>—</a:t>
                      </a:r>
                    </a:p>
                  </a:txBody>
                  <a:tcPr anchor="ctr" marL="54864" marR="54864" marT="22860" marB="22860">
                    <a:solidFill>
                      <a:srgbClr val="E1F3E8"/>
                    </a:solidFill>
                  </a:tcPr>
                </a:tc>
                <a:tc>
                  <a:txBody>
                    <a:bodyPr/>
                    <a:lstStyle/>
                    <a:p>
                      <a:pPr algn="ctr"/>
                      <a:r>
                        <a:rPr sz="950" b="1" i="0">
                          <a:solidFill>
                            <a:srgbClr val="1E2430"/>
                          </a:solidFill>
                          <a:latin typeface="Calibri"/>
                        </a:rPr>
                        <a:t>F = 813.09 (&lt; .001)</a:t>
                      </a:r>
                    </a:p>
                  </a:txBody>
                  <a:tcPr anchor="ctr" marL="54864" marR="54864" marT="22860" marB="22860">
                    <a:solidFill>
                      <a:srgbClr val="E1F3E8"/>
                    </a:solidFill>
                  </a:tcPr>
                </a:tc>
                <a:tc>
                  <a:txBody>
                    <a:bodyPr/>
                    <a:lstStyle/>
                    <a:p>
                      <a:pPr algn="ctr"/>
                      <a:r>
                        <a:rPr sz="950" b="1" i="0">
                          <a:solidFill>
                            <a:srgbClr val="1E2430"/>
                          </a:solidFill>
                          <a:latin typeface="Calibri"/>
                        </a:rPr>
                        <a:t>.912</a:t>
                      </a:r>
                    </a:p>
                  </a:txBody>
                  <a:tcPr anchor="ctr" marL="54864" marR="54864" marT="22860" marB="22860">
                    <a:solidFill>
                      <a:srgbClr val="E1F3E8"/>
                    </a:solidFill>
                  </a:tcPr>
                </a:tc>
              </a:tr>
            </a:tbl>
          </a:graphicData>
        </a:graphic>
      </p:graphicFrame>
      <p:sp>
        <p:nvSpPr>
          <p:cNvPr id="18" name="Rounded Rectangle 17"/>
          <p:cNvSpPr/>
          <p:nvPr/>
        </p:nvSpPr>
        <p:spPr>
          <a:xfrm>
            <a:off x="5440680" y="4462272"/>
            <a:ext cx="6428232" cy="2029968"/>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40680" y="4462272"/>
            <a:ext cx="6428232"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Plain-English Interpretation for Non-AI &amp; Math Reviewers</a:t>
            </a:r>
          </a:p>
        </p:txBody>
      </p:sp>
      <p:sp>
        <p:nvSpPr>
          <p:cNvPr id="20" name="TextBox 19"/>
          <p:cNvSpPr txBox="1"/>
          <p:nvPr/>
        </p:nvSpPr>
        <p:spPr>
          <a:xfrm>
            <a:off x="5532120" y="4846320"/>
            <a:ext cx="6245352" cy="1591056"/>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1. Why All 3 Algorithms Beat Chance:</a:t>
            </a:r>
            <a:r>
              <a:rPr sz="1000" b="0" i="0">
                <a:solidFill>
                  <a:srgbClr val="1E2430"/>
                </a:solidFill>
                <a:latin typeface="Calibri"/>
              </a:rPr>
              <a:t> Random label shuffling gives Silhouette = </a:t>
            </a:r>
            <a:r>
              <a:rPr sz="1000" b="1" i="0">
                <a:solidFill>
                  <a:srgbClr val="1E2430"/>
                </a:solidFill>
                <a:latin typeface="Calibri"/>
              </a:rPr>
              <a:t>−.001</a:t>
            </a:r>
            <a:r>
              <a:rPr sz="1000" b="0" i="0">
                <a:solidFill>
                  <a:srgbClr val="1E2430"/>
                </a:solidFill>
                <a:latin typeface="Calibri"/>
              </a:rPr>
              <a:t>. All three algorithms find genuine structure (</a:t>
            </a:r>
            <a:r>
              <a:rPr sz="1000" b="0" i="1">
                <a:solidFill>
                  <a:srgbClr val="1E2430"/>
                </a:solidFill>
                <a:latin typeface="Calibri"/>
              </a:rPr>
              <a:t>p</a:t>
            </a:r>
            <a:r>
              <a:rPr sz="1000" b="0" i="0">
                <a:solidFill>
                  <a:srgbClr val="1E2430"/>
                </a:solidFill>
                <a:latin typeface="Calibri"/>
              </a:rPr>
              <a:t> &lt; .001, explaining </a:t>
            </a:r>
            <a:r>
              <a:rPr sz="1000" b="1" i="0">
                <a:solidFill>
                  <a:srgbClr val="1E2430"/>
                </a:solidFill>
                <a:latin typeface="Calibri"/>
              </a:rPr>
              <a:t>53.9% to 91.2%</a:t>
            </a:r>
            <a:r>
              <a:rPr sz="1000" b="0" i="0">
                <a:solidFill>
                  <a:srgbClr val="1E2430"/>
                </a:solidFill>
                <a:latin typeface="Calibri"/>
              </a:rPr>
              <a:t> of variance).</a:t>
            </a:r>
          </a:p>
          <a:p>
            <a:pPr>
              <a:spcAft>
                <a:spcPts val="400"/>
              </a:spcAft>
            </a:pPr>
            <a:r>
              <a:rPr sz="1000" b="0" i="0">
                <a:solidFill>
                  <a:srgbClr val="1E2430"/>
                </a:solidFill>
                <a:latin typeface="Calibri"/>
              </a:rPr>
              <a:t>• </a:t>
            </a:r>
            <a:r>
              <a:rPr sz="1000" b="1" i="0">
                <a:solidFill>
                  <a:srgbClr val="1E2430"/>
                </a:solidFill>
                <a:latin typeface="Calibri"/>
              </a:rPr>
              <a:t>2. Why HDBSCAN Cannot Be Used for Live Routing:</a:t>
            </a:r>
            <a:r>
              <a:rPr sz="1000" b="0" i="0">
                <a:solidFill>
                  <a:srgbClr val="1E2430"/>
                </a:solidFill>
                <a:latin typeface="Calibri"/>
              </a:rPr>
              <a:t> HDBSCAN achieves `.170` Silhouette only by </a:t>
            </a:r>
            <a:r>
              <a:rPr sz="1000" b="1" i="0">
                <a:solidFill>
                  <a:srgbClr val="1E2430"/>
                </a:solidFill>
                <a:latin typeface="Calibri"/>
              </a:rPr>
              <a:t>throwing away 71.7% of dialogues as 'noise'</a:t>
            </a:r>
            <a:r>
              <a:rPr sz="1000" b="0" i="0">
                <a:solidFill>
                  <a:srgbClr val="1E2430"/>
                </a:solidFill>
                <a:latin typeface="Calibri"/>
              </a:rPr>
              <a:t> (and failing completely in 53/53 runs at default `min_cluster_size=15`). A production chatbot cannot refuse to route 72% of customers!</a:t>
            </a:r>
          </a:p>
          <a:p>
            <a:pPr>
              <a:spcAft>
                <a:spcPts val="400"/>
              </a:spcAft>
            </a:pPr>
            <a:r>
              <a:rPr sz="1000" b="0" i="0">
                <a:solidFill>
                  <a:srgbClr val="1E2430"/>
                </a:solidFill>
                <a:latin typeface="Calibri"/>
              </a:rPr>
              <a:t>• </a:t>
            </a:r>
            <a:r>
              <a:rPr sz="1000" b="1" i="0">
                <a:solidFill>
                  <a:srgbClr val="1E2430"/>
                </a:solidFill>
                <a:latin typeface="Calibri"/>
              </a:rPr>
              <a:t>3. Operational Winner:</a:t>
            </a:r>
            <a:r>
              <a:rPr sz="1000" b="0" i="0">
                <a:solidFill>
                  <a:srgbClr val="1E2430"/>
                </a:solidFill>
                <a:latin typeface="Calibri"/>
              </a:rPr>
              <a:t> </a:t>
            </a:r>
            <a:r>
              <a:rPr sz="1000" b="1" i="0">
                <a:solidFill>
                  <a:srgbClr val="1E2430"/>
                </a:solidFill>
                <a:latin typeface="Calibri"/>
              </a:rPr>
              <a:t>K-Means (</a:t>
            </a:r>
            <a:r>
              <a:rPr sz="1000" b="1" i="1">
                <a:solidFill>
                  <a:srgbClr val="1E2430"/>
                </a:solidFill>
                <a:latin typeface="Calibri"/>
              </a:rPr>
              <a:t>k</a:t>
            </a:r>
            <a:r>
              <a:rPr sz="1000" b="1" i="0">
                <a:solidFill>
                  <a:srgbClr val="1E2430"/>
                </a:solidFill>
                <a:latin typeface="Calibri"/>
              </a:rPr>
              <a:t> = 3)</a:t>
            </a:r>
            <a:r>
              <a:rPr sz="1000" b="0" i="0">
                <a:solidFill>
                  <a:srgbClr val="1E2430"/>
                </a:solidFill>
                <a:latin typeface="Calibri"/>
              </a:rPr>
              <a:t> partitions 100% of dialogues, significantly outperforms Ward agglomerative clustering (Tukey HSD &amp; Games–Howell </a:t>
            </a:r>
            <a:r>
              <a:rPr sz="1000" b="0" i="1">
                <a:solidFill>
                  <a:srgbClr val="1E2430"/>
                </a:solidFill>
                <a:latin typeface="Calibri"/>
              </a:rPr>
              <a:t>p</a:t>
            </a:r>
            <a:r>
              <a:rPr sz="1000" b="0" i="0">
                <a:solidFill>
                  <a:srgbClr val="1E2430"/>
                </a:solidFill>
                <a:latin typeface="Calibri"/>
              </a:rPr>
              <a:t> &lt; .001), and replicates across both 384-d and 3,072-d embeddings.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(RQ1)</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23</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RQ1 (Part 2): Cross-Corpus Transfer &amp; Diagnosis of Whole-Dialogue Archetypes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Figure D3 &amp; Tables D3–D4: Why clustering full transcripts caused wizard confounding (V = .45) and weak early routing (κ = .24)</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2507534"/>
            <a:ext cx="5742432" cy="2547019"/>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1_umap.png"/>
          <p:cNvPicPr>
            <a:picLocks noChangeAspect="1"/>
          </p:cNvPicPr>
          <p:nvPr/>
        </p:nvPicPr>
        <p:blipFill>
          <a:blip r:embed="rId3"/>
          <a:stretch>
            <a:fillRect/>
          </a:stretch>
        </p:blipFill>
        <p:spPr>
          <a:xfrm>
            <a:off x="320040" y="2544110"/>
            <a:ext cx="5669280" cy="2473867"/>
          </a:xfrm>
          <a:prstGeom prst="rect">
            <a:avLst/>
          </a:prstGeom>
        </p:spPr>
      </p:pic>
      <p:sp>
        <p:nvSpPr>
          <p:cNvPr id="13" name="TextBox 12"/>
          <p:cNvSpPr txBox="1"/>
          <p:nvPr/>
        </p:nvSpPr>
        <p:spPr>
          <a:xfrm>
            <a:off x="320040" y="6190488"/>
            <a:ext cx="5669280" cy="256032"/>
          </a:xfrm>
          <a:prstGeom prst="rect">
            <a:avLst/>
          </a:prstGeom>
          <a:noFill/>
        </p:spPr>
        <p:txBody>
          <a:bodyPr wrap="square">
            <a:spAutoFit/>
          </a:bodyPr>
          <a:lstStyle/>
          <a:p>
            <a:pPr algn="ctr"/>
            <a:r>
              <a:rPr sz="950" b="0" i="1">
                <a:solidFill>
                  <a:srgbClr val="5A6577"/>
                </a:solidFill>
                <a:latin typeface="Calibri"/>
              </a:rPr>
              <a:t>Figure D3: UMAP Projection of Frames Golden/Test Archetypes (Panel A) vs. MultiWOZ 2.2 Projection (Panel B)</a:t>
            </a:r>
          </a:p>
        </p:txBody>
      </p:sp>
      <p:graphicFrame>
        <p:nvGraphicFramePr>
          <p:cNvPr id="14" name="Table 13"/>
          <p:cNvGraphicFramePr>
            <a:graphicFrameLocks noGrp="1"/>
          </p:cNvGraphicFramePr>
          <p:nvPr/>
        </p:nvGraphicFramePr>
        <p:xfrm>
          <a:off x="6126480" y="1371600"/>
          <a:ext cx="5742430" cy="2103120"/>
        </p:xfrm>
        <a:graphic>
          <a:graphicData uri="http://schemas.openxmlformats.org/drawingml/2006/table">
            <a:tbl>
              <a:tblPr firstRow="1" bandRow="1">
                <a:tableStyleId>{5C22544A-7EE6-4342-B048-85BDC9FD1C3A}</a:tableStyleId>
              </a:tblPr>
              <a:tblGrid>
                <a:gridCol w="1549545"/>
                <a:gridCol w="546898"/>
                <a:gridCol w="1184946"/>
                <a:gridCol w="820347"/>
                <a:gridCol w="820347"/>
                <a:gridCol w="820347"/>
              </a:tblGrid>
              <a:tr h="525780">
                <a:tc>
                  <a:txBody>
                    <a:bodyPr/>
                    <a:lstStyle/>
                    <a:p>
                      <a:pPr algn="l"/>
                      <a:r>
                        <a:rPr sz="1100" b="1" i="0">
                          <a:solidFill>
                            <a:srgbClr val="FFFFFF"/>
                          </a:solidFill>
                          <a:latin typeface="Calibri"/>
                        </a:rPr>
                        <a:t>Partition / Corpus</a:t>
                      </a:r>
                    </a:p>
                  </a:txBody>
                  <a:tcPr anchor="ctr" marL="54864" marR="54864" marT="27432" marB="27432">
                    <a:solidFill>
                      <a:srgbClr val="14325C"/>
                    </a:solidFill>
                  </a:tcPr>
                </a:tc>
                <a:tc>
                  <a:txBody>
                    <a:bodyPr/>
                    <a:lstStyle/>
                    <a:p>
                      <a:pPr algn="ctr"/>
                      <a:r>
                        <a:rPr sz="1100" b="1" i="0">
                          <a:solidFill>
                            <a:srgbClr val="FFFFFF"/>
                          </a:solidFill>
                          <a:latin typeface="Calibri"/>
                        </a:rPr>
                        <a:t>N</a:t>
                      </a:r>
                    </a:p>
                  </a:txBody>
                  <a:tcPr anchor="ctr" marL="54864" marR="54864" marT="27432" marB="27432">
                    <a:solidFill>
                      <a:srgbClr val="14325C"/>
                    </a:solidFill>
                  </a:tcPr>
                </a:tc>
                <a:tc>
                  <a:txBody>
                    <a:bodyPr/>
                    <a:lstStyle/>
                    <a:p>
                      <a:pPr algn="ctr"/>
                      <a:r>
                        <a:rPr sz="1100" b="1" i="0">
                          <a:solidFill>
                            <a:srgbClr val="FFFFFF"/>
                          </a:solidFill>
                          <a:latin typeface="Calibri"/>
                        </a:rPr>
                        <a:t>Centroid Cosine M (SD)</a:t>
                      </a:r>
                    </a:p>
                  </a:txBody>
                  <a:tcPr anchor="ctr" marL="54864" marR="54864" marT="27432" marB="27432">
                    <a:solidFill>
                      <a:srgbClr val="14325C"/>
                    </a:solidFill>
                  </a:tcPr>
                </a:tc>
                <a:tc>
                  <a:txBody>
                    <a:bodyPr/>
                    <a:lstStyle/>
                    <a:p>
                      <a:pPr algn="ctr"/>
                      <a:r>
                        <a:rPr sz="1100" b="1" i="0">
                          <a:solidFill>
                            <a:srgbClr val="FFFFFF"/>
                          </a:solidFill>
                          <a:latin typeface="Calibri"/>
                        </a:rPr>
                        <a:t>Direct Trans. (%)</a:t>
                      </a:r>
                    </a:p>
                  </a:txBody>
                  <a:tcPr anchor="ctr" marL="54864" marR="54864" marT="27432" marB="27432">
                    <a:solidFill>
                      <a:srgbClr val="14325C"/>
                    </a:solidFill>
                  </a:tcPr>
                </a:tc>
                <a:tc>
                  <a:txBody>
                    <a:bodyPr/>
                    <a:lstStyle/>
                    <a:p>
                      <a:pPr algn="ctr"/>
                      <a:r>
                        <a:rPr sz="1100" b="1" i="0">
                          <a:solidFill>
                            <a:srgbClr val="FFFFFF"/>
                          </a:solidFill>
                          <a:latin typeface="Calibri"/>
                        </a:rPr>
                        <a:t>Constraint Neg. (%)</a:t>
                      </a:r>
                    </a:p>
                  </a:txBody>
                  <a:tcPr anchor="ctr" marL="54864" marR="54864" marT="27432" marB="27432">
                    <a:solidFill>
                      <a:srgbClr val="14325C"/>
                    </a:solidFill>
                  </a:tcPr>
                </a:tc>
                <a:tc>
                  <a:txBody>
                    <a:bodyPr/>
                    <a:lstStyle/>
                    <a:p>
                      <a:pPr algn="ctr"/>
                      <a:r>
                        <a:rPr sz="1100" b="1" i="0">
                          <a:solidFill>
                            <a:srgbClr val="FFFFFF"/>
                          </a:solidFill>
                          <a:latin typeface="Calibri"/>
                        </a:rPr>
                        <a:t>Guided Exp. (%)</a:t>
                      </a:r>
                    </a:p>
                  </a:txBody>
                  <a:tcPr anchor="ctr" marL="54864" marR="54864" marT="27432" marB="27432">
                    <a:solidFill>
                      <a:srgbClr val="14325C"/>
                    </a:solidFill>
                  </a:tcPr>
                </a:tc>
              </a:tr>
              <a:tr h="525780">
                <a:tc>
                  <a:txBody>
                    <a:bodyPr/>
                    <a:lstStyle/>
                    <a:p>
                      <a:pPr algn="l"/>
                      <a:r>
                        <a:rPr sz="950" b="1" i="0">
                          <a:solidFill>
                            <a:srgbClr val="1E2430"/>
                          </a:solidFill>
                          <a:latin typeface="Calibri"/>
                        </a:rPr>
                        <a:t>Frames Golden (D_gold)</a:t>
                      </a:r>
                    </a:p>
                  </a:txBody>
                  <a:tcPr anchor="ctr" marL="54864" marR="54864" marT="22860" marB="22860">
                    <a:solidFill>
                      <a:srgbClr val="E1F3E8"/>
                    </a:solidFill>
                  </a:tcPr>
                </a:tc>
                <a:tc>
                  <a:txBody>
                    <a:bodyPr/>
                    <a:lstStyle/>
                    <a:p>
                      <a:pPr algn="ctr"/>
                      <a:r>
                        <a:rPr sz="950" b="1" i="0">
                          <a:solidFill>
                            <a:srgbClr val="1E2430"/>
                          </a:solidFill>
                          <a:latin typeface="Calibri"/>
                        </a:rPr>
                        <a:t>933</a:t>
                      </a:r>
                    </a:p>
                  </a:txBody>
                  <a:tcPr anchor="ctr" marL="54864" marR="54864" marT="22860" marB="22860">
                    <a:solidFill>
                      <a:srgbClr val="E1F3E8"/>
                    </a:solidFill>
                  </a:tcPr>
                </a:tc>
                <a:tc>
                  <a:txBody>
                    <a:bodyPr/>
                    <a:lstStyle/>
                    <a:p>
                      <a:pPr algn="ctr"/>
                      <a:r>
                        <a:rPr sz="950" b="1" i="0">
                          <a:solidFill>
                            <a:srgbClr val="1E2430"/>
                          </a:solidFill>
                          <a:latin typeface="Calibri"/>
                        </a:rPr>
                        <a:t>.466 (.116)</a:t>
                      </a:r>
                    </a:p>
                  </a:txBody>
                  <a:tcPr anchor="ctr" marL="54864" marR="54864" marT="22860" marB="22860">
                    <a:solidFill>
                      <a:srgbClr val="E1F3E8"/>
                    </a:solidFill>
                  </a:tcPr>
                </a:tc>
                <a:tc>
                  <a:txBody>
                    <a:bodyPr/>
                    <a:lstStyle/>
                    <a:p>
                      <a:pPr algn="ctr"/>
                      <a:r>
                        <a:rPr sz="950" b="1" i="0">
                          <a:solidFill>
                            <a:srgbClr val="1E2430"/>
                          </a:solidFill>
                          <a:latin typeface="Calibri"/>
                        </a:rPr>
                        <a:t>42.3%</a:t>
                      </a:r>
                    </a:p>
                  </a:txBody>
                  <a:tcPr anchor="ctr" marL="54864" marR="54864" marT="22860" marB="22860">
                    <a:solidFill>
                      <a:srgbClr val="E1F3E8"/>
                    </a:solidFill>
                  </a:tcPr>
                </a:tc>
                <a:tc>
                  <a:txBody>
                    <a:bodyPr/>
                    <a:lstStyle/>
                    <a:p>
                      <a:pPr algn="ctr"/>
                      <a:r>
                        <a:rPr sz="950" b="1" i="0">
                          <a:solidFill>
                            <a:srgbClr val="1E2430"/>
                          </a:solidFill>
                          <a:latin typeface="Calibri"/>
                        </a:rPr>
                        <a:t>37.6%</a:t>
                      </a:r>
                    </a:p>
                  </a:txBody>
                  <a:tcPr anchor="ctr" marL="54864" marR="54864" marT="22860" marB="22860">
                    <a:solidFill>
                      <a:srgbClr val="E1F3E8"/>
                    </a:solidFill>
                  </a:tcPr>
                </a:tc>
                <a:tc>
                  <a:txBody>
                    <a:bodyPr/>
                    <a:lstStyle/>
                    <a:p>
                      <a:pPr algn="ctr"/>
                      <a:r>
                        <a:rPr sz="950" b="1" i="0">
                          <a:solidFill>
                            <a:srgbClr val="1E2430"/>
                          </a:solidFill>
                          <a:latin typeface="Calibri"/>
                        </a:rPr>
                        <a:t>20.0%</a:t>
                      </a:r>
                    </a:p>
                  </a:txBody>
                  <a:tcPr anchor="ctr" marL="54864" marR="54864" marT="22860" marB="22860">
                    <a:solidFill>
                      <a:srgbClr val="E1F3E8"/>
                    </a:solidFill>
                  </a:tcPr>
                </a:tc>
              </a:tr>
              <a:tr h="525780">
                <a:tc>
                  <a:txBody>
                    <a:bodyPr/>
                    <a:lstStyle/>
                    <a:p>
                      <a:pPr algn="l"/>
                      <a:r>
                        <a:rPr sz="950" b="1" i="0">
                          <a:solidFill>
                            <a:srgbClr val="1E2430"/>
                          </a:solidFill>
                          <a:latin typeface="Calibri"/>
                        </a:rPr>
                        <a:t>Frames Held-Out (D_test)</a:t>
                      </a:r>
                    </a:p>
                  </a:txBody>
                  <a:tcPr anchor="ctr" marL="54864" marR="54864" marT="22860" marB="22860">
                    <a:solidFill>
                      <a:srgbClr val="E1F3E8"/>
                    </a:solidFill>
                  </a:tcPr>
                </a:tc>
                <a:tc>
                  <a:txBody>
                    <a:bodyPr/>
                    <a:lstStyle/>
                    <a:p>
                      <a:pPr algn="ctr"/>
                      <a:r>
                        <a:rPr sz="950" b="1" i="0">
                          <a:solidFill>
                            <a:srgbClr val="1E2430"/>
                          </a:solidFill>
                          <a:latin typeface="Calibri"/>
                        </a:rPr>
                        <a:t>401</a:t>
                      </a:r>
                    </a:p>
                  </a:txBody>
                  <a:tcPr anchor="ctr" marL="54864" marR="54864" marT="22860" marB="22860">
                    <a:solidFill>
                      <a:srgbClr val="E1F3E8"/>
                    </a:solidFill>
                  </a:tcPr>
                </a:tc>
                <a:tc>
                  <a:txBody>
                    <a:bodyPr/>
                    <a:lstStyle/>
                    <a:p>
                      <a:pPr algn="ctr"/>
                      <a:r>
                        <a:rPr sz="950" b="1" i="0">
                          <a:solidFill>
                            <a:srgbClr val="1E2430"/>
                          </a:solidFill>
                          <a:latin typeface="Calibri"/>
                        </a:rPr>
                        <a:t>.467 (.116)</a:t>
                      </a:r>
                    </a:p>
                  </a:txBody>
                  <a:tcPr anchor="ctr" marL="54864" marR="54864" marT="22860" marB="22860">
                    <a:solidFill>
                      <a:srgbClr val="E1F3E8"/>
                    </a:solidFill>
                  </a:tcPr>
                </a:tc>
                <a:tc>
                  <a:txBody>
                    <a:bodyPr/>
                    <a:lstStyle/>
                    <a:p>
                      <a:pPr algn="ctr"/>
                      <a:r>
                        <a:rPr sz="950" b="1" i="0">
                          <a:solidFill>
                            <a:srgbClr val="1E2430"/>
                          </a:solidFill>
                          <a:latin typeface="Calibri"/>
                        </a:rPr>
                        <a:t>42.6%</a:t>
                      </a:r>
                    </a:p>
                  </a:txBody>
                  <a:tcPr anchor="ctr" marL="54864" marR="54864" marT="22860" marB="22860">
                    <a:solidFill>
                      <a:srgbClr val="E1F3E8"/>
                    </a:solidFill>
                  </a:tcPr>
                </a:tc>
                <a:tc>
                  <a:txBody>
                    <a:bodyPr/>
                    <a:lstStyle/>
                    <a:p>
                      <a:pPr algn="ctr"/>
                      <a:r>
                        <a:rPr sz="950" b="1" i="0">
                          <a:solidFill>
                            <a:srgbClr val="1E2430"/>
                          </a:solidFill>
                          <a:latin typeface="Calibri"/>
                        </a:rPr>
                        <a:t>37.7%</a:t>
                      </a:r>
                    </a:p>
                  </a:txBody>
                  <a:tcPr anchor="ctr" marL="54864" marR="54864" marT="22860" marB="22860">
                    <a:solidFill>
                      <a:srgbClr val="E1F3E8"/>
                    </a:solidFill>
                  </a:tcPr>
                </a:tc>
                <a:tc>
                  <a:txBody>
                    <a:bodyPr/>
                    <a:lstStyle/>
                    <a:p>
                      <a:pPr algn="ctr"/>
                      <a:r>
                        <a:rPr sz="950" b="1" i="0">
                          <a:solidFill>
                            <a:srgbClr val="1E2430"/>
                          </a:solidFill>
                          <a:latin typeface="Calibri"/>
                        </a:rPr>
                        <a:t>19.7%</a:t>
                      </a:r>
                    </a:p>
                  </a:txBody>
                  <a:tcPr anchor="ctr" marL="54864" marR="54864" marT="22860" marB="22860">
                    <a:solidFill>
                      <a:srgbClr val="E1F3E8"/>
                    </a:solidFill>
                  </a:tcPr>
                </a:tc>
              </a:tr>
              <a:tr h="525780">
                <a:tc>
                  <a:txBody>
                    <a:bodyPr/>
                    <a:lstStyle/>
                    <a:p>
                      <a:pPr algn="l"/>
                      <a:r>
                        <a:rPr sz="950" b="0" i="0">
                          <a:solidFill>
                            <a:srgbClr val="1E2430"/>
                          </a:solidFill>
                          <a:latin typeface="Calibri"/>
                        </a:rPr>
                        <a:t>MultiWOZ 2.2 Sample</a:t>
                      </a:r>
                    </a:p>
                  </a:txBody>
                  <a:tcPr anchor="ctr" marL="54864" marR="54864" marT="22860" marB="22860">
                    <a:solidFill>
                      <a:srgbClr val="FFFFFF"/>
                    </a:solidFill>
                  </a:tcPr>
                </a:tc>
                <a:tc>
                  <a:txBody>
                    <a:bodyPr/>
                    <a:lstStyle/>
                    <a:p>
                      <a:pPr algn="ctr"/>
                      <a:r>
                        <a:rPr sz="950" b="0" i="0">
                          <a:solidFill>
                            <a:srgbClr val="1E2430"/>
                          </a:solidFill>
                          <a:latin typeface="Calibri"/>
                        </a:rPr>
                        <a:t>1,499</a:t>
                      </a:r>
                    </a:p>
                  </a:txBody>
                  <a:tcPr anchor="ctr" marL="54864" marR="54864" marT="22860" marB="22860">
                    <a:solidFill>
                      <a:srgbClr val="FFFFFF"/>
                    </a:solidFill>
                  </a:tcPr>
                </a:tc>
                <a:tc>
                  <a:txBody>
                    <a:bodyPr/>
                    <a:lstStyle/>
                    <a:p>
                      <a:pPr algn="ctr"/>
                      <a:r>
                        <a:rPr sz="950" b="0" i="0">
                          <a:solidFill>
                            <a:srgbClr val="1E2430"/>
                          </a:solidFill>
                          <a:latin typeface="Calibri"/>
                        </a:rPr>
                        <a:t>.269 (.115)</a:t>
                      </a:r>
                    </a:p>
                  </a:txBody>
                  <a:tcPr anchor="ctr" marL="54864" marR="54864" marT="22860" marB="22860">
                    <a:solidFill>
                      <a:srgbClr val="FFFFFF"/>
                    </a:solidFill>
                  </a:tcPr>
                </a:tc>
                <a:tc>
                  <a:txBody>
                    <a:bodyPr/>
                    <a:lstStyle/>
                    <a:p>
                      <a:pPr algn="ctr"/>
                      <a:r>
                        <a:rPr sz="950" b="0" i="0">
                          <a:solidFill>
                            <a:srgbClr val="1E2430"/>
                          </a:solidFill>
                          <a:latin typeface="Calibri"/>
                        </a:rPr>
                        <a:t>71.4%</a:t>
                      </a:r>
                    </a:p>
                  </a:txBody>
                  <a:tcPr anchor="ctr" marL="54864" marR="54864" marT="22860" marB="22860">
                    <a:solidFill>
                      <a:srgbClr val="FFFFFF"/>
                    </a:solidFill>
                  </a:tcPr>
                </a:tc>
                <a:tc>
                  <a:txBody>
                    <a:bodyPr/>
                    <a:lstStyle/>
                    <a:p>
                      <a:pPr algn="ctr"/>
                      <a:r>
                        <a:rPr sz="950" b="0" i="0">
                          <a:solidFill>
                            <a:srgbClr val="1E2430"/>
                          </a:solidFill>
                          <a:latin typeface="Calibri"/>
                        </a:rPr>
                        <a:t>28.6%</a:t>
                      </a:r>
                    </a:p>
                  </a:txBody>
                  <a:tcPr anchor="ctr" marL="54864" marR="54864" marT="22860" marB="22860">
                    <a:solidFill>
                      <a:srgbClr val="FFFFFF"/>
                    </a:solidFill>
                  </a:tcPr>
                </a:tc>
                <a:tc>
                  <a:txBody>
                    <a:bodyPr/>
                    <a:lstStyle/>
                    <a:p>
                      <a:pPr algn="ctr"/>
                      <a:r>
                        <a:rPr sz="950" b="0" i="0">
                          <a:solidFill>
                            <a:srgbClr val="1E2430"/>
                          </a:solidFill>
                          <a:latin typeface="Calibri"/>
                        </a:rPr>
                        <a:t>0.1%</a:t>
                      </a:r>
                    </a:p>
                  </a:txBody>
                  <a:tcPr anchor="ctr" marL="54864" marR="54864" marT="22860" marB="22860">
                    <a:solidFill>
                      <a:srgbClr val="FFFFFF"/>
                    </a:solidFill>
                  </a:tcPr>
                </a:tc>
              </a:tr>
            </a:tbl>
          </a:graphicData>
        </a:graphic>
      </p:graphicFrame>
      <p:sp>
        <p:nvSpPr>
          <p:cNvPr id="15" name="Rounded Rectangle 14"/>
          <p:cNvSpPr/>
          <p:nvPr/>
        </p:nvSpPr>
        <p:spPr>
          <a:xfrm>
            <a:off x="6126480" y="3584448"/>
            <a:ext cx="5742432" cy="2862072"/>
          </a:xfrm>
          <a:prstGeom prst="roundRect">
            <a:avLst>
              <a:gd name="adj" fmla="val 2000"/>
            </a:avLst>
          </a:prstGeom>
          <a:solidFill>
            <a:srgbClr val="FDEEEC"/>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0" y="3584448"/>
            <a:ext cx="5742432"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Three Diagnostic Flaws Discovered in Whole-Dialogue Clustering</a:t>
            </a:r>
          </a:p>
        </p:txBody>
      </p:sp>
      <p:sp>
        <p:nvSpPr>
          <p:cNvPr id="17" name="TextBox 16"/>
          <p:cNvSpPr txBox="1"/>
          <p:nvPr/>
        </p:nvSpPr>
        <p:spPr>
          <a:xfrm>
            <a:off x="6217920" y="3968496"/>
            <a:ext cx="5559552" cy="2423160"/>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Check 1 — Internal vs. External Generalization (Table D4):</a:t>
            </a:r>
          </a:p>
          <a:p>
            <a:pPr>
              <a:spcAft>
                <a:spcPts val="400"/>
              </a:spcAft>
            </a:pPr>
            <a:r>
              <a:rPr sz="1000" b="0" i="0">
                <a:solidFill>
                  <a:srgbClr val="1E2430"/>
                </a:solidFill>
                <a:latin typeface="Calibri"/>
              </a:rPr>
              <a:t>    ▪ Within Frames, Golden (.466) and Held-Out (.467) centroid similarity matched perfectly (</a:t>
            </a:r>
            <a:r>
              <a:rPr sz="1000" b="0" i="1">
                <a:solidFill>
                  <a:srgbClr val="1E2430"/>
                </a:solidFill>
                <a:latin typeface="Calibri"/>
              </a:rPr>
              <a:t>t</a:t>
            </a:r>
            <a:r>
              <a:rPr sz="1000" b="0" i="0">
                <a:solidFill>
                  <a:srgbClr val="1E2430"/>
                </a:solidFill>
                <a:latin typeface="Calibri"/>
              </a:rPr>
              <a:t> = −0.10, </a:t>
            </a:r>
            <a:r>
              <a:rPr sz="1000" b="0" i="1">
                <a:solidFill>
                  <a:srgbClr val="1E2430"/>
                </a:solidFill>
                <a:latin typeface="Calibri"/>
              </a:rPr>
              <a:t>p</a:t>
            </a:r>
            <a:r>
              <a:rPr sz="1000" b="0" i="0">
                <a:solidFill>
                  <a:srgbClr val="1E2430"/>
                </a:solidFill>
                <a:latin typeface="Calibri"/>
              </a:rPr>
              <a:t> = .923). Across corpora, MultiWOZ dropped to .269 (</a:t>
            </a:r>
            <a:r>
              <a:rPr sz="1000" b="0" i="1">
                <a:solidFill>
                  <a:srgbClr val="1E2430"/>
                </a:solidFill>
                <a:latin typeface="Calibri"/>
              </a:rPr>
              <a:t>t</a:t>
            </a:r>
            <a:r>
              <a:rPr sz="1000" b="0" i="0">
                <a:solidFill>
                  <a:srgbClr val="1E2430"/>
                </a:solidFill>
                <a:latin typeface="Calibri"/>
              </a:rPr>
              <a:t> = 28.08, </a:t>
            </a:r>
            <a:r>
              <a:rPr sz="1000" b="0" i="1">
                <a:solidFill>
                  <a:srgbClr val="1E2430"/>
                </a:solidFill>
                <a:latin typeface="Calibri"/>
              </a:rPr>
              <a:t>p</a:t>
            </a:r>
            <a:r>
              <a:rPr sz="1000" b="0" i="0">
                <a:solidFill>
                  <a:srgbClr val="1E2430"/>
                </a:solidFill>
                <a:latin typeface="Calibri"/>
              </a:rPr>
              <a:t> &lt; .001) with 0.1% Guided Explorers—proving consultative travel archetypes are domain-specific.</a:t>
            </a:r>
          </a:p>
          <a:p>
            <a:pPr>
              <a:spcAft>
                <a:spcPts val="400"/>
              </a:spcAft>
            </a:pPr>
            <a:r>
              <a:rPr sz="1000" b="0" i="0">
                <a:solidFill>
                  <a:srgbClr val="1E2430"/>
                </a:solidFill>
                <a:latin typeface="Calibri"/>
              </a:rPr>
              <a:t>• </a:t>
            </a:r>
            <a:r>
              <a:rPr sz="1000" b="1" i="0">
                <a:solidFill>
                  <a:srgbClr val="1E2430"/>
                </a:solidFill>
                <a:latin typeface="Calibri"/>
              </a:rPr>
              <a:t>Check 2 — Role-Player Confounding (Cramér's V = .45):</a:t>
            </a:r>
          </a:p>
          <a:p>
            <a:pPr>
              <a:spcAft>
                <a:spcPts val="400"/>
              </a:spcAft>
            </a:pPr>
            <a:r>
              <a:rPr sz="1000" b="0" i="0">
                <a:solidFill>
                  <a:srgbClr val="1E2430"/>
                </a:solidFill>
                <a:latin typeface="Calibri"/>
              </a:rPr>
              <a:t>    ▪ Pooling both user and wizard turns caused clusters to reflect </a:t>
            </a:r>
            <a:r>
              <a:rPr sz="1000" b="0" i="1">
                <a:solidFill>
                  <a:srgbClr val="1E2430"/>
                </a:solidFill>
                <a:latin typeface="Calibri"/>
              </a:rPr>
              <a:t>which human wizard</a:t>
            </a:r>
            <a:r>
              <a:rPr sz="1000" b="0" i="0">
                <a:solidFill>
                  <a:srgbClr val="1E2430"/>
                </a:solidFill>
                <a:latin typeface="Calibri"/>
              </a:rPr>
              <a:t> handled the chat rather than the customer's own persona!</a:t>
            </a:r>
          </a:p>
          <a:p>
            <a:pPr>
              <a:spcAft>
                <a:spcPts val="400"/>
              </a:spcAft>
            </a:pPr>
            <a:r>
              <a:rPr sz="1000" b="0" i="0">
                <a:solidFill>
                  <a:srgbClr val="1E2430"/>
                </a:solidFill>
                <a:latin typeface="Calibri"/>
              </a:rPr>
              <a:t>• </a:t>
            </a:r>
            <a:r>
              <a:rPr sz="1000" b="1" i="0">
                <a:solidFill>
                  <a:srgbClr val="1E2430"/>
                </a:solidFill>
                <a:latin typeface="Calibri"/>
              </a:rPr>
              <a:t>Check 3 — Poor Early-Turn Routing (κ = .24) &amp; Outcome Leakage:</a:t>
            </a:r>
          </a:p>
          <a:p>
            <a:pPr>
              <a:spcAft>
                <a:spcPts val="400"/>
              </a:spcAft>
            </a:pPr>
            <a:r>
              <a:rPr sz="1000" b="0" i="0">
                <a:solidFill>
                  <a:srgbClr val="1E2430"/>
                </a:solidFill>
                <a:latin typeface="Calibri"/>
              </a:rPr>
              <a:t>    ▪ Predicting a whole-dialogue cluster from the first 5 turns achieved only κ = .24 (39.4% accuracy). Why? Because whole-dialogue clusters were separated by how the chat </a:t>
            </a:r>
            <a:r>
              <a:rPr sz="1000" b="0" i="1">
                <a:solidFill>
                  <a:srgbClr val="1E2430"/>
                </a:solidFill>
                <a:latin typeface="Calibri"/>
              </a:rPr>
              <a:t>ended</a:t>
            </a:r>
            <a:r>
              <a:rPr sz="1000" b="0" i="0">
                <a:solidFill>
                  <a:srgbClr val="1E2430"/>
                </a:solidFill>
                <a:latin typeface="Calibri"/>
              </a:rPr>
              <a:t> (Turn 15 booking vs. abandonment), which hasn't happened yet at Turn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(RQ1)</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24</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RQ1 (Part 3): The Representation × Truncation Breakthrough (Figure D4 &amp; Tables C2, D5–D6)</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Combining PCA-20 Gemini user prefix embeddings + 16-field LLM behavioral ratings on the first M = 9 user messages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1632203"/>
            <a:ext cx="5833872" cy="4297680"/>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1_truncation_2x2.png"/>
          <p:cNvPicPr>
            <a:picLocks noChangeAspect="1"/>
          </p:cNvPicPr>
          <p:nvPr/>
        </p:nvPicPr>
        <p:blipFill>
          <a:blip r:embed="rId3"/>
          <a:stretch>
            <a:fillRect/>
          </a:stretch>
        </p:blipFill>
        <p:spPr>
          <a:xfrm>
            <a:off x="320040" y="1668779"/>
            <a:ext cx="5760720" cy="4224528"/>
          </a:xfrm>
          <a:prstGeom prst="rect">
            <a:avLst/>
          </a:prstGeom>
        </p:spPr>
      </p:pic>
      <p:sp>
        <p:nvSpPr>
          <p:cNvPr id="13" name="TextBox 12"/>
          <p:cNvSpPr txBox="1"/>
          <p:nvPr/>
        </p:nvSpPr>
        <p:spPr>
          <a:xfrm>
            <a:off x="320040" y="6190488"/>
            <a:ext cx="5760720" cy="256032"/>
          </a:xfrm>
          <a:prstGeom prst="rect">
            <a:avLst/>
          </a:prstGeom>
          <a:noFill/>
        </p:spPr>
        <p:txBody>
          <a:bodyPr wrap="square">
            <a:spAutoFit/>
          </a:bodyPr>
          <a:lstStyle/>
          <a:p>
            <a:pPr algn="ctr"/>
            <a:r>
              <a:rPr sz="950" b="0" i="1">
                <a:solidFill>
                  <a:srgbClr val="5A6577"/>
                </a:solidFill>
                <a:latin typeface="Calibri"/>
              </a:rPr>
              <a:t>Figure D4: Bootstrap Stability (ARI), Core Membership, Early Routing, and Outcome Association Across M</a:t>
            </a:r>
          </a:p>
        </p:txBody>
      </p:sp>
      <p:graphicFrame>
        <p:nvGraphicFramePr>
          <p:cNvPr id="14" name="Table 13"/>
          <p:cNvGraphicFramePr>
            <a:graphicFrameLocks noGrp="1"/>
          </p:cNvGraphicFramePr>
          <p:nvPr/>
        </p:nvGraphicFramePr>
        <p:xfrm>
          <a:off x="6217920" y="1371600"/>
          <a:ext cx="5650992" cy="2514600"/>
        </p:xfrm>
        <a:graphic>
          <a:graphicData uri="http://schemas.openxmlformats.org/drawingml/2006/table">
            <a:tbl>
              <a:tblPr firstRow="1" bandRow="1">
                <a:tableStyleId>{5C22544A-7EE6-4342-B048-85BDC9FD1C3A}</a:tableStyleId>
              </a:tblPr>
              <a:tblGrid>
                <a:gridCol w="1691640"/>
                <a:gridCol w="640080"/>
                <a:gridCol w="594360"/>
                <a:gridCol w="1143000"/>
                <a:gridCol w="1051560"/>
                <a:gridCol w="530352"/>
              </a:tblGrid>
              <a:tr h="419100">
                <a:tc>
                  <a:txBody>
                    <a:bodyPr/>
                    <a:lstStyle/>
                    <a:p>
                      <a:pPr algn="l"/>
                      <a:r>
                        <a:rPr sz="1100" b="1" i="0">
                          <a:solidFill>
                            <a:srgbClr val="FFFFFF"/>
                          </a:solidFill>
                          <a:latin typeface="Calibri"/>
                        </a:rPr>
                        <a:t>Prefix Cut-Off (M User Msgs / ≈T Total Turns)</a:t>
                      </a:r>
                    </a:p>
                  </a:txBody>
                  <a:tcPr anchor="ctr" marL="54864" marR="54864" marT="27432" marB="27432">
                    <a:solidFill>
                      <a:srgbClr val="14325C"/>
                    </a:solidFill>
                  </a:tcPr>
                </a:tc>
                <a:tc>
                  <a:txBody>
                    <a:bodyPr/>
                    <a:lstStyle/>
                    <a:p>
                      <a:pPr algn="ctr"/>
                      <a:r>
                        <a:rPr sz="1100" b="1" i="0">
                          <a:solidFill>
                            <a:srgbClr val="FFFFFF"/>
                          </a:solidFill>
                          <a:latin typeface="Calibri"/>
                        </a:rPr>
                        <a:t>Dialogues &gt; M</a:t>
                      </a:r>
                    </a:p>
                  </a:txBody>
                  <a:tcPr anchor="ctr" marL="54864" marR="54864" marT="27432" marB="27432">
                    <a:solidFill>
                      <a:srgbClr val="14325C"/>
                    </a:solidFill>
                  </a:tcPr>
                </a:tc>
                <a:tc>
                  <a:txBody>
                    <a:bodyPr/>
                    <a:lstStyle/>
                    <a:p>
                      <a:pPr algn="ctr"/>
                      <a:r>
                        <a:rPr sz="1100" b="1" i="0">
                          <a:solidFill>
                            <a:srgbClr val="FFFFFF"/>
                          </a:solidFill>
                          <a:latin typeface="Calibri"/>
                        </a:rPr>
                        <a:t>Bootstrap ARI</a:t>
                      </a:r>
                    </a:p>
                  </a:txBody>
                  <a:tcPr anchor="ctr" marL="54864" marR="54864" marT="27432" marB="27432">
                    <a:solidFill>
                      <a:srgbClr val="14325C"/>
                    </a:solidFill>
                  </a:tcPr>
                </a:tc>
                <a:tc>
                  <a:txBody>
                    <a:bodyPr/>
                    <a:lstStyle/>
                    <a:p>
                      <a:pPr algn="ctr"/>
                      <a:r>
                        <a:rPr sz="1100" b="1" i="0">
                          <a:solidFill>
                            <a:srgbClr val="FFFFFF"/>
                          </a:solidFill>
                          <a:latin typeface="Calibri"/>
                        </a:rPr>
                        <a:t>Overall Test Acc (κ)</a:t>
                      </a:r>
                    </a:p>
                  </a:txBody>
                  <a:tcPr anchor="ctr" marL="54864" marR="54864" marT="27432" marB="27432">
                    <a:solidFill>
                      <a:srgbClr val="14325C"/>
                    </a:solidFill>
                  </a:tcPr>
                </a:tc>
                <a:tc>
                  <a:txBody>
                    <a:bodyPr/>
                    <a:lstStyle/>
                    <a:p>
                      <a:pPr algn="ctr"/>
                      <a:r>
                        <a:rPr sz="1100" b="1" i="0">
                          <a:solidFill>
                            <a:srgbClr val="FFFFFF"/>
                          </a:solidFill>
                          <a:latin typeface="Calibri"/>
                        </a:rPr>
                        <a:t>Acc (&lt;M / ≥M User Msgs)</a:t>
                      </a:r>
                    </a:p>
                  </a:txBody>
                  <a:tcPr anchor="ctr" marL="54864" marR="54864" marT="27432" marB="27432">
                    <a:solidFill>
                      <a:srgbClr val="14325C"/>
                    </a:solidFill>
                  </a:tcPr>
                </a:tc>
                <a:tc>
                  <a:txBody>
                    <a:bodyPr/>
                    <a:lstStyle/>
                    <a:p>
                      <a:pPr algn="ctr"/>
                      <a:r>
                        <a:rPr sz="1100" b="1" i="0">
                          <a:solidFill>
                            <a:srgbClr val="FFFFFF"/>
                          </a:solidFill>
                          <a:latin typeface="Calibri"/>
                        </a:rPr>
                        <a:t>Outcome V</a:t>
                      </a:r>
                    </a:p>
                  </a:txBody>
                  <a:tcPr anchor="ctr" marL="54864" marR="54864" marT="27432" marB="27432">
                    <a:solidFill>
                      <a:srgbClr val="14325C"/>
                    </a:solidFill>
                  </a:tcPr>
                </a:tc>
              </a:tr>
              <a:tr h="419100">
                <a:tc>
                  <a:txBody>
                    <a:bodyPr/>
                    <a:lstStyle/>
                    <a:p>
                      <a:pPr algn="l"/>
                      <a:r>
                        <a:rPr sz="880" b="0" i="0">
                          <a:solidFill>
                            <a:srgbClr val="1E2430"/>
                          </a:solidFill>
                          <a:latin typeface="Calibri"/>
                        </a:rPr>
                        <a:t>M = 3 user msgs (≈ 5 total turns)</a:t>
                      </a:r>
                    </a:p>
                  </a:txBody>
                  <a:tcPr anchor="ctr" marL="54864" marR="54864" marT="22860" marB="22860">
                    <a:solidFill>
                      <a:srgbClr val="FFFFFF"/>
                    </a:solidFill>
                  </a:tcPr>
                </a:tc>
                <a:tc>
                  <a:txBody>
                    <a:bodyPr/>
                    <a:lstStyle/>
                    <a:p>
                      <a:pPr algn="ctr"/>
                      <a:r>
                        <a:rPr sz="880" b="0" i="0">
                          <a:solidFill>
                            <a:srgbClr val="1E2430"/>
                          </a:solidFill>
                          <a:latin typeface="Calibri"/>
                        </a:rPr>
                        <a:t>96.0%</a:t>
                      </a:r>
                    </a:p>
                  </a:txBody>
                  <a:tcPr anchor="ctr" marL="54864" marR="54864" marT="22860" marB="22860">
                    <a:solidFill>
                      <a:srgbClr val="FFFFFF"/>
                    </a:solidFill>
                  </a:tcPr>
                </a:tc>
                <a:tc>
                  <a:txBody>
                    <a:bodyPr/>
                    <a:lstStyle/>
                    <a:p>
                      <a:pPr algn="ctr"/>
                      <a:r>
                        <a:rPr sz="880" b="0" i="0">
                          <a:solidFill>
                            <a:srgbClr val="1E2430"/>
                          </a:solidFill>
                          <a:latin typeface="Calibri"/>
                        </a:rPr>
                        <a:t>.69</a:t>
                      </a:r>
                    </a:p>
                  </a:txBody>
                  <a:tcPr anchor="ctr" marL="54864" marR="54864" marT="22860" marB="22860">
                    <a:solidFill>
                      <a:srgbClr val="FFFFFF"/>
                    </a:solidFill>
                  </a:tcPr>
                </a:tc>
                <a:tc>
                  <a:txBody>
                    <a:bodyPr/>
                    <a:lstStyle/>
                    <a:p>
                      <a:pPr algn="ctr"/>
                      <a:r>
                        <a:rPr sz="880" b="0" i="0">
                          <a:solidFill>
                            <a:srgbClr val="1E2430"/>
                          </a:solidFill>
                          <a:latin typeface="Calibri"/>
                        </a:rPr>
                        <a:t>59.4% (κ = .359)</a:t>
                      </a:r>
                    </a:p>
                  </a:txBody>
                  <a:tcPr anchor="ctr" marL="54864" marR="54864" marT="22860" marB="22860">
                    <a:solidFill>
                      <a:srgbClr val="FFFFFF"/>
                    </a:solidFill>
                  </a:tcPr>
                </a:tc>
                <a:tc>
                  <a:txBody>
                    <a:bodyPr/>
                    <a:lstStyle/>
                    <a:p>
                      <a:pPr algn="ctr"/>
                      <a:r>
                        <a:rPr sz="880" b="0" i="0">
                          <a:solidFill>
                            <a:srgbClr val="1E2430"/>
                          </a:solidFill>
                          <a:latin typeface="Calibri"/>
                        </a:rPr>
                        <a:t>87.5% / 58.2%</a:t>
                      </a:r>
                    </a:p>
                  </a:txBody>
                  <a:tcPr anchor="ctr" marL="54864" marR="54864" marT="22860" marB="22860">
                    <a:solidFill>
                      <a:srgbClr val="FFFFFF"/>
                    </a:solidFill>
                  </a:tcPr>
                </a:tc>
                <a:tc>
                  <a:txBody>
                    <a:bodyPr/>
                    <a:lstStyle/>
                    <a:p>
                      <a:pPr algn="ctr"/>
                      <a:r>
                        <a:rPr sz="880" b="0" i="0">
                          <a:solidFill>
                            <a:srgbClr val="1E2430"/>
                          </a:solidFill>
                          <a:latin typeface="Calibri"/>
                        </a:rPr>
                        <a:t>.14</a:t>
                      </a:r>
                    </a:p>
                  </a:txBody>
                  <a:tcPr anchor="ctr" marL="54864" marR="54864" marT="22860" marB="22860">
                    <a:solidFill>
                      <a:srgbClr val="FFFFFF"/>
                    </a:solidFill>
                  </a:tcPr>
                </a:tc>
              </a:tr>
              <a:tr h="419100">
                <a:tc>
                  <a:txBody>
                    <a:bodyPr/>
                    <a:lstStyle/>
                    <a:p>
                      <a:pPr algn="l"/>
                      <a:r>
                        <a:rPr sz="880" b="1" i="0">
                          <a:solidFill>
                            <a:srgbClr val="1E2430"/>
                          </a:solidFill>
                          <a:latin typeface="Calibri"/>
                        </a:rPr>
                        <a:t>M = 5 user msgs (≈ 9 turns — RQ2 Runtime)</a:t>
                      </a:r>
                    </a:p>
                  </a:txBody>
                  <a:tcPr anchor="ctr" marL="54864" marR="54864" marT="22860" marB="22860">
                    <a:solidFill>
                      <a:srgbClr val="E1F3E8"/>
                    </a:solidFill>
                  </a:tcPr>
                </a:tc>
                <a:tc>
                  <a:txBody>
                    <a:bodyPr/>
                    <a:lstStyle/>
                    <a:p>
                      <a:pPr algn="ctr"/>
                      <a:r>
                        <a:rPr sz="880" b="1" i="0">
                          <a:solidFill>
                            <a:srgbClr val="1E2430"/>
                          </a:solidFill>
                          <a:latin typeface="Calibri"/>
                        </a:rPr>
                        <a:t>83.2%</a:t>
                      </a:r>
                    </a:p>
                  </a:txBody>
                  <a:tcPr anchor="ctr" marL="54864" marR="54864" marT="22860" marB="22860">
                    <a:solidFill>
                      <a:srgbClr val="E1F3E8"/>
                    </a:solidFill>
                  </a:tcPr>
                </a:tc>
                <a:tc>
                  <a:txBody>
                    <a:bodyPr/>
                    <a:lstStyle/>
                    <a:p>
                      <a:pPr algn="ctr"/>
                      <a:r>
                        <a:rPr sz="880" b="1" i="0">
                          <a:solidFill>
                            <a:srgbClr val="1E2430"/>
                          </a:solidFill>
                          <a:latin typeface="Calibri"/>
                        </a:rPr>
                        <a:t>.57</a:t>
                      </a:r>
                    </a:p>
                  </a:txBody>
                  <a:tcPr anchor="ctr" marL="54864" marR="54864" marT="22860" marB="22860">
                    <a:solidFill>
                      <a:srgbClr val="E1F3E8"/>
                    </a:solidFill>
                  </a:tcPr>
                </a:tc>
                <a:tc>
                  <a:txBody>
                    <a:bodyPr/>
                    <a:lstStyle/>
                    <a:p>
                      <a:pPr algn="ctr"/>
                      <a:r>
                        <a:rPr sz="880" b="1" i="0">
                          <a:solidFill>
                            <a:srgbClr val="1E2430"/>
                          </a:solidFill>
                          <a:latin typeface="Calibri"/>
                        </a:rPr>
                        <a:t>70.1% (κ = .535)</a:t>
                      </a:r>
                    </a:p>
                  </a:txBody>
                  <a:tcPr anchor="ctr" marL="54864" marR="54864" marT="22860" marB="22860">
                    <a:solidFill>
                      <a:srgbClr val="E1F3E8"/>
                    </a:solidFill>
                  </a:tcPr>
                </a:tc>
                <a:tc>
                  <a:txBody>
                    <a:bodyPr/>
                    <a:lstStyle/>
                    <a:p>
                      <a:pPr algn="ctr"/>
                      <a:r>
                        <a:rPr sz="880" b="1" i="0">
                          <a:solidFill>
                            <a:srgbClr val="1E2430"/>
                          </a:solidFill>
                          <a:latin typeface="Calibri"/>
                        </a:rPr>
                        <a:t>81.8% / 67.8%</a:t>
                      </a:r>
                    </a:p>
                  </a:txBody>
                  <a:tcPr anchor="ctr" marL="54864" marR="54864" marT="22860" marB="22860">
                    <a:solidFill>
                      <a:srgbClr val="E1F3E8"/>
                    </a:solidFill>
                  </a:tcPr>
                </a:tc>
                <a:tc>
                  <a:txBody>
                    <a:bodyPr/>
                    <a:lstStyle/>
                    <a:p>
                      <a:pPr algn="ctr"/>
                      <a:r>
                        <a:rPr sz="880" b="1" i="0">
                          <a:solidFill>
                            <a:srgbClr val="1E2430"/>
                          </a:solidFill>
                          <a:latin typeface="Calibri"/>
                        </a:rPr>
                        <a:t>.17</a:t>
                      </a:r>
                    </a:p>
                  </a:txBody>
                  <a:tcPr anchor="ctr" marL="54864" marR="54864" marT="22860" marB="22860">
                    <a:solidFill>
                      <a:srgbClr val="E1F3E8"/>
                    </a:solidFill>
                  </a:tcPr>
                </a:tc>
              </a:tr>
              <a:tr h="419100">
                <a:tc>
                  <a:txBody>
                    <a:bodyPr/>
                    <a:lstStyle/>
                    <a:p>
                      <a:pPr algn="l"/>
                      <a:r>
                        <a:rPr sz="880" b="0" i="0">
                          <a:solidFill>
                            <a:srgbClr val="1E2430"/>
                          </a:solidFill>
                          <a:latin typeface="Calibri"/>
                        </a:rPr>
                        <a:t>M = 7 user msgs (≈ 13 total turns)</a:t>
                      </a:r>
                    </a:p>
                  </a:txBody>
                  <a:tcPr anchor="ctr" marL="54864" marR="54864" marT="22860" marB="22860">
                    <a:solidFill>
                      <a:srgbClr val="FFFFFF"/>
                    </a:solidFill>
                  </a:tcPr>
                </a:tc>
                <a:tc>
                  <a:txBody>
                    <a:bodyPr/>
                    <a:lstStyle/>
                    <a:p>
                      <a:pPr algn="ctr"/>
                      <a:r>
                        <a:rPr sz="880" b="0" i="0">
                          <a:solidFill>
                            <a:srgbClr val="1E2430"/>
                          </a:solidFill>
                          <a:latin typeface="Calibri"/>
                        </a:rPr>
                        <a:t>59.9%</a:t>
                      </a:r>
                    </a:p>
                  </a:txBody>
                  <a:tcPr anchor="ctr" marL="54864" marR="54864" marT="22860" marB="22860">
                    <a:solidFill>
                      <a:srgbClr val="FFFFFF"/>
                    </a:solidFill>
                  </a:tcPr>
                </a:tc>
                <a:tc>
                  <a:txBody>
                    <a:bodyPr/>
                    <a:lstStyle/>
                    <a:p>
                      <a:pPr algn="ctr"/>
                      <a:r>
                        <a:rPr sz="880" b="0" i="0">
                          <a:solidFill>
                            <a:srgbClr val="1E2430"/>
                          </a:solidFill>
                          <a:latin typeface="Calibri"/>
                        </a:rPr>
                        <a:t>.69</a:t>
                      </a:r>
                    </a:p>
                  </a:txBody>
                  <a:tcPr anchor="ctr" marL="54864" marR="54864" marT="22860" marB="22860">
                    <a:solidFill>
                      <a:srgbClr val="FFFFFF"/>
                    </a:solidFill>
                  </a:tcPr>
                </a:tc>
                <a:tc>
                  <a:txBody>
                    <a:bodyPr/>
                    <a:lstStyle/>
                    <a:p>
                      <a:pPr algn="ctr"/>
                      <a:r>
                        <a:rPr sz="880" b="0" i="0">
                          <a:solidFill>
                            <a:srgbClr val="1E2430"/>
                          </a:solidFill>
                          <a:latin typeface="Calibri"/>
                        </a:rPr>
                        <a:t>82.0% (κ = .722)</a:t>
                      </a:r>
                    </a:p>
                  </a:txBody>
                  <a:tcPr anchor="ctr" marL="54864" marR="54864" marT="22860" marB="22860">
                    <a:solidFill>
                      <a:srgbClr val="FFFFFF"/>
                    </a:solidFill>
                  </a:tcPr>
                </a:tc>
                <a:tc>
                  <a:txBody>
                    <a:bodyPr/>
                    <a:lstStyle/>
                    <a:p>
                      <a:pPr algn="ctr"/>
                      <a:r>
                        <a:rPr sz="880" b="0" i="0">
                          <a:solidFill>
                            <a:srgbClr val="1E2430"/>
                          </a:solidFill>
                          <a:latin typeface="Calibri"/>
                        </a:rPr>
                        <a:t>93.2% / 74.6%</a:t>
                      </a:r>
                    </a:p>
                  </a:txBody>
                  <a:tcPr anchor="ctr" marL="54864" marR="54864" marT="22860" marB="22860">
                    <a:solidFill>
                      <a:srgbClr val="FFFFFF"/>
                    </a:solidFill>
                  </a:tcPr>
                </a:tc>
                <a:tc>
                  <a:txBody>
                    <a:bodyPr/>
                    <a:lstStyle/>
                    <a:p>
                      <a:pPr algn="ctr"/>
                      <a:r>
                        <a:rPr sz="880" b="0" i="0">
                          <a:solidFill>
                            <a:srgbClr val="1E2430"/>
                          </a:solidFill>
                          <a:latin typeface="Calibri"/>
                        </a:rPr>
                        <a:t>.18</a:t>
                      </a:r>
                    </a:p>
                  </a:txBody>
                  <a:tcPr anchor="ctr" marL="54864" marR="54864" marT="22860" marB="22860">
                    <a:solidFill>
                      <a:srgbClr val="FFFFFF"/>
                    </a:solidFill>
                  </a:tcPr>
                </a:tc>
              </a:tr>
              <a:tr h="419100">
                <a:tc>
                  <a:txBody>
                    <a:bodyPr/>
                    <a:lstStyle/>
                    <a:p>
                      <a:pPr algn="l"/>
                      <a:r>
                        <a:rPr sz="880" b="1" i="0">
                          <a:solidFill>
                            <a:srgbClr val="1E2430"/>
                          </a:solidFill>
                          <a:latin typeface="Calibri"/>
                        </a:rPr>
                        <a:t>M = 9 user msgs (≈ 17 turns — Offline Cap)</a:t>
                      </a:r>
                    </a:p>
                  </a:txBody>
                  <a:tcPr anchor="ctr" marL="54864" marR="54864" marT="22860" marB="22860">
                    <a:solidFill>
                      <a:srgbClr val="E1F3E8"/>
                    </a:solidFill>
                  </a:tcPr>
                </a:tc>
                <a:tc>
                  <a:txBody>
                    <a:bodyPr/>
                    <a:lstStyle/>
                    <a:p>
                      <a:pPr algn="ctr"/>
                      <a:r>
                        <a:rPr sz="880" b="1" i="0">
                          <a:solidFill>
                            <a:srgbClr val="1E2430"/>
                          </a:solidFill>
                          <a:latin typeface="Calibri"/>
                        </a:rPr>
                        <a:t>38.6%</a:t>
                      </a:r>
                    </a:p>
                  </a:txBody>
                  <a:tcPr anchor="ctr" marL="54864" marR="54864" marT="22860" marB="22860">
                    <a:solidFill>
                      <a:srgbClr val="E1F3E8"/>
                    </a:solidFill>
                  </a:tcPr>
                </a:tc>
                <a:tc>
                  <a:txBody>
                    <a:bodyPr/>
                    <a:lstStyle/>
                    <a:p>
                      <a:pPr algn="ctr"/>
                      <a:r>
                        <a:rPr sz="880" b="1" i="0">
                          <a:solidFill>
                            <a:srgbClr val="1E2430"/>
                          </a:solidFill>
                          <a:latin typeface="Calibri"/>
                        </a:rPr>
                        <a:t>.76</a:t>
                      </a:r>
                    </a:p>
                  </a:txBody>
                  <a:tcPr anchor="ctr" marL="54864" marR="54864" marT="22860" marB="22860">
                    <a:solidFill>
                      <a:srgbClr val="E1F3E8"/>
                    </a:solidFill>
                  </a:tcPr>
                </a:tc>
                <a:tc>
                  <a:txBody>
                    <a:bodyPr/>
                    <a:lstStyle/>
                    <a:p>
                      <a:pPr algn="ctr"/>
                      <a:r>
                        <a:rPr sz="880" b="1" i="0">
                          <a:solidFill>
                            <a:srgbClr val="1E2430"/>
                          </a:solidFill>
                          <a:latin typeface="Calibri"/>
                        </a:rPr>
                        <a:t>97.3% (κ = .958)</a:t>
                      </a:r>
                    </a:p>
                  </a:txBody>
                  <a:tcPr anchor="ctr" marL="54864" marR="54864" marT="22860" marB="22860">
                    <a:solidFill>
                      <a:srgbClr val="E1F3E8"/>
                    </a:solidFill>
                  </a:tcPr>
                </a:tc>
                <a:tc>
                  <a:txBody>
                    <a:bodyPr/>
                    <a:lstStyle/>
                    <a:p>
                      <a:pPr algn="ctr"/>
                      <a:r>
                        <a:rPr sz="880" b="1" i="0">
                          <a:solidFill>
                            <a:srgbClr val="1E2430"/>
                          </a:solidFill>
                          <a:latin typeface="Calibri"/>
                        </a:rPr>
                        <a:t>96.0% / 99.3%</a:t>
                      </a:r>
                    </a:p>
                  </a:txBody>
                  <a:tcPr anchor="ctr" marL="54864" marR="54864" marT="22860" marB="22860">
                    <a:solidFill>
                      <a:srgbClr val="E1F3E8"/>
                    </a:solidFill>
                  </a:tcPr>
                </a:tc>
                <a:tc>
                  <a:txBody>
                    <a:bodyPr/>
                    <a:lstStyle/>
                    <a:p>
                      <a:pPr algn="ctr"/>
                      <a:r>
                        <a:rPr sz="880" b="1" i="0">
                          <a:solidFill>
                            <a:srgbClr val="1E2430"/>
                          </a:solidFill>
                          <a:latin typeface="Calibri"/>
                        </a:rPr>
                        <a:t>.20</a:t>
                      </a:r>
                    </a:p>
                  </a:txBody>
                  <a:tcPr anchor="ctr" marL="54864" marR="54864" marT="22860" marB="22860">
                    <a:solidFill>
                      <a:srgbClr val="E1F3E8"/>
                    </a:solidFill>
                  </a:tcPr>
                </a:tc>
              </a:tr>
              <a:tr h="419100">
                <a:tc>
                  <a:txBody>
                    <a:bodyPr/>
                    <a:lstStyle/>
                    <a:p>
                      <a:pPr algn="l"/>
                      <a:r>
                        <a:rPr sz="880" b="0" i="0">
                          <a:solidFill>
                            <a:srgbClr val="1E2430"/>
                          </a:solidFill>
                          <a:latin typeface="Calibri"/>
                        </a:rPr>
                        <a:t>Whole conversation (Un-truncated)</a:t>
                      </a:r>
                    </a:p>
                  </a:txBody>
                  <a:tcPr anchor="ctr" marL="54864" marR="54864" marT="22860" marB="22860">
                    <a:solidFill>
                      <a:srgbClr val="FFFFFF"/>
                    </a:solidFill>
                  </a:tcPr>
                </a:tc>
                <a:tc>
                  <a:txBody>
                    <a:bodyPr/>
                    <a:lstStyle/>
                    <a:p>
                      <a:pPr algn="ctr"/>
                      <a:r>
                        <a:rPr sz="880" b="0" i="0">
                          <a:solidFill>
                            <a:srgbClr val="1E2430"/>
                          </a:solidFill>
                          <a:latin typeface="Calibri"/>
                        </a:rPr>
                        <a:t>0.0%</a:t>
                      </a:r>
                    </a:p>
                  </a:txBody>
                  <a:tcPr anchor="ctr" marL="54864" marR="54864" marT="22860" marB="22860">
                    <a:solidFill>
                      <a:srgbClr val="FFFFFF"/>
                    </a:solidFill>
                  </a:tcPr>
                </a:tc>
                <a:tc>
                  <a:txBody>
                    <a:bodyPr/>
                    <a:lstStyle/>
                    <a:p>
                      <a:pPr algn="ctr"/>
                      <a:r>
                        <a:rPr sz="880" b="0" i="0">
                          <a:solidFill>
                            <a:srgbClr val="1E2430"/>
                          </a:solidFill>
                          <a:latin typeface="Calibri"/>
                        </a:rPr>
                        <a:t>.89</a:t>
                      </a:r>
                    </a:p>
                  </a:txBody>
                  <a:tcPr anchor="ctr" marL="54864" marR="54864" marT="22860" marB="22860">
                    <a:solidFill>
                      <a:srgbClr val="FFFFFF"/>
                    </a:solidFill>
                  </a:tcPr>
                </a:tc>
                <a:tc>
                  <a:txBody>
                    <a:bodyPr/>
                    <a:lstStyle/>
                    <a:p>
                      <a:pPr algn="ctr"/>
                      <a:r>
                        <a:rPr sz="880" b="0" i="0">
                          <a:solidFill>
                            <a:srgbClr val="1E2430"/>
                          </a:solidFill>
                          <a:latin typeface="Calibri"/>
                        </a:rPr>
                        <a:t>Confounded by outcome</a:t>
                      </a:r>
                    </a:p>
                  </a:txBody>
                  <a:tcPr anchor="ctr" marL="54864" marR="54864" marT="22860" marB="22860">
                    <a:solidFill>
                      <a:srgbClr val="FFFFFF"/>
                    </a:solidFill>
                  </a:tcPr>
                </a:tc>
                <a:tc>
                  <a:txBody>
                    <a:bodyPr/>
                    <a:lstStyle/>
                    <a:p>
                      <a:pPr algn="ctr"/>
                      <a:r>
                        <a:rPr sz="880" b="0" i="0">
                          <a:solidFill>
                            <a:srgbClr val="1E2430"/>
                          </a:solidFill>
                          <a:latin typeface="Calibri"/>
                        </a:rPr>
                        <a:t>—</a:t>
                      </a:r>
                    </a:p>
                  </a:txBody>
                  <a:tcPr anchor="ctr" marL="54864" marR="54864" marT="22860" marB="22860">
                    <a:solidFill>
                      <a:srgbClr val="FFFFFF"/>
                    </a:solidFill>
                  </a:tcPr>
                </a:tc>
                <a:tc>
                  <a:txBody>
                    <a:bodyPr/>
                    <a:lstStyle/>
                    <a:p>
                      <a:pPr algn="ctr"/>
                      <a:r>
                        <a:rPr sz="880" b="0" i="0">
                          <a:solidFill>
                            <a:srgbClr val="1E2430"/>
                          </a:solidFill>
                          <a:latin typeface="Calibri"/>
                        </a:rPr>
                        <a:t>.29</a:t>
                      </a:r>
                    </a:p>
                  </a:txBody>
                  <a:tcPr anchor="ctr" marL="54864" marR="54864" marT="22860" marB="22860">
                    <a:solidFill>
                      <a:srgbClr val="FFFFFF"/>
                    </a:solidFill>
                  </a:tcPr>
                </a:tc>
              </a:tr>
            </a:tbl>
          </a:graphicData>
        </a:graphic>
      </p:graphicFrame>
      <p:sp>
        <p:nvSpPr>
          <p:cNvPr id="15" name="Rounded Rectangle 14"/>
          <p:cNvSpPr/>
          <p:nvPr/>
        </p:nvSpPr>
        <p:spPr>
          <a:xfrm>
            <a:off x="6217920" y="4005072"/>
            <a:ext cx="5650992" cy="2441448"/>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005072"/>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Validating All 16 Fields of the LLM Behavioral Codebook (Table C2)</a:t>
            </a:r>
          </a:p>
        </p:txBody>
      </p:sp>
      <p:sp>
        <p:nvSpPr>
          <p:cNvPr id="17" name="TextBox 16"/>
          <p:cNvSpPr txBox="1"/>
          <p:nvPr/>
        </p:nvSpPr>
        <p:spPr>
          <a:xfrm>
            <a:off x="6309359" y="4389120"/>
            <a:ext cx="5468112" cy="2002536"/>
          </a:xfrm>
          <a:prstGeom prst="rect">
            <a:avLst/>
          </a:prstGeom>
          <a:noFill/>
        </p:spPr>
        <p:txBody>
          <a:bodyPr wrap="square" lIns="36576" rIns="36576" tIns="18288" bIns="18288">
            <a:spAutoFit/>
          </a:bodyPr>
          <a:lstStyle/>
          <a:p>
            <a:pPr>
              <a:spcAft>
                <a:spcPts val="400"/>
              </a:spcAft>
            </a:pPr>
            <a:r>
              <a:rPr sz="950" b="0" i="0">
                <a:solidFill>
                  <a:srgbClr val="1E2430"/>
                </a:solidFill>
                <a:latin typeface="Calibri"/>
              </a:rPr>
              <a:t>• </a:t>
            </a:r>
            <a:r>
              <a:rPr sz="950" b="1" i="0">
                <a:solidFill>
                  <a:srgbClr val="1E2430"/>
                </a:solidFill>
                <a:latin typeface="Calibri"/>
              </a:rPr>
              <a:t>16-Field `UserBehaviour` Schema (`step2e` &amp; `step2g`):</a:t>
            </a:r>
            <a:r>
              <a:rPr sz="950" b="0" i="0">
                <a:solidFill>
                  <a:srgbClr val="1E2430"/>
                </a:solidFill>
                <a:latin typeface="Calibri"/>
              </a:rPr>
              <a:t> </a:t>
            </a:r>
            <a:r>
              <a:rPr sz="950" b="1" i="0">
                <a:solidFill>
                  <a:srgbClr val="1E2430"/>
                </a:solidFill>
                <a:latin typeface="Calibri"/>
              </a:rPr>
              <a:t>Fields 1–10</a:t>
            </a:r>
            <a:r>
              <a:rPr sz="950" b="0" i="0">
                <a:solidFill>
                  <a:srgbClr val="1E2430"/>
                </a:solidFill>
                <a:latin typeface="Calibri"/>
              </a:rPr>
              <a:t> (10 ordinal 1–5 scales) + </a:t>
            </a:r>
            <a:r>
              <a:rPr sz="950" b="1" i="0">
                <a:solidFill>
                  <a:srgbClr val="1E2430"/>
                </a:solidFill>
                <a:latin typeface="Calibri"/>
              </a:rPr>
              <a:t>Fields 11–13</a:t>
            </a:r>
            <a:r>
              <a:rPr sz="950" b="0" i="0">
                <a:solidFill>
                  <a:srgbClr val="1E2430"/>
                </a:solidFill>
                <a:latin typeface="Calibri"/>
              </a:rPr>
              <a:t> (3 categorical goal/tone fields) form the 13 clustering inputs; </a:t>
            </a:r>
            <a:r>
              <a:rPr sz="950" b="1" i="0">
                <a:solidFill>
                  <a:srgbClr val="1E2430"/>
                </a:solidFill>
                <a:latin typeface="Calibri"/>
              </a:rPr>
              <a:t>Fields 14–16</a:t>
            </a:r>
            <a:r>
              <a:rPr sz="950" b="0" i="0">
                <a:solidFill>
                  <a:srgbClr val="1E2430"/>
                </a:solidFill>
                <a:latin typeface="Calibri"/>
              </a:rPr>
              <a:t> (`outcome`, `party_type`, `unusual_conversation`) are held out for post-hoc audit to prevent outcome leakage.</a:t>
            </a:r>
          </a:p>
          <a:p>
            <a:pPr>
              <a:spcAft>
                <a:spcPts val="400"/>
              </a:spcAft>
            </a:pPr>
            <a:r>
              <a:rPr sz="950" b="0" i="0">
                <a:solidFill>
                  <a:srgbClr val="1E2430"/>
                </a:solidFill>
                <a:latin typeface="Calibri"/>
              </a:rPr>
              <a:t>• </a:t>
            </a:r>
            <a:r>
              <a:rPr sz="950" b="1" i="0">
                <a:solidFill>
                  <a:srgbClr val="1E2430"/>
                </a:solidFill>
                <a:latin typeface="Calibri"/>
              </a:rPr>
              <a:t>Test–Retest Reliability (n = 50, All 16 Fields):</a:t>
            </a:r>
            <a:r>
              <a:rPr sz="950" b="0" i="0">
                <a:solidFill>
                  <a:srgbClr val="1E2430"/>
                </a:solidFill>
                <a:latin typeface="Calibri"/>
              </a:rPr>
              <a:t> Quadratic weighted </a:t>
            </a:r>
            <a:r>
              <a:rPr sz="950" b="1" i="0">
                <a:solidFill>
                  <a:srgbClr val="1E2430"/>
                </a:solidFill>
                <a:latin typeface="Calibri"/>
              </a:rPr>
              <a:t>κ_w = .87 to .96</a:t>
            </a:r>
            <a:r>
              <a:rPr sz="950" b="0" i="0">
                <a:solidFill>
                  <a:srgbClr val="1E2430"/>
                </a:solidFill>
                <a:latin typeface="Calibri"/>
              </a:rPr>
              <a:t> across Ordinal Fields 1–10 (mean .91) and </a:t>
            </a:r>
            <a:r>
              <a:rPr sz="950" b="1" i="0">
                <a:solidFill>
                  <a:srgbClr val="1E2430"/>
                </a:solidFill>
                <a:latin typeface="Calibri"/>
              </a:rPr>
              <a:t>κ = .75 to .98</a:t>
            </a:r>
            <a:r>
              <a:rPr sz="950" b="0" i="0">
                <a:solidFill>
                  <a:srgbClr val="1E2430"/>
                </a:solidFill>
                <a:latin typeface="Calibri"/>
              </a:rPr>
              <a:t> across Categorical/Audit Fields 11–16.</a:t>
            </a:r>
          </a:p>
          <a:p>
            <a:pPr>
              <a:spcAft>
                <a:spcPts val="400"/>
              </a:spcAft>
            </a:pPr>
            <a:r>
              <a:rPr sz="950" b="0" i="0">
                <a:solidFill>
                  <a:srgbClr val="1E2430"/>
                </a:solidFill>
                <a:latin typeface="Calibri"/>
              </a:rPr>
              <a:t>• </a:t>
            </a:r>
            <a:r>
              <a:rPr sz="950" b="1" i="0">
                <a:solidFill>
                  <a:srgbClr val="1E2430"/>
                </a:solidFill>
                <a:latin typeface="Calibri"/>
              </a:rPr>
              <a:t>Ground-Truth Criterion Validity (N = 1,334 Frames Acts):</a:t>
            </a:r>
          </a:p>
          <a:p>
            <a:pPr>
              <a:spcAft>
                <a:spcPts val="400"/>
              </a:spcAft>
            </a:pPr>
            <a:r>
              <a:rPr sz="1000" b="0" i="0">
                <a:solidFill>
                  <a:srgbClr val="1E2430"/>
                </a:solidFill>
                <a:latin typeface="Calibri"/>
              </a:rPr>
              <a:t>    ▪ LLM </a:t>
            </a:r>
            <a:r>
              <a:rPr sz="1000" b="0" i="1">
                <a:solidFill>
                  <a:srgbClr val="1E2430"/>
                </a:solidFill>
                <a:latin typeface="Calibri"/>
              </a:rPr>
              <a:t>revision_tendency</a:t>
            </a:r>
            <a:r>
              <a:rPr sz="1000" b="0" i="0">
                <a:solidFill>
                  <a:srgbClr val="1E2430"/>
                </a:solidFill>
                <a:latin typeface="Calibri"/>
              </a:rPr>
              <a:t> × ground-truth slot revisions: </a:t>
            </a:r>
            <a:r>
              <a:rPr sz="1000" b="1" i="0">
                <a:solidFill>
                  <a:srgbClr val="1E2430"/>
                </a:solidFill>
                <a:latin typeface="Calibri"/>
              </a:rPr>
              <a:t>Spearman ρ = .64 (p &lt; .001)</a:t>
            </a:r>
            <a:r>
              <a:rPr sz="1000" b="0" i="0">
                <a:solidFill>
                  <a:srgbClr val="1E2430"/>
                </a:solidFill>
                <a:latin typeface="Calibri"/>
              </a:rPr>
              <a:t>.</a:t>
            </a:r>
          </a:p>
          <a:p>
            <a:pPr>
              <a:spcAft>
                <a:spcPts val="400"/>
              </a:spcAft>
            </a:pPr>
            <a:r>
              <a:rPr sz="1000" b="0" i="0">
                <a:solidFill>
                  <a:srgbClr val="1E2430"/>
                </a:solidFill>
                <a:latin typeface="Calibri"/>
              </a:rPr>
              <a:t>    ▪ LLM </a:t>
            </a:r>
            <a:r>
              <a:rPr sz="1000" b="0" i="1">
                <a:solidFill>
                  <a:srgbClr val="1E2430"/>
                </a:solidFill>
                <a:latin typeface="Calibri"/>
              </a:rPr>
              <a:t>exploration_breadth</a:t>
            </a:r>
            <a:r>
              <a:rPr sz="1000" b="0" i="0">
                <a:solidFill>
                  <a:srgbClr val="1E2430"/>
                </a:solidFill>
                <a:latin typeface="Calibri"/>
              </a:rPr>
              <a:t> × frame-switch rate: </a:t>
            </a:r>
            <a:r>
              <a:rPr sz="1000" b="1" i="0">
                <a:solidFill>
                  <a:srgbClr val="1E2430"/>
                </a:solidFill>
                <a:latin typeface="Calibri"/>
              </a:rPr>
              <a:t>ρ = .41 (p &lt; .001)</a:t>
            </a:r>
            <a:r>
              <a:rPr sz="1000" b="0" i="0">
                <a:solidFill>
                  <a:srgbClr val="1E2430"/>
                </a:solidFill>
                <a:latin typeface="Calibri"/>
              </a:rPr>
              <a:t>.</a:t>
            </a:r>
          </a:p>
          <a:p>
            <a:pPr>
              <a:spcAft>
                <a:spcPts val="400"/>
              </a:spcAft>
            </a:pPr>
            <a:r>
              <a:rPr sz="1000" b="0" i="0">
                <a:solidFill>
                  <a:srgbClr val="1E2430"/>
                </a:solidFill>
                <a:latin typeface="Calibri"/>
              </a:rPr>
              <a:t>    ▪ LLM </a:t>
            </a:r>
            <a:r>
              <a:rPr sz="1000" b="0" i="1">
                <a:solidFill>
                  <a:srgbClr val="1E2430"/>
                </a:solidFill>
                <a:latin typeface="Calibri"/>
              </a:rPr>
              <a:t>information_upfront</a:t>
            </a:r>
            <a:r>
              <a:rPr sz="1000" b="0" i="0">
                <a:solidFill>
                  <a:srgbClr val="1E2430"/>
                </a:solidFill>
                <a:latin typeface="Calibri"/>
              </a:rPr>
              <a:t> × Turn-1 slot share: </a:t>
            </a:r>
            <a:r>
              <a:rPr sz="1000" b="1" i="0">
                <a:solidFill>
                  <a:srgbClr val="1E2430"/>
                </a:solidFill>
                <a:latin typeface="Calibri"/>
              </a:rPr>
              <a:t>ρ = .52 (p &lt; .001)</a:t>
            </a:r>
            <a:r>
              <a:rPr sz="1000" b="0" i="0">
                <a:solidFill>
                  <a:srgbClr val="1E2430"/>
                </a:solidFill>
                <a:latin typeface="Calibri"/>
              </a:rPr>
              <a:t>.</a:t>
            </a:r>
          </a:p>
          <a:p>
            <a:pPr>
              <a:spcAft>
                <a:spcPts val="400"/>
              </a:spcAft>
            </a:pPr>
            <a:r>
              <a:rPr sz="950" b="0" i="0">
                <a:solidFill>
                  <a:srgbClr val="1E2430"/>
                </a:solidFill>
                <a:latin typeface="Calibri"/>
              </a:rPr>
              <a:t>• </a:t>
            </a:r>
            <a:r>
              <a:rPr sz="950" b="1" i="0">
                <a:solidFill>
                  <a:srgbClr val="1E2430"/>
                </a:solidFill>
                <a:latin typeface="Calibri"/>
              </a:rPr>
              <a:t>Ablation Proof (Table D6):</a:t>
            </a:r>
            <a:r>
              <a:rPr sz="950" b="0" i="0">
                <a:solidFill>
                  <a:srgbClr val="1E2430"/>
                </a:solidFill>
                <a:latin typeface="Calibri"/>
              </a:rPr>
              <a:t> Embeddings-only at </a:t>
            </a:r>
            <a:r>
              <a:rPr sz="950" b="0" i="1">
                <a:solidFill>
                  <a:srgbClr val="1E2430"/>
                </a:solidFill>
                <a:latin typeface="Calibri"/>
              </a:rPr>
              <a:t>M</a:t>
            </a:r>
            <a:r>
              <a:rPr sz="950" b="0" i="0">
                <a:solidFill>
                  <a:srgbClr val="1E2430"/>
                </a:solidFill>
                <a:latin typeface="Calibri"/>
              </a:rPr>
              <a:t>=9 gets ARI = .39; combining PCA-20 Gemini + 13 clustering behavioral fields (`Blocks`) reaches </a:t>
            </a:r>
            <a:r>
              <a:rPr sz="950" b="1" i="0">
                <a:solidFill>
                  <a:srgbClr val="1E2430"/>
                </a:solidFill>
                <a:latin typeface="Calibri"/>
              </a:rPr>
              <a:t>ARI = .76</a:t>
            </a:r>
            <a:r>
              <a:rPr sz="950" b="0" i="0">
                <a:solidFill>
                  <a:srgbClr val="1E2430"/>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(RQ1)</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25</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RQ1 (Part 4): Full 16-Field Profile of the Three Refined User Archetypes (Tables 13 &amp; C1)</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Complete accounting of all 16 schema fields (10 ordinal + 3 categorical clustering + 3 audit-only) across D_gold (n = 933) and D_test (n = 401)</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53312"/>
          <a:ext cx="11548872" cy="4005072"/>
        </p:xfrm>
        <a:graphic>
          <a:graphicData uri="http://schemas.openxmlformats.org/drawingml/2006/table">
            <a:tbl>
              <a:tblPr firstRow="1" bandRow="1">
                <a:tableStyleId>{5C22544A-7EE6-4342-B048-85BDC9FD1C3A}</a:tableStyleId>
              </a:tblPr>
              <a:tblGrid>
                <a:gridCol w="2606040"/>
                <a:gridCol w="2057400"/>
                <a:gridCol w="2148840"/>
                <a:gridCol w="2148840"/>
                <a:gridCol w="2587752"/>
              </a:tblGrid>
              <a:tr h="400507">
                <a:tc>
                  <a:txBody>
                    <a:bodyPr/>
                    <a:lstStyle/>
                    <a:p>
                      <a:pPr algn="l"/>
                      <a:r>
                        <a:rPr sz="1100" b="1" i="0">
                          <a:solidFill>
                            <a:srgbClr val="FFFFFF"/>
                          </a:solidFill>
                          <a:latin typeface="Calibri"/>
                        </a:rPr>
                        <a:t>Schema Field Group &amp; Behavioral Attribute (All 16 Fields)</a:t>
                      </a:r>
                    </a:p>
                  </a:txBody>
                  <a:tcPr anchor="ctr" marL="54864" marR="54864" marT="27432" marB="27432">
                    <a:solidFill>
                      <a:srgbClr val="14325C"/>
                    </a:solidFill>
                  </a:tcPr>
                </a:tc>
                <a:tc>
                  <a:txBody>
                    <a:bodyPr/>
                    <a:lstStyle/>
                    <a:p>
                      <a:pPr algn="ctr"/>
                      <a:r>
                        <a:rPr sz="1100" b="1" i="0">
                          <a:solidFill>
                            <a:srgbClr val="FFFFFF"/>
                          </a:solidFill>
                          <a:latin typeface="Calibri"/>
                        </a:rPr>
                        <a:t>Archetype 1: Decisive Booker</a:t>
                      </a:r>
                    </a:p>
                  </a:txBody>
                  <a:tcPr anchor="ctr" marL="54864" marR="54864" marT="27432" marB="27432">
                    <a:solidFill>
                      <a:srgbClr val="14325C"/>
                    </a:solidFill>
                  </a:tcPr>
                </a:tc>
                <a:tc>
                  <a:txBody>
                    <a:bodyPr/>
                    <a:lstStyle/>
                    <a:p>
                      <a:pPr algn="ctr"/>
                      <a:r>
                        <a:rPr sz="1100" b="1" i="0">
                          <a:solidFill>
                            <a:srgbClr val="FFFFFF"/>
                          </a:solidFill>
                          <a:latin typeface="Calibri"/>
                        </a:rPr>
                        <a:t>Archetype 2: Open Explorer</a:t>
                      </a:r>
                    </a:p>
                  </a:txBody>
                  <a:tcPr anchor="ctr" marL="54864" marR="54864" marT="27432" marB="27432">
                    <a:solidFill>
                      <a:srgbClr val="14325C"/>
                    </a:solidFill>
                  </a:tcPr>
                </a:tc>
                <a:tc>
                  <a:txBody>
                    <a:bodyPr/>
                    <a:lstStyle/>
                    <a:p>
                      <a:pPr algn="ctr"/>
                      <a:r>
                        <a:rPr sz="1100" b="1" i="0">
                          <a:solidFill>
                            <a:srgbClr val="FFFFFF"/>
                          </a:solidFill>
                          <a:latin typeface="Calibri"/>
                        </a:rPr>
                        <a:t>Archetype 3: Rigid-Constraint Seeker</a:t>
                      </a:r>
                    </a:p>
                  </a:txBody>
                  <a:tcPr anchor="ctr" marL="54864" marR="54864" marT="27432" marB="27432">
                    <a:solidFill>
                      <a:srgbClr val="14325C"/>
                    </a:solidFill>
                  </a:tcPr>
                </a:tc>
                <a:tc>
                  <a:txBody>
                    <a:bodyPr/>
                    <a:lstStyle/>
                    <a:p>
                      <a:pPr algn="l"/>
                      <a:r>
                        <a:rPr sz="1100" b="1" i="0">
                          <a:solidFill>
                            <a:srgbClr val="FFFFFF"/>
                          </a:solidFill>
                          <a:latin typeface="Calibri"/>
                        </a:rPr>
                        <a:t>Operational Role in Clustering &amp; Prompting (RQ1–RQ4)</a:t>
                      </a:r>
                    </a:p>
                  </a:txBody>
                  <a:tcPr anchor="ctr" marL="54864" marR="54864" marT="27432" marB="27432">
                    <a:solidFill>
                      <a:srgbClr val="14325C"/>
                    </a:solidFill>
                  </a:tcPr>
                </a:tc>
              </a:tr>
              <a:tr h="400507">
                <a:tc>
                  <a:txBody>
                    <a:bodyPr/>
                    <a:lstStyle/>
                    <a:p>
                      <a:pPr algn="l"/>
                      <a:r>
                        <a:rPr sz="880" b="1" i="0">
                          <a:solidFill>
                            <a:srgbClr val="1E2430"/>
                          </a:solidFill>
                          <a:latin typeface="Calibri"/>
                        </a:rPr>
                        <a:t>Golden (n=933) / Held-Out (n=401) Share</a:t>
                      </a:r>
                    </a:p>
                  </a:txBody>
                  <a:tcPr anchor="ctr" marL="54864" marR="54864" marT="22860" marB="22860">
                    <a:solidFill>
                      <a:srgbClr val="E1F3E8"/>
                    </a:solidFill>
                  </a:tcPr>
                </a:tc>
                <a:tc>
                  <a:txBody>
                    <a:bodyPr/>
                    <a:lstStyle/>
                    <a:p>
                      <a:pPr algn="ctr"/>
                      <a:r>
                        <a:rPr sz="880" b="1" i="0">
                          <a:solidFill>
                            <a:srgbClr val="1E2430"/>
                          </a:solidFill>
                          <a:latin typeface="Calibri"/>
                        </a:rPr>
                        <a:t>420 (45.0%) / 165 (41.1%)</a:t>
                      </a:r>
                    </a:p>
                  </a:txBody>
                  <a:tcPr anchor="ctr" marL="54864" marR="54864" marT="22860" marB="22860">
                    <a:solidFill>
                      <a:srgbClr val="E1F3E8"/>
                    </a:solidFill>
                  </a:tcPr>
                </a:tc>
                <a:tc>
                  <a:txBody>
                    <a:bodyPr/>
                    <a:lstStyle/>
                    <a:p>
                      <a:pPr algn="ctr"/>
                      <a:r>
                        <a:rPr sz="880" b="1" i="0">
                          <a:solidFill>
                            <a:srgbClr val="1E2430"/>
                          </a:solidFill>
                          <a:latin typeface="Calibri"/>
                        </a:rPr>
                        <a:t>238 (25.5%) / 140 (34.9%)</a:t>
                      </a:r>
                    </a:p>
                  </a:txBody>
                  <a:tcPr anchor="ctr" marL="54864" marR="54864" marT="22860" marB="22860">
                    <a:solidFill>
                      <a:srgbClr val="E1F3E8"/>
                    </a:solidFill>
                  </a:tcPr>
                </a:tc>
                <a:tc>
                  <a:txBody>
                    <a:bodyPr/>
                    <a:lstStyle/>
                    <a:p>
                      <a:pPr algn="ctr"/>
                      <a:r>
                        <a:rPr sz="880" b="1" i="0">
                          <a:solidFill>
                            <a:srgbClr val="1E2430"/>
                          </a:solidFill>
                          <a:latin typeface="Calibri"/>
                        </a:rPr>
                        <a:t>275 (29.5%) / 96 (23.9%)</a:t>
                      </a:r>
                    </a:p>
                  </a:txBody>
                  <a:tcPr anchor="ctr" marL="54864" marR="54864" marT="22860" marB="22860">
                    <a:solidFill>
                      <a:srgbClr val="E1F3E8"/>
                    </a:solidFill>
                  </a:tcPr>
                </a:tc>
                <a:tc>
                  <a:txBody>
                    <a:bodyPr/>
                    <a:lstStyle/>
                    <a:p>
                      <a:pPr algn="l"/>
                      <a:r>
                        <a:rPr sz="880" b="1" i="0">
                          <a:solidFill>
                            <a:srgbClr val="1E2430"/>
                          </a:solidFill>
                          <a:latin typeface="Calibri"/>
                        </a:rPr>
                        <a:t>Balanced partition (smallest cluster = 25.5% &gt; 20% rule)</a:t>
                      </a:r>
                    </a:p>
                  </a:txBody>
                  <a:tcPr anchor="ctr" marL="54864" marR="54864" marT="22860" marB="22860">
                    <a:solidFill>
                      <a:srgbClr val="E1F3E8"/>
                    </a:solidFill>
                  </a:tcPr>
                </a:tc>
              </a:tr>
              <a:tr h="400507">
                <a:tc>
                  <a:txBody>
                    <a:bodyPr/>
                    <a:lstStyle/>
                    <a:p>
                      <a:pPr algn="l"/>
                      <a:r>
                        <a:rPr sz="880" b="0" i="0">
                          <a:solidFill>
                            <a:srgbClr val="1E2430"/>
                          </a:solidFill>
                          <a:latin typeface="Calibri"/>
                        </a:rPr>
                        <a:t>Total Turns M (SD) / User Turns M</a:t>
                      </a:r>
                    </a:p>
                  </a:txBody>
                  <a:tcPr anchor="ctr" marL="54864" marR="54864" marT="22860" marB="22860">
                    <a:solidFill>
                      <a:srgbClr val="F2F6FC"/>
                    </a:solidFill>
                  </a:tcPr>
                </a:tc>
                <a:tc>
                  <a:txBody>
                    <a:bodyPr/>
                    <a:lstStyle/>
                    <a:p>
                      <a:pPr algn="ctr"/>
                      <a:r>
                        <a:rPr sz="880" b="0" i="0">
                          <a:solidFill>
                            <a:srgbClr val="1E2430"/>
                          </a:solidFill>
                          <a:latin typeface="Calibri"/>
                        </a:rPr>
                        <a:t>14.96 (6.08) / 7.90</a:t>
                      </a:r>
                    </a:p>
                  </a:txBody>
                  <a:tcPr anchor="ctr" marL="54864" marR="54864" marT="22860" marB="22860">
                    <a:solidFill>
                      <a:srgbClr val="F2F6FC"/>
                    </a:solidFill>
                  </a:tcPr>
                </a:tc>
                <a:tc>
                  <a:txBody>
                    <a:bodyPr/>
                    <a:lstStyle/>
                    <a:p>
                      <a:pPr algn="ctr"/>
                      <a:r>
                        <a:rPr sz="880" b="0" i="0">
                          <a:solidFill>
                            <a:srgbClr val="1E2430"/>
                          </a:solidFill>
                          <a:latin typeface="Calibri"/>
                        </a:rPr>
                        <a:t>17.99 (6.65) / 9.48</a:t>
                      </a:r>
                    </a:p>
                  </a:txBody>
                  <a:tcPr anchor="ctr" marL="54864" marR="54864" marT="22860" marB="22860">
                    <a:solidFill>
                      <a:srgbClr val="F2F6FC"/>
                    </a:solidFill>
                  </a:tcPr>
                </a:tc>
                <a:tc>
                  <a:txBody>
                    <a:bodyPr/>
                    <a:lstStyle/>
                    <a:p>
                      <a:pPr algn="ctr"/>
                      <a:r>
                        <a:rPr sz="880" b="0" i="0">
                          <a:solidFill>
                            <a:srgbClr val="1E2430"/>
                          </a:solidFill>
                          <a:latin typeface="Calibri"/>
                        </a:rPr>
                        <a:t>10.64 (5.68) / 5.79</a:t>
                      </a:r>
                    </a:p>
                  </a:txBody>
                  <a:tcPr anchor="ctr" marL="54864" marR="54864" marT="22860" marB="22860">
                    <a:solidFill>
                      <a:srgbClr val="F2F6FC"/>
                    </a:solidFill>
                  </a:tcPr>
                </a:tc>
                <a:tc>
                  <a:txBody>
                    <a:bodyPr/>
                    <a:lstStyle/>
                    <a:p>
                      <a:pPr algn="l"/>
                      <a:r>
                        <a:rPr sz="880" b="0" i="0">
                          <a:solidFill>
                            <a:srgbClr val="1E2430"/>
                          </a:solidFill>
                          <a:latin typeface="Calibri"/>
                        </a:rPr>
                        <a:t>Explorers converse 69% longer than Rigid-Constraint Seekers</a:t>
                      </a:r>
                    </a:p>
                  </a:txBody>
                  <a:tcPr anchor="ctr" marL="54864" marR="54864" marT="22860" marB="22860">
                    <a:solidFill>
                      <a:srgbClr val="F2F6FC"/>
                    </a:solidFill>
                  </a:tcPr>
                </a:tc>
              </a:tr>
              <a:tr h="400507">
                <a:tc>
                  <a:txBody>
                    <a:bodyPr/>
                    <a:lstStyle/>
                    <a:p>
                      <a:pPr algn="l"/>
                      <a:r>
                        <a:rPr sz="880" b="1" i="0">
                          <a:solidFill>
                            <a:srgbClr val="1E2430"/>
                          </a:solidFill>
                          <a:latin typeface="Calibri"/>
                        </a:rPr>
                        <a:t>Fields 1–2 (ORD): Dest. / Date Flexibility</a:t>
                      </a:r>
                    </a:p>
                  </a:txBody>
                  <a:tcPr anchor="ctr" marL="54864" marR="54864" marT="22860" marB="22860">
                    <a:solidFill>
                      <a:srgbClr val="E1F3E8"/>
                    </a:solidFill>
                  </a:tcPr>
                </a:tc>
                <a:tc>
                  <a:txBody>
                    <a:bodyPr/>
                    <a:lstStyle/>
                    <a:p>
                      <a:pPr algn="ctr"/>
                      <a:r>
                        <a:rPr sz="880" b="1" i="0">
                          <a:solidFill>
                            <a:srgbClr val="1E2430"/>
                          </a:solidFill>
                          <a:latin typeface="Calibri"/>
                        </a:rPr>
                        <a:t>2.54 / 2.57 (Moderate)</a:t>
                      </a:r>
                    </a:p>
                  </a:txBody>
                  <a:tcPr anchor="ctr" marL="54864" marR="54864" marT="22860" marB="22860">
                    <a:solidFill>
                      <a:srgbClr val="E1F3E8"/>
                    </a:solidFill>
                  </a:tcPr>
                </a:tc>
                <a:tc>
                  <a:txBody>
                    <a:bodyPr/>
                    <a:lstStyle/>
                    <a:p>
                      <a:pPr algn="ctr"/>
                      <a:r>
                        <a:rPr sz="880" b="1" i="0">
                          <a:solidFill>
                            <a:srgbClr val="1E2430"/>
                          </a:solidFill>
                          <a:latin typeface="Calibri"/>
                        </a:rPr>
                        <a:t>3.49 / 2.77 (Open dest./dates)</a:t>
                      </a:r>
                    </a:p>
                  </a:txBody>
                  <a:tcPr anchor="ctr" marL="54864" marR="54864" marT="22860" marB="22860">
                    <a:solidFill>
                      <a:srgbClr val="E1F3E8"/>
                    </a:solidFill>
                  </a:tcPr>
                </a:tc>
                <a:tc>
                  <a:txBody>
                    <a:bodyPr/>
                    <a:lstStyle/>
                    <a:p>
                      <a:pPr algn="ctr"/>
                      <a:r>
                        <a:rPr sz="880" b="1" i="0">
                          <a:solidFill>
                            <a:srgbClr val="1E2430"/>
                          </a:solidFill>
                          <a:latin typeface="Calibri"/>
                        </a:rPr>
                        <a:t>2.20 / 2.18 (Fixed city &amp; dates)</a:t>
                      </a:r>
                    </a:p>
                  </a:txBody>
                  <a:tcPr anchor="ctr" marL="54864" marR="54864" marT="22860" marB="22860">
                    <a:solidFill>
                      <a:srgbClr val="E1F3E8"/>
                    </a:solidFill>
                  </a:tcPr>
                </a:tc>
                <a:tc>
                  <a:txBody>
                    <a:bodyPr/>
                    <a:lstStyle/>
                    <a:p>
                      <a:pPr algn="l"/>
                      <a:r>
                        <a:rPr sz="880" b="1" i="0">
                          <a:solidFill>
                            <a:srgbClr val="1E2430"/>
                          </a:solidFill>
                          <a:latin typeface="Calibri"/>
                        </a:rPr>
                        <a:t>Offer multi-city alternatives only to Open Explorers</a:t>
                      </a:r>
                    </a:p>
                  </a:txBody>
                  <a:tcPr anchor="ctr" marL="54864" marR="54864" marT="22860" marB="22860">
                    <a:solidFill>
                      <a:srgbClr val="E1F3E8"/>
                    </a:solidFill>
                  </a:tcPr>
                </a:tc>
              </a:tr>
              <a:tr h="400507">
                <a:tc>
                  <a:txBody>
                    <a:bodyPr/>
                    <a:lstStyle/>
                    <a:p>
                      <a:pPr algn="l"/>
                      <a:r>
                        <a:rPr sz="880" b="1" i="0">
                          <a:solidFill>
                            <a:srgbClr val="1E2430"/>
                          </a:solidFill>
                          <a:latin typeface="Calibri"/>
                        </a:rPr>
                        <a:t>Fields 3–4 (ORD): Exploration / Decisiveness</a:t>
                      </a:r>
                    </a:p>
                  </a:txBody>
                  <a:tcPr anchor="ctr" marL="54864" marR="54864" marT="22860" marB="22860">
                    <a:solidFill>
                      <a:srgbClr val="E1F3E8"/>
                    </a:solidFill>
                  </a:tcPr>
                </a:tc>
                <a:tc>
                  <a:txBody>
                    <a:bodyPr/>
                    <a:lstStyle/>
                    <a:p>
                      <a:pPr algn="ctr"/>
                      <a:r>
                        <a:rPr sz="880" b="1" i="0">
                          <a:solidFill>
                            <a:srgbClr val="1E2430"/>
                          </a:solidFill>
                          <a:latin typeface="Calibri"/>
                        </a:rPr>
                        <a:t>1.97 (Focused) / 3.97 (Decisive)</a:t>
                      </a:r>
                    </a:p>
                  </a:txBody>
                  <a:tcPr anchor="ctr" marL="54864" marR="54864" marT="22860" marB="22860">
                    <a:solidFill>
                      <a:srgbClr val="E1F3E8"/>
                    </a:solidFill>
                  </a:tcPr>
                </a:tc>
                <a:tc>
                  <a:txBody>
                    <a:bodyPr/>
                    <a:lstStyle/>
                    <a:p>
                      <a:pPr algn="ctr"/>
                      <a:r>
                        <a:rPr sz="880" b="1" i="0">
                          <a:solidFill>
                            <a:srgbClr val="1E2430"/>
                          </a:solidFill>
                          <a:latin typeface="Calibri"/>
                        </a:rPr>
                        <a:t>2.96 (Broad) / 2.58 (Deliberative)</a:t>
                      </a:r>
                    </a:p>
                  </a:txBody>
                  <a:tcPr anchor="ctr" marL="54864" marR="54864" marT="22860" marB="22860">
                    <a:solidFill>
                      <a:srgbClr val="E1F3E8"/>
                    </a:solidFill>
                  </a:tcPr>
                </a:tc>
                <a:tc>
                  <a:txBody>
                    <a:bodyPr/>
                    <a:lstStyle/>
                    <a:p>
                      <a:pPr algn="ctr"/>
                      <a:r>
                        <a:rPr sz="880" b="1" i="0">
                          <a:solidFill>
                            <a:srgbClr val="1E2430"/>
                          </a:solidFill>
                          <a:latin typeface="Calibri"/>
                        </a:rPr>
                        <a:t>1.59 (Narrow) / 3.23 (Firm)</a:t>
                      </a:r>
                    </a:p>
                  </a:txBody>
                  <a:tcPr anchor="ctr" marL="54864" marR="54864" marT="22860" marB="22860">
                    <a:solidFill>
                      <a:srgbClr val="E1F3E8"/>
                    </a:solidFill>
                  </a:tcPr>
                </a:tc>
                <a:tc>
                  <a:txBody>
                    <a:bodyPr/>
                    <a:lstStyle/>
                    <a:p>
                      <a:pPr algn="l"/>
                      <a:r>
                        <a:rPr sz="880" b="1" i="0">
                          <a:solidFill>
                            <a:srgbClr val="1E2430"/>
                          </a:solidFill>
                          <a:latin typeface="Calibri"/>
                        </a:rPr>
                        <a:t>Present 2–3 side-by-side options to Open Explorers</a:t>
                      </a:r>
                    </a:p>
                  </a:txBody>
                  <a:tcPr anchor="ctr" marL="54864" marR="54864" marT="22860" marB="22860">
                    <a:solidFill>
                      <a:srgbClr val="E1F3E8"/>
                    </a:solidFill>
                  </a:tcPr>
                </a:tc>
              </a:tr>
              <a:tr h="400507">
                <a:tc>
                  <a:txBody>
                    <a:bodyPr/>
                    <a:lstStyle/>
                    <a:p>
                      <a:pPr algn="l"/>
                      <a:r>
                        <a:rPr sz="880" b="0" i="0">
                          <a:solidFill>
                            <a:srgbClr val="1E2430"/>
                          </a:solidFill>
                          <a:latin typeface="Calibri"/>
                        </a:rPr>
                        <a:t>Fields 5–6 (ORD): Detail / Revision Tendency</a:t>
                      </a:r>
                    </a:p>
                  </a:txBody>
                  <a:tcPr anchor="ctr" marL="54864" marR="54864" marT="22860" marB="22860">
                    <a:solidFill>
                      <a:srgbClr val="FFFFFF"/>
                    </a:solidFill>
                  </a:tcPr>
                </a:tc>
                <a:tc>
                  <a:txBody>
                    <a:bodyPr/>
                    <a:lstStyle/>
                    <a:p>
                      <a:pPr algn="ctr"/>
                      <a:r>
                        <a:rPr sz="880" b="0" i="0">
                          <a:solidFill>
                            <a:srgbClr val="1E2430"/>
                          </a:solidFill>
                          <a:latin typeface="Calibri"/>
                        </a:rPr>
                        <a:t>2.39 / 2.00 (Low revisions)</a:t>
                      </a:r>
                    </a:p>
                  </a:txBody>
                  <a:tcPr anchor="ctr" marL="54864" marR="54864" marT="22860" marB="22860">
                    <a:solidFill>
                      <a:srgbClr val="FFFFFF"/>
                    </a:solidFill>
                  </a:tcPr>
                </a:tc>
                <a:tc>
                  <a:txBody>
                    <a:bodyPr/>
                    <a:lstStyle/>
                    <a:p>
                      <a:pPr algn="ctr"/>
                      <a:r>
                        <a:rPr sz="880" b="0" i="0">
                          <a:solidFill>
                            <a:srgbClr val="1E2430"/>
                          </a:solidFill>
                          <a:latin typeface="Calibri"/>
                        </a:rPr>
                        <a:t>2.87 / 3.03 (Frequent pivots)</a:t>
                      </a:r>
                    </a:p>
                  </a:txBody>
                  <a:tcPr anchor="ctr" marL="54864" marR="54864" marT="22860" marB="22860">
                    <a:solidFill>
                      <a:srgbClr val="FFFFFF"/>
                    </a:solidFill>
                  </a:tcPr>
                </a:tc>
                <a:tc>
                  <a:txBody>
                    <a:bodyPr/>
                    <a:lstStyle/>
                    <a:p>
                      <a:pPr algn="ctr"/>
                      <a:r>
                        <a:rPr sz="880" b="0" i="0">
                          <a:solidFill>
                            <a:srgbClr val="1E2430"/>
                          </a:solidFill>
                          <a:latin typeface="Calibri"/>
                        </a:rPr>
                        <a:t>1.46 / 2.40 (Constraint-focused)</a:t>
                      </a:r>
                    </a:p>
                  </a:txBody>
                  <a:tcPr anchor="ctr" marL="54864" marR="54864" marT="22860" marB="22860">
                    <a:solidFill>
                      <a:srgbClr val="FFFFFF"/>
                    </a:solidFill>
                  </a:tcPr>
                </a:tc>
                <a:tc>
                  <a:txBody>
                    <a:bodyPr/>
                    <a:lstStyle/>
                    <a:p>
                      <a:pPr algn="l"/>
                      <a:r>
                        <a:rPr sz="880" b="0" i="0">
                          <a:solidFill>
                            <a:srgbClr val="1E2430"/>
                          </a:solidFill>
                          <a:latin typeface="Calibri"/>
                        </a:rPr>
                        <a:t>Proactive dual trade-off framing for Rigid-Constraint Seekers</a:t>
                      </a:r>
                    </a:p>
                  </a:txBody>
                  <a:tcPr anchor="ctr" marL="54864" marR="54864" marT="22860" marB="22860">
                    <a:solidFill>
                      <a:srgbClr val="FFFFFF"/>
                    </a:solidFill>
                  </a:tcPr>
                </a:tc>
              </a:tr>
              <a:tr h="400507">
                <a:tc>
                  <a:txBody>
                    <a:bodyPr/>
                    <a:lstStyle/>
                    <a:p>
                      <a:pPr algn="l"/>
                      <a:r>
                        <a:rPr sz="880" b="0" i="0">
                          <a:solidFill>
                            <a:srgbClr val="1E2430"/>
                          </a:solidFill>
                          <a:latin typeface="Calibri"/>
                        </a:rPr>
                        <a:t>Fields 7–8 (ORD): Question Asking / Politeness</a:t>
                      </a:r>
                    </a:p>
                  </a:txBody>
                  <a:tcPr anchor="ctr" marL="54864" marR="54864" marT="22860" marB="22860">
                    <a:solidFill>
                      <a:srgbClr val="F2F6FC"/>
                    </a:solidFill>
                  </a:tcPr>
                </a:tc>
                <a:tc>
                  <a:txBody>
                    <a:bodyPr/>
                    <a:lstStyle/>
                    <a:p>
                      <a:pPr algn="ctr"/>
                      <a:r>
                        <a:rPr sz="880" b="0" i="0">
                          <a:solidFill>
                            <a:srgbClr val="1E2430"/>
                          </a:solidFill>
                          <a:latin typeface="Calibri"/>
                        </a:rPr>
                        <a:t>2.05 / 4.26 (Warm, direct)</a:t>
                      </a:r>
                    </a:p>
                  </a:txBody>
                  <a:tcPr anchor="ctr" marL="54864" marR="54864" marT="22860" marB="22860">
                    <a:solidFill>
                      <a:srgbClr val="F2F6FC"/>
                    </a:solidFill>
                  </a:tcPr>
                </a:tc>
                <a:tc>
                  <a:txBody>
                    <a:bodyPr/>
                    <a:lstStyle/>
                    <a:p>
                      <a:pPr algn="ctr"/>
                      <a:r>
                        <a:rPr sz="880" b="0" i="0">
                          <a:solidFill>
                            <a:srgbClr val="1E2430"/>
                          </a:solidFill>
                          <a:latin typeface="Calibri"/>
                        </a:rPr>
                        <a:t>2.72 / 3.80 (Inquisitive)</a:t>
                      </a:r>
                    </a:p>
                  </a:txBody>
                  <a:tcPr anchor="ctr" marL="54864" marR="54864" marT="22860" marB="22860">
                    <a:solidFill>
                      <a:srgbClr val="F2F6FC"/>
                    </a:solidFill>
                  </a:tcPr>
                </a:tc>
                <a:tc>
                  <a:txBody>
                    <a:bodyPr/>
                    <a:lstStyle/>
                    <a:p>
                      <a:pPr algn="ctr"/>
                      <a:r>
                        <a:rPr sz="880" b="0" i="0">
                          <a:solidFill>
                            <a:srgbClr val="1E2430"/>
                          </a:solidFill>
                          <a:latin typeface="Calibri"/>
                        </a:rPr>
                        <a:t>1.43 / 3.07 (Terse, direct)</a:t>
                      </a:r>
                    </a:p>
                  </a:txBody>
                  <a:tcPr anchor="ctr" marL="54864" marR="54864" marT="22860" marB="22860">
                    <a:solidFill>
                      <a:srgbClr val="F2F6FC"/>
                    </a:solidFill>
                  </a:tcPr>
                </a:tc>
                <a:tc>
                  <a:txBody>
                    <a:bodyPr/>
                    <a:lstStyle/>
                    <a:p>
                      <a:pPr algn="l"/>
                      <a:r>
                        <a:rPr sz="880" b="0" i="0">
                          <a:solidFill>
                            <a:srgbClr val="1E2430"/>
                          </a:solidFill>
                          <a:latin typeface="Calibri"/>
                        </a:rPr>
                        <a:t>Fast booking confirmation for Decisive Bookers</a:t>
                      </a:r>
                    </a:p>
                  </a:txBody>
                  <a:tcPr anchor="ctr" marL="54864" marR="54864" marT="22860" marB="22860">
                    <a:solidFill>
                      <a:srgbClr val="F2F6FC"/>
                    </a:solidFill>
                  </a:tcPr>
                </a:tc>
              </a:tr>
              <a:tr h="400507">
                <a:tc>
                  <a:txBody>
                    <a:bodyPr/>
                    <a:lstStyle/>
                    <a:p>
                      <a:pPr algn="l"/>
                      <a:r>
                        <a:rPr sz="880" b="0" i="0">
                          <a:solidFill>
                            <a:srgbClr val="1E2430"/>
                          </a:solidFill>
                          <a:latin typeface="Calibri"/>
                        </a:rPr>
                        <a:t>Fields 9–10 (ORD): Price Sens. / Info Upfront</a:t>
                      </a:r>
                    </a:p>
                  </a:txBody>
                  <a:tcPr anchor="ctr" marL="54864" marR="54864" marT="22860" marB="22860">
                    <a:solidFill>
                      <a:srgbClr val="FFFFFF"/>
                    </a:solidFill>
                  </a:tcPr>
                </a:tc>
                <a:tc>
                  <a:txBody>
                    <a:bodyPr/>
                    <a:lstStyle/>
                    <a:p>
                      <a:pPr algn="ctr"/>
                      <a:r>
                        <a:rPr sz="880" b="0" i="0">
                          <a:solidFill>
                            <a:srgbClr val="1E2430"/>
                          </a:solidFill>
                          <a:latin typeface="Calibri"/>
                        </a:rPr>
                        <a:t>3.20 / 2.18 (Stated early)</a:t>
                      </a:r>
                    </a:p>
                  </a:txBody>
                  <a:tcPr anchor="ctr" marL="54864" marR="54864" marT="22860" marB="22860">
                    <a:solidFill>
                      <a:srgbClr val="FFFFFF"/>
                    </a:solidFill>
                  </a:tcPr>
                </a:tc>
                <a:tc>
                  <a:txBody>
                    <a:bodyPr/>
                    <a:lstStyle/>
                    <a:p>
                      <a:pPr algn="ctr"/>
                      <a:r>
                        <a:rPr sz="880" b="0" i="0">
                          <a:solidFill>
                            <a:srgbClr val="1E2430"/>
                          </a:solidFill>
                          <a:latin typeface="Calibri"/>
                        </a:rPr>
                        <a:t>3.18 / 1.82 (Gradual disclosure)</a:t>
                      </a:r>
                    </a:p>
                  </a:txBody>
                  <a:tcPr anchor="ctr" marL="54864" marR="54864" marT="22860" marB="22860">
                    <a:solidFill>
                      <a:srgbClr val="FFFFFF"/>
                    </a:solidFill>
                  </a:tcPr>
                </a:tc>
                <a:tc>
                  <a:txBody>
                    <a:bodyPr/>
                    <a:lstStyle/>
                    <a:p>
                      <a:pPr algn="ctr"/>
                      <a:r>
                        <a:rPr sz="880" b="0" i="0">
                          <a:solidFill>
                            <a:srgbClr val="1E2430"/>
                          </a:solidFill>
                          <a:latin typeface="Calibri"/>
                        </a:rPr>
                        <a:t>3.12 / 2.16 (Hard ceiling)</a:t>
                      </a:r>
                    </a:p>
                  </a:txBody>
                  <a:tcPr anchor="ctr" marL="54864" marR="54864" marT="22860" marB="22860">
                    <a:solidFill>
                      <a:srgbClr val="FFFFFF"/>
                    </a:solidFill>
                  </a:tcPr>
                </a:tc>
                <a:tc>
                  <a:txBody>
                    <a:bodyPr/>
                    <a:lstStyle/>
                    <a:p>
                      <a:pPr algn="l"/>
                      <a:r>
                        <a:rPr sz="880" b="0" i="0">
                          <a:solidFill>
                            <a:srgbClr val="1E2430"/>
                          </a:solidFill>
                          <a:latin typeface="Calibri"/>
                        </a:rPr>
                        <a:t>Calibrate budget-ceiling and package-tier emphasis</a:t>
                      </a:r>
                    </a:p>
                  </a:txBody>
                  <a:tcPr anchor="ctr" marL="54864" marR="54864" marT="22860" marB="22860">
                    <a:solidFill>
                      <a:srgbClr val="FFFFFF"/>
                    </a:solidFill>
                  </a:tcPr>
                </a:tc>
              </a:tr>
              <a:tr h="400507">
                <a:tc>
                  <a:txBody>
                    <a:bodyPr/>
                    <a:lstStyle/>
                    <a:p>
                      <a:pPr algn="l"/>
                      <a:r>
                        <a:rPr sz="880" b="1" i="0">
                          <a:solidFill>
                            <a:srgbClr val="1E2430"/>
                          </a:solidFill>
                          <a:latin typeface="Calibri"/>
                        </a:rPr>
                        <a:t>Fields 11–13 (CAT Cluster): Goal / Sec. / Tone</a:t>
                      </a:r>
                    </a:p>
                  </a:txBody>
                  <a:tcPr anchor="ctr" marL="54864" marR="54864" marT="22860" marB="22860">
                    <a:solidFill>
                      <a:srgbClr val="E1F3E8"/>
                    </a:solidFill>
                  </a:tcPr>
                </a:tc>
                <a:tc>
                  <a:txBody>
                    <a:bodyPr/>
                    <a:lstStyle/>
                    <a:p>
                      <a:pPr algn="ctr"/>
                      <a:r>
                        <a:rPr sz="880" b="1" i="0">
                          <a:solidFill>
                            <a:srgbClr val="1E2430"/>
                          </a:solidFill>
                          <a:latin typeface="Calibri"/>
                        </a:rPr>
                        <a:t>0.5% Exp, 99.3% Book | 42.4% | 52.4% Pos</a:t>
                      </a:r>
                    </a:p>
                  </a:txBody>
                  <a:tcPr anchor="ctr" marL="54864" marR="54864" marT="22860" marB="22860">
                    <a:solidFill>
                      <a:srgbClr val="E1F3E8"/>
                    </a:solidFill>
                  </a:tcPr>
                </a:tc>
                <a:tc>
                  <a:txBody>
                    <a:bodyPr/>
                    <a:lstStyle/>
                    <a:p>
                      <a:pPr algn="ctr"/>
                      <a:r>
                        <a:rPr sz="880" b="1" i="0">
                          <a:solidFill>
                            <a:srgbClr val="1E2430"/>
                          </a:solidFill>
                          <a:latin typeface="Calibri"/>
                        </a:rPr>
                        <a:t>39.1% Exp, 50.8% Book | 56.3% | 69.3% Neut</a:t>
                      </a:r>
                    </a:p>
                  </a:txBody>
                  <a:tcPr anchor="ctr" marL="54864" marR="54864" marT="22860" marB="22860">
                    <a:solidFill>
                      <a:srgbClr val="E1F3E8"/>
                    </a:solidFill>
                  </a:tcPr>
                </a:tc>
                <a:tc>
                  <a:txBody>
                    <a:bodyPr/>
                    <a:lstStyle/>
                    <a:p>
                      <a:pPr algn="ctr"/>
                      <a:r>
                        <a:rPr sz="880" b="1" i="0">
                          <a:solidFill>
                            <a:srgbClr val="1E2430"/>
                          </a:solidFill>
                          <a:latin typeface="Calibri"/>
                        </a:rPr>
                        <a:t>2.2% Exp, 89.8% Book | 16.4% | 7.6% Pos</a:t>
                      </a:r>
                    </a:p>
                  </a:txBody>
                  <a:tcPr anchor="ctr" marL="54864" marR="54864" marT="22860" marB="22860">
                    <a:solidFill>
                      <a:srgbClr val="E1F3E8"/>
                    </a:solidFill>
                  </a:tcPr>
                </a:tc>
                <a:tc>
                  <a:txBody>
                    <a:bodyPr/>
                    <a:lstStyle/>
                    <a:p>
                      <a:pPr algn="l"/>
                      <a:r>
                        <a:rPr sz="880" b="1" i="0">
                          <a:solidFill>
                            <a:srgbClr val="1E2430"/>
                          </a:solidFill>
                          <a:latin typeface="Calibri"/>
                        </a:rPr>
                        <a:t>One-hot / binary features in 21-d LLM behavioral matrix</a:t>
                      </a:r>
                    </a:p>
                  </a:txBody>
                  <a:tcPr anchor="ctr" marL="54864" marR="54864" marT="22860" marB="22860">
                    <a:solidFill>
                      <a:srgbClr val="E1F3E8"/>
                    </a:solidFill>
                  </a:tcPr>
                </a:tc>
              </a:tr>
              <a:tr h="400509">
                <a:tc>
                  <a:txBody>
                    <a:bodyPr/>
                    <a:lstStyle/>
                    <a:p>
                      <a:pPr algn="l"/>
                      <a:r>
                        <a:rPr sz="880" b="1" i="0">
                          <a:solidFill>
                            <a:srgbClr val="1E2430"/>
                          </a:solidFill>
                          <a:latin typeface="Calibri"/>
                        </a:rPr>
                        <a:t>Fields 14–16 (AUDIT Only): Outcome / Party / Flag</a:t>
                      </a:r>
                    </a:p>
                  </a:txBody>
                  <a:tcPr anchor="ctr" marL="54864" marR="54864" marT="22860" marB="22860">
                    <a:solidFill>
                      <a:srgbClr val="E1F3E8"/>
                    </a:solidFill>
                  </a:tcPr>
                </a:tc>
                <a:tc>
                  <a:txBody>
                    <a:bodyPr/>
                    <a:lstStyle/>
                    <a:p>
                      <a:pPr algn="ctr"/>
                      <a:r>
                        <a:rPr sz="880" b="1" i="0">
                          <a:solidFill>
                            <a:srgbClr val="1E2430"/>
                          </a:solidFill>
                          <a:latin typeface="Calibri"/>
                        </a:rPr>
                        <a:t>90.5% Booked | 37.1% Solo/Cpl | 1.0% Flag</a:t>
                      </a:r>
                    </a:p>
                  </a:txBody>
                  <a:tcPr anchor="ctr" marL="54864" marR="54864" marT="22860" marB="22860">
                    <a:solidFill>
                      <a:srgbClr val="E1F3E8"/>
                    </a:solidFill>
                  </a:tcPr>
                </a:tc>
                <a:tc>
                  <a:txBody>
                    <a:bodyPr/>
                    <a:lstStyle/>
                    <a:p>
                      <a:pPr algn="ctr"/>
                      <a:r>
                        <a:rPr sz="880" b="1" i="0">
                          <a:solidFill>
                            <a:srgbClr val="1E2430"/>
                          </a:solidFill>
                          <a:latin typeface="Calibri"/>
                        </a:rPr>
                        <a:t>68.1% Booked | 44.5% Solo/Cpl | 1.7% Flag</a:t>
                      </a:r>
                    </a:p>
                  </a:txBody>
                  <a:tcPr anchor="ctr" marL="54864" marR="54864" marT="22860" marB="22860">
                    <a:solidFill>
                      <a:srgbClr val="E1F3E8"/>
                    </a:solidFill>
                  </a:tcPr>
                </a:tc>
                <a:tc>
                  <a:txBody>
                    <a:bodyPr/>
                    <a:lstStyle/>
                    <a:p>
                      <a:pPr algn="ctr"/>
                      <a:r>
                        <a:rPr sz="880" b="1" i="0">
                          <a:solidFill>
                            <a:srgbClr val="1E2430"/>
                          </a:solidFill>
                          <a:latin typeface="Calibri"/>
                        </a:rPr>
                        <a:t>28.0% Booked (68.0% None) | 34.5% | 6.9%</a:t>
                      </a:r>
                    </a:p>
                  </a:txBody>
                  <a:tcPr anchor="ctr" marL="54864" marR="54864" marT="22860" marB="22860">
                    <a:solidFill>
                      <a:srgbClr val="E1F3E8"/>
                    </a:solidFill>
                  </a:tcPr>
                </a:tc>
                <a:tc>
                  <a:txBody>
                    <a:bodyPr/>
                    <a:lstStyle/>
                    <a:p>
                      <a:pPr algn="l"/>
                      <a:r>
                        <a:rPr sz="880" b="1" i="0">
                          <a:solidFill>
                            <a:srgbClr val="1E2430"/>
                          </a:solidFill>
                          <a:latin typeface="Calibri"/>
                        </a:rPr>
                        <a:t>Excluded from clustering to prevent outcome leakage!</a:t>
                      </a:r>
                    </a:p>
                  </a:txBody>
                  <a:tcPr anchor="ctr" marL="54864" marR="54864" marT="22860" marB="22860">
                    <a:solidFill>
                      <a:srgbClr val="E1F3E8"/>
                    </a:solidFill>
                  </a:tcPr>
                </a:tc>
              </a:tr>
            </a:tbl>
          </a:graphicData>
        </a:graphic>
      </p:graphicFrame>
      <p:sp>
        <p:nvSpPr>
          <p:cNvPr id="12" name="Rounded Rectangle 11"/>
          <p:cNvSpPr/>
          <p:nvPr/>
        </p:nvSpPr>
        <p:spPr>
          <a:xfrm>
            <a:off x="320040" y="5440680"/>
            <a:ext cx="11548872" cy="1005840"/>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000" b="1" i="0">
                <a:solidFill>
                  <a:srgbClr val="1E2430"/>
                </a:solidFill>
                <a:latin typeface="Calibri"/>
              </a:rPr>
              <a:t>Key Distinction — Total Turns (T) vs. User Messages (M), and Offline Cap (M = 9) vs. Runtime Routing (M = 5 in RQ2):</a:t>
            </a:r>
            <a:r>
              <a:rPr sz="1000" b="0" i="0">
                <a:solidFill>
                  <a:srgbClr val="1E2430"/>
                </a:solidFill>
                <a:latin typeface="Calibri"/>
              </a:rPr>
              <a:t>
In Frames (</a:t>
            </a:r>
            <a:r>
              <a:rPr sz="1000" b="0" i="1">
                <a:solidFill>
                  <a:srgbClr val="1E2430"/>
                </a:solidFill>
                <a:latin typeface="Calibri"/>
              </a:rPr>
              <a:t>N</a:t>
            </a:r>
            <a:r>
              <a:rPr sz="1000" b="0" i="0">
                <a:solidFill>
                  <a:srgbClr val="1E2430"/>
                </a:solidFill>
                <a:latin typeface="Calibri"/>
              </a:rPr>
              <a:t> = 1,334), </a:t>
            </a:r>
            <a:r>
              <a:rPr sz="1000" b="1" i="0">
                <a:solidFill>
                  <a:srgbClr val="1E2430"/>
                </a:solidFill>
                <a:latin typeface="Calibri"/>
              </a:rPr>
              <a:t>total turns (T = User + Agent) average 14.93 (83.2% have ≥ 9 total turns / ≥ 5 user messages)</a:t>
            </a:r>
            <a:r>
              <a:rPr sz="1000" b="0" i="0">
                <a:solidFill>
                  <a:srgbClr val="1E2430"/>
                </a:solidFill>
                <a:latin typeface="Calibri"/>
              </a:rPr>
              <a:t>, while user-only messages average 7.78 (37.6% ≥ 9 user messages). Offline clustering uses `min(user_turns, 9)` to strip checkout outcome leakage from long chats while keeping all user turns for shorter chats. At runtime, routing is progressive: </a:t>
            </a:r>
            <a:r>
              <a:rPr sz="1000" b="1" i="0">
                <a:solidFill>
                  <a:srgbClr val="1E2430"/>
                </a:solidFill>
                <a:latin typeface="Calibri"/>
              </a:rPr>
              <a:t>M = 3 (≈5 turns): 59.4% (κ = .359)</a:t>
            </a:r>
            <a:r>
              <a:rPr sz="1000" b="0" i="0">
                <a:solidFill>
                  <a:srgbClr val="1E2430"/>
                </a:solidFill>
                <a:latin typeface="Calibri"/>
              </a:rPr>
              <a:t> → </a:t>
            </a:r>
            <a:r>
              <a:rPr sz="1000" b="1" i="0">
                <a:solidFill>
                  <a:srgbClr val="1E2430"/>
                </a:solidFill>
                <a:latin typeface="Calibri"/>
              </a:rPr>
              <a:t>M = 5 (≈9 turns, used in RQ2): 70.1% (κ = .535; 81.8% on &lt;5-msg &amp; 67.8% on ≥5-msg chats)</a:t>
            </a:r>
            <a:r>
              <a:rPr sz="1000" b="0" i="0">
                <a:solidFill>
                  <a:srgbClr val="1E2430"/>
                </a:solidFill>
                <a:latin typeface="Calibri"/>
              </a:rPr>
              <a:t> → </a:t>
            </a:r>
            <a:r>
              <a:rPr sz="1000" b="1" i="0">
                <a:solidFill>
                  <a:srgbClr val="1E2430"/>
                </a:solidFill>
                <a:latin typeface="Calibri"/>
              </a:rPr>
              <a:t>M = 7: 82.0%</a:t>
            </a:r>
            <a:r>
              <a:rPr sz="1000" b="0" i="0">
                <a:solidFill>
                  <a:srgbClr val="1E2430"/>
                </a:solidFill>
                <a:latin typeface="Calibri"/>
              </a:rPr>
              <a:t> → </a:t>
            </a:r>
            <a:r>
              <a:rPr sz="1000" b="1" i="0">
                <a:solidFill>
                  <a:srgbClr val="1E2430"/>
                </a:solidFill>
                <a:latin typeface="Calibri"/>
              </a:rPr>
              <a:t>M = 9: 97.3% (96.0% on ≤9 &amp; 99.3% on ≥9 user msgs)</a:t>
            </a:r>
            <a:r>
              <a:rPr sz="1000" b="0" i="0">
                <a:solidFill>
                  <a:srgbClr val="1E2430"/>
                </a:solidFill>
                <a:latin typeface="Calibr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(RQ2)</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26</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RQ2 (Part 1): The Causal Contrast Between Primary (p = .211) and Refined (p &lt; .001) Archetypes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Figures E2 &amp; 6: Proving that in-context style adaptation succeeds if and only if upstream routing is coherent</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1842516"/>
            <a:ext cx="5696712" cy="2322576"/>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2_results.png"/>
          <p:cNvPicPr>
            <a:picLocks noChangeAspect="1"/>
          </p:cNvPicPr>
          <p:nvPr/>
        </p:nvPicPr>
        <p:blipFill>
          <a:blip r:embed="rId3"/>
          <a:stretch>
            <a:fillRect/>
          </a:stretch>
        </p:blipFill>
        <p:spPr>
          <a:xfrm>
            <a:off x="320040" y="1879092"/>
            <a:ext cx="5623560" cy="2249424"/>
          </a:xfrm>
          <a:prstGeom prst="rect">
            <a:avLst/>
          </a:prstGeom>
        </p:spPr>
      </p:pic>
      <p:sp>
        <p:nvSpPr>
          <p:cNvPr id="13" name="TextBox 12"/>
          <p:cNvSpPr txBox="1"/>
          <p:nvPr/>
        </p:nvSpPr>
        <p:spPr>
          <a:xfrm>
            <a:off x="320040" y="4636008"/>
            <a:ext cx="5623560" cy="256032"/>
          </a:xfrm>
          <a:prstGeom prst="rect">
            <a:avLst/>
          </a:prstGeom>
          <a:noFill/>
        </p:spPr>
        <p:txBody>
          <a:bodyPr wrap="square">
            <a:spAutoFit/>
          </a:bodyPr>
          <a:lstStyle/>
          <a:p>
            <a:pPr algn="ctr"/>
            <a:r>
              <a:rPr sz="950" b="0" i="1">
                <a:solidFill>
                  <a:srgbClr val="5A6577"/>
                </a:solidFill>
                <a:latin typeface="Calibri"/>
              </a:rPr>
              <a:t>Figure E2 (Interim Primary Archetypes, Routing κ = .24): Style Cosine F = 1.61, p = .211 (Null)</a:t>
            </a:r>
          </a:p>
        </p:txBody>
      </p:sp>
      <p:sp>
        <p:nvSpPr>
          <p:cNvPr id="14" name="Rectangle 13"/>
          <p:cNvSpPr/>
          <p:nvPr/>
        </p:nvSpPr>
        <p:spPr>
          <a:xfrm>
            <a:off x="6181344" y="2054375"/>
            <a:ext cx="5724144" cy="1898857"/>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_rq2_refined_results.png"/>
          <p:cNvPicPr>
            <a:picLocks noChangeAspect="1"/>
          </p:cNvPicPr>
          <p:nvPr/>
        </p:nvPicPr>
        <p:blipFill>
          <a:blip r:embed="rId4"/>
          <a:stretch>
            <a:fillRect/>
          </a:stretch>
        </p:blipFill>
        <p:spPr>
          <a:xfrm>
            <a:off x="6217920" y="2090951"/>
            <a:ext cx="5650992" cy="1825705"/>
          </a:xfrm>
          <a:prstGeom prst="rect">
            <a:avLst/>
          </a:prstGeom>
        </p:spPr>
      </p:pic>
      <p:sp>
        <p:nvSpPr>
          <p:cNvPr id="16" name="TextBox 15"/>
          <p:cNvSpPr txBox="1"/>
          <p:nvPr/>
        </p:nvSpPr>
        <p:spPr>
          <a:xfrm>
            <a:off x="6217920" y="4636008"/>
            <a:ext cx="5650992" cy="256032"/>
          </a:xfrm>
          <a:prstGeom prst="rect">
            <a:avLst/>
          </a:prstGeom>
          <a:noFill/>
        </p:spPr>
        <p:txBody>
          <a:bodyPr wrap="square">
            <a:spAutoFit/>
          </a:bodyPr>
          <a:lstStyle/>
          <a:p>
            <a:pPr algn="ctr"/>
            <a:r>
              <a:rPr sz="950" b="0" i="1">
                <a:solidFill>
                  <a:srgbClr val="5A6577"/>
                </a:solidFill>
                <a:latin typeface="Calibri"/>
              </a:rPr>
              <a:t>Figure 6 (Final Refined Archetypes, Blocks Router κ = .535): Style Cosine F = 9.79, p &lt; .001 (Reject H02!)</a:t>
            </a:r>
          </a:p>
        </p:txBody>
      </p:sp>
      <p:sp>
        <p:nvSpPr>
          <p:cNvPr id="17" name="Rounded Rectangle 16"/>
          <p:cNvSpPr/>
          <p:nvPr/>
        </p:nvSpPr>
        <p:spPr>
          <a:xfrm>
            <a:off x="320040" y="4983480"/>
            <a:ext cx="5623560" cy="1463040"/>
          </a:xfrm>
          <a:prstGeom prst="roundRect">
            <a:avLst>
              <a:gd name="adj" fmla="val 2000"/>
            </a:avLst>
          </a:prstGeom>
          <a:solidFill>
            <a:srgbClr val="FDEEEC"/>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4983480"/>
            <a:ext cx="5623560"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Why Primary RQ2 Yielded a Null Style Effect (p = .211)</a:t>
            </a:r>
          </a:p>
        </p:txBody>
      </p:sp>
      <p:sp>
        <p:nvSpPr>
          <p:cNvPr id="19" name="TextBox 18"/>
          <p:cNvSpPr txBox="1"/>
          <p:nvPr/>
        </p:nvSpPr>
        <p:spPr>
          <a:xfrm>
            <a:off x="411479" y="5367528"/>
            <a:ext cx="5440680" cy="1024128"/>
          </a:xfrm>
          <a:prstGeom prst="rect">
            <a:avLst/>
          </a:prstGeom>
          <a:noFill/>
        </p:spPr>
        <p:txBody>
          <a:bodyPr wrap="square" lIns="36576" rIns="36576" tIns="18288" bIns="18288">
            <a:spAutoFit/>
          </a:bodyPr>
          <a:lstStyle/>
          <a:p>
            <a:pPr>
              <a:spcAft>
                <a:spcPts val="400"/>
              </a:spcAft>
            </a:pPr>
            <a:r>
              <a:rPr sz="1019" b="0" i="0">
                <a:solidFill>
                  <a:srgbClr val="1E2430"/>
                </a:solidFill>
                <a:latin typeface="Calibri"/>
              </a:rPr>
              <a:t>• </a:t>
            </a:r>
            <a:r>
              <a:rPr sz="1019" b="1" i="0">
                <a:solidFill>
                  <a:srgbClr val="1E2430"/>
                </a:solidFill>
                <a:latin typeface="Calibri"/>
              </a:rPr>
              <a:t>1. Near-Chance Prefix Routing (39.4%, κ = .24):</a:t>
            </a:r>
            <a:r>
              <a:rPr sz="1019" b="0" i="0">
                <a:solidFill>
                  <a:srgbClr val="1E2430"/>
                </a:solidFill>
                <a:latin typeface="Calibri"/>
              </a:rPr>
              <a:t> 60.6% of held-out dialogues were routed to the </a:t>
            </a:r>
            <a:r>
              <a:rPr sz="1019" b="0" i="1">
                <a:solidFill>
                  <a:srgbClr val="1E2430"/>
                </a:solidFill>
                <a:latin typeface="Calibri"/>
              </a:rPr>
              <a:t>wrong</a:t>
            </a:r>
            <a:r>
              <a:rPr sz="1019" b="0" i="0">
                <a:solidFill>
                  <a:srgbClr val="1E2430"/>
                </a:solidFill>
                <a:latin typeface="Calibri"/>
              </a:rPr>
              <a:t> primary cluster at Turn 3.</a:t>
            </a:r>
          </a:p>
          <a:p>
            <a:pPr>
              <a:spcAft>
                <a:spcPts val="400"/>
              </a:spcAft>
            </a:pPr>
            <a:r>
              <a:rPr sz="1019" b="0" i="0">
                <a:solidFill>
                  <a:srgbClr val="1E2430"/>
                </a:solidFill>
                <a:latin typeface="Calibri"/>
              </a:rPr>
              <a:t>• </a:t>
            </a:r>
            <a:r>
              <a:rPr sz="1019" b="1" i="0">
                <a:solidFill>
                  <a:srgbClr val="1E2430"/>
                </a:solidFill>
                <a:latin typeface="Calibri"/>
              </a:rPr>
              <a:t>2. Conflated Exemplar Pools:</a:t>
            </a:r>
            <a:r>
              <a:rPr sz="1019" b="0" i="0">
                <a:solidFill>
                  <a:srgbClr val="1E2430"/>
                </a:solidFill>
                <a:latin typeface="Calibri"/>
              </a:rPr>
              <a:t> Because primary clusters mixed user and wizard turns across whole sessions, retrieving from a cluster's FAISS pool fed mismatched examples into the prompt.</a:t>
            </a:r>
          </a:p>
        </p:txBody>
      </p:sp>
      <p:sp>
        <p:nvSpPr>
          <p:cNvPr id="20" name="Rounded Rectangle 19"/>
          <p:cNvSpPr/>
          <p:nvPr/>
        </p:nvSpPr>
        <p:spPr>
          <a:xfrm>
            <a:off x="6217920" y="4983480"/>
            <a:ext cx="5650992" cy="1463040"/>
          </a:xfrm>
          <a:prstGeom prst="roundRect">
            <a:avLst>
              <a:gd name="adj" fmla="val 2000"/>
            </a:avLst>
          </a:prstGeom>
          <a:solidFill>
            <a:srgbClr val="EBF7F0"/>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4983480"/>
            <a:ext cx="565099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Why Refined RQ2 Decisively Rejected H02 (p &lt; .001)</a:t>
            </a:r>
          </a:p>
        </p:txBody>
      </p:sp>
      <p:sp>
        <p:nvSpPr>
          <p:cNvPr id="22" name="TextBox 21"/>
          <p:cNvSpPr txBox="1"/>
          <p:nvPr/>
        </p:nvSpPr>
        <p:spPr>
          <a:xfrm>
            <a:off x="6309359" y="5367528"/>
            <a:ext cx="5468112" cy="1024128"/>
          </a:xfrm>
          <a:prstGeom prst="rect">
            <a:avLst/>
          </a:prstGeom>
          <a:noFill/>
        </p:spPr>
        <p:txBody>
          <a:bodyPr wrap="square" lIns="36576" rIns="36576" tIns="18288" bIns="18288">
            <a:spAutoFit/>
          </a:bodyPr>
          <a:lstStyle/>
          <a:p>
            <a:pPr>
              <a:spcAft>
                <a:spcPts val="400"/>
              </a:spcAft>
            </a:pPr>
            <a:r>
              <a:rPr sz="1019" b="0" i="0">
                <a:solidFill>
                  <a:srgbClr val="1E2430"/>
                </a:solidFill>
                <a:latin typeface="Calibri"/>
              </a:rPr>
              <a:t>• </a:t>
            </a:r>
            <a:r>
              <a:rPr sz="1019" b="1" i="0">
                <a:solidFill>
                  <a:srgbClr val="1E2430"/>
                </a:solidFill>
                <a:latin typeface="Calibri"/>
              </a:rPr>
              <a:t>1. Accurate `Blocks` Prefix Routing (70.1%, κ = .535 at M = 5):</a:t>
            </a:r>
            <a:r>
              <a:rPr sz="1019" b="0" i="0">
                <a:solidFill>
                  <a:srgbClr val="1E2430"/>
                </a:solidFill>
                <a:latin typeface="Calibri"/>
              </a:rPr>
              <a:t> Test dialogues were routed to their true behavioral archetype.</a:t>
            </a:r>
          </a:p>
          <a:p>
            <a:pPr>
              <a:spcAft>
                <a:spcPts val="400"/>
              </a:spcAft>
            </a:pPr>
            <a:r>
              <a:rPr sz="1019" b="0" i="0">
                <a:solidFill>
                  <a:srgbClr val="1E2430"/>
                </a:solidFill>
                <a:latin typeface="Calibri"/>
              </a:rPr>
              <a:t>• </a:t>
            </a:r>
            <a:r>
              <a:rPr sz="1019" b="1" i="0">
                <a:solidFill>
                  <a:srgbClr val="1E2430"/>
                </a:solidFill>
                <a:latin typeface="Calibri"/>
              </a:rPr>
              <a:t>2. Coherent Sub-Indices &amp; Pacing Directives:</a:t>
            </a:r>
            <a:r>
              <a:rPr sz="1019" b="0" i="0">
                <a:solidFill>
                  <a:srgbClr val="1E2430"/>
                </a:solidFill>
                <a:latin typeface="Calibri"/>
              </a:rPr>
              <a:t> Retrieving </a:t>
            </a:r>
            <a:r>
              <a:rPr sz="1019" b="0" i="1">
                <a:solidFill>
                  <a:srgbClr val="1E2430"/>
                </a:solidFill>
                <a:latin typeface="Calibri"/>
              </a:rPr>
              <a:t>k</a:t>
            </a:r>
            <a:r>
              <a:rPr sz="1019" b="0" i="0">
                <a:solidFill>
                  <a:srgbClr val="1E2430"/>
                </a:solidFill>
                <a:latin typeface="Calibri"/>
              </a:rPr>
              <a:t> = 3 slot-masked exemplars from the matched refined archetype boosted style convergence (</a:t>
            </a:r>
            <a:r>
              <a:rPr sz="1019" b="1" i="0">
                <a:solidFill>
                  <a:srgbClr val="1E2430"/>
                </a:solidFill>
                <a:latin typeface="Calibri"/>
              </a:rPr>
              <a:t>F = 9.79, p &lt; .001</a:t>
            </a:r>
            <a:r>
              <a:rPr sz="1019" b="0" i="0">
                <a:solidFill>
                  <a:srgbClr val="1E2430"/>
                </a:solidFill>
                <a:latin typeface="Calibri"/>
              </a:rPr>
              <a:t>) and cut pacing error to </a:t>
            </a:r>
            <a:r>
              <a:rPr sz="1019" b="1" i="0">
                <a:solidFill>
                  <a:srgbClr val="1E2430"/>
                </a:solidFill>
                <a:latin typeface="Calibri"/>
              </a:rPr>
              <a:t>3.87 words</a:t>
            </a:r>
            <a:r>
              <a:rPr sz="1019" b="0" i="0">
                <a:solidFill>
                  <a:srgbClr val="1E2430"/>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(RQ2)</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27</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RQ2 (Part 2): Detailed Computation of Table 14 &amp; Holm-Adjusted Contrasts (Table E3)</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How to read every repeated-measures statistic (N = 33 held-out dialogues × 3 conditions = 99 Gemini 2.5 Flash calls)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2971800"/>
        </p:xfrm>
        <a:graphic>
          <a:graphicData uri="http://schemas.openxmlformats.org/drawingml/2006/table">
            <a:tbl>
              <a:tblPr firstRow="1" bandRow="1">
                <a:tableStyleId>{5C22544A-7EE6-4342-B048-85BDC9FD1C3A}</a:tableStyleId>
              </a:tblPr>
              <a:tblGrid>
                <a:gridCol w="3034025"/>
                <a:gridCol w="1272333"/>
                <a:gridCol w="1272333"/>
                <a:gridCol w="1370205"/>
                <a:gridCol w="1565948"/>
                <a:gridCol w="782974"/>
                <a:gridCol w="880846"/>
                <a:gridCol w="1370205"/>
              </a:tblGrid>
              <a:tr h="371475">
                <a:tc>
                  <a:txBody>
                    <a:bodyPr/>
                    <a:lstStyle/>
                    <a:p>
                      <a:pPr algn="l"/>
                      <a:r>
                        <a:rPr sz="1100" b="1" i="0">
                          <a:solidFill>
                            <a:srgbClr val="FFFFFF"/>
                          </a:solidFill>
                          <a:latin typeface="Calibri"/>
                        </a:rPr>
                        <a:t>Experiment &amp; Outcome Metric (N = 33 Dialogues)</a:t>
                      </a:r>
                    </a:p>
                  </a:txBody>
                  <a:tcPr anchor="ctr" marL="54864" marR="54864" marT="27432" marB="27432">
                    <a:solidFill>
                      <a:srgbClr val="14325C"/>
                    </a:solidFill>
                  </a:tcPr>
                </a:tc>
                <a:tc>
                  <a:txBody>
                    <a:bodyPr/>
                    <a:lstStyle/>
                    <a:p>
                      <a:pPr algn="ctr"/>
                      <a:r>
                        <a:rPr sz="1100" b="1" i="0">
                          <a:solidFill>
                            <a:srgbClr val="FFFFFF"/>
                          </a:solidFill>
                          <a:latin typeface="Calibri"/>
                        </a:rPr>
                        <a:t>Zero-Shot M (SD)</a:t>
                      </a:r>
                    </a:p>
                  </a:txBody>
                  <a:tcPr anchor="ctr" marL="54864" marR="54864" marT="27432" marB="27432">
                    <a:solidFill>
                      <a:srgbClr val="14325C"/>
                    </a:solidFill>
                  </a:tcPr>
                </a:tc>
                <a:tc>
                  <a:txBody>
                    <a:bodyPr/>
                    <a:lstStyle/>
                    <a:p>
                      <a:pPr algn="ctr"/>
                      <a:r>
                        <a:rPr sz="1100" b="1" i="0">
                          <a:solidFill>
                            <a:srgbClr val="FFFFFF"/>
                          </a:solidFill>
                          <a:latin typeface="Calibri"/>
                        </a:rPr>
                        <a:t>Static Few-Shot M (SD)</a:t>
                      </a:r>
                    </a:p>
                  </a:txBody>
                  <a:tcPr anchor="ctr" marL="54864" marR="54864" marT="27432" marB="27432">
                    <a:solidFill>
                      <a:srgbClr val="14325C"/>
                    </a:solidFill>
                  </a:tcPr>
                </a:tc>
                <a:tc>
                  <a:txBody>
                    <a:bodyPr/>
                    <a:lstStyle/>
                    <a:p>
                      <a:pPr algn="ctr"/>
                      <a:r>
                        <a:rPr sz="1100" b="1" i="0">
                          <a:solidFill>
                            <a:srgbClr val="FFFFFF"/>
                          </a:solidFill>
                          <a:latin typeface="Calibri"/>
                        </a:rPr>
                        <a:t>Cluster-Adaptive M (SD)</a:t>
                      </a:r>
                    </a:p>
                  </a:txBody>
                  <a:tcPr anchor="ctr" marL="54864" marR="54864" marT="27432" marB="27432">
                    <a:solidFill>
                      <a:srgbClr val="14325C"/>
                    </a:solidFill>
                  </a:tcPr>
                </a:tc>
                <a:tc>
                  <a:txBody>
                    <a:bodyPr/>
                    <a:lstStyle/>
                    <a:p>
                      <a:pPr algn="ctr"/>
                      <a:r>
                        <a:rPr sz="1100" b="1" i="0">
                          <a:solidFill>
                            <a:srgbClr val="FFFFFF"/>
                          </a:solidFill>
                          <a:latin typeface="Calibri"/>
                        </a:rPr>
                        <a:t>RM-ANOVA F (GG df)</a:t>
                      </a:r>
                    </a:p>
                  </a:txBody>
                  <a:tcPr anchor="ctr" marL="54864" marR="54864" marT="27432" marB="27432">
                    <a:solidFill>
                      <a:srgbClr val="14325C"/>
                    </a:solidFill>
                  </a:tcPr>
                </a:tc>
                <a:tc>
                  <a:txBody>
                    <a:bodyPr/>
                    <a:lstStyle/>
                    <a:p>
                      <a:pPr algn="ctr"/>
                      <a:r>
                        <a:rPr sz="1100" b="1" i="0">
                          <a:solidFill>
                            <a:srgbClr val="FFFFFF"/>
                          </a:solidFill>
                          <a:latin typeface="Calibri"/>
                        </a:rPr>
                        <a:t>p (GG)</a:t>
                      </a:r>
                    </a:p>
                  </a:txBody>
                  <a:tcPr anchor="ctr" marL="54864" marR="54864" marT="27432" marB="27432">
                    <a:solidFill>
                      <a:srgbClr val="14325C"/>
                    </a:solidFill>
                  </a:tcPr>
                </a:tc>
                <a:tc>
                  <a:txBody>
                    <a:bodyPr/>
                    <a:lstStyle/>
                    <a:p>
                      <a:pPr algn="ctr"/>
                      <a:r>
                        <a:rPr sz="1100" b="1" i="0">
                          <a:solidFill>
                            <a:srgbClr val="FFFFFF"/>
                          </a:solidFill>
                          <a:latin typeface="Calibri"/>
                        </a:rPr>
                        <a:t>Partial ηp²</a:t>
                      </a:r>
                    </a:p>
                  </a:txBody>
                  <a:tcPr anchor="ctr" marL="54864" marR="54864" marT="27432" marB="27432">
                    <a:solidFill>
                      <a:srgbClr val="14325C"/>
                    </a:solidFill>
                  </a:tcPr>
                </a:tc>
                <a:tc>
                  <a:txBody>
                    <a:bodyPr/>
                    <a:lstStyle/>
                    <a:p>
                      <a:pPr algn="ctr"/>
                      <a:r>
                        <a:rPr sz="1100" b="1" i="0">
                          <a:solidFill>
                            <a:srgbClr val="FFFFFF"/>
                          </a:solidFill>
                          <a:latin typeface="Calibri"/>
                        </a:rPr>
                        <a:t>Friedman χ² (p)</a:t>
                      </a:r>
                    </a:p>
                  </a:txBody>
                  <a:tcPr anchor="ctr" marL="54864" marR="54864" marT="27432" marB="27432">
                    <a:solidFill>
                      <a:srgbClr val="14325C"/>
                    </a:solidFill>
                  </a:tcPr>
                </a:tc>
              </a:tr>
              <a:tr h="371475">
                <a:tc>
                  <a:txBody>
                    <a:bodyPr/>
                    <a:lstStyle/>
                    <a:p>
                      <a:pPr algn="l"/>
                      <a:r>
                        <a:rPr sz="950" b="0" i="0">
                          <a:solidFill>
                            <a:srgbClr val="1E2430"/>
                          </a:solidFill>
                          <a:latin typeface="Calibri"/>
                        </a:rPr>
                        <a:t>Primary Archetypes (κ=.24) — Style Cosine</a:t>
                      </a:r>
                    </a:p>
                  </a:txBody>
                  <a:tcPr anchor="ctr" marL="54864" marR="54864" marT="22860" marB="22860">
                    <a:solidFill>
                      <a:srgbClr val="FFFFFF"/>
                    </a:solidFill>
                  </a:tcPr>
                </a:tc>
                <a:tc>
                  <a:txBody>
                    <a:bodyPr/>
                    <a:lstStyle/>
                    <a:p>
                      <a:pPr algn="ctr"/>
                      <a:r>
                        <a:rPr sz="950" b="0" i="0">
                          <a:solidFill>
                            <a:srgbClr val="1E2430"/>
                          </a:solidFill>
                          <a:latin typeface="Calibri"/>
                        </a:rPr>
                        <a:t>.603 (.161)</a:t>
                      </a:r>
                    </a:p>
                  </a:txBody>
                  <a:tcPr anchor="ctr" marL="54864" marR="54864" marT="22860" marB="22860">
                    <a:solidFill>
                      <a:srgbClr val="FFFFFF"/>
                    </a:solidFill>
                  </a:tcPr>
                </a:tc>
                <a:tc>
                  <a:txBody>
                    <a:bodyPr/>
                    <a:lstStyle/>
                    <a:p>
                      <a:pPr algn="ctr"/>
                      <a:r>
                        <a:rPr sz="950" b="0" i="0">
                          <a:solidFill>
                            <a:srgbClr val="1E2430"/>
                          </a:solidFill>
                          <a:latin typeface="Calibri"/>
                        </a:rPr>
                        <a:t>.650 (.165)</a:t>
                      </a:r>
                    </a:p>
                  </a:txBody>
                  <a:tcPr anchor="ctr" marL="54864" marR="54864" marT="22860" marB="22860">
                    <a:solidFill>
                      <a:srgbClr val="FFFFFF"/>
                    </a:solidFill>
                  </a:tcPr>
                </a:tc>
                <a:tc>
                  <a:txBody>
                    <a:bodyPr/>
                    <a:lstStyle/>
                    <a:p>
                      <a:pPr algn="ctr"/>
                      <a:r>
                        <a:rPr sz="950" b="0" i="0">
                          <a:solidFill>
                            <a:srgbClr val="1E2430"/>
                          </a:solidFill>
                          <a:latin typeface="Calibri"/>
                        </a:rPr>
                        <a:t>.642 (.125)</a:t>
                      </a:r>
                    </a:p>
                  </a:txBody>
                  <a:tcPr anchor="ctr" marL="54864" marR="54864" marT="22860" marB="22860">
                    <a:solidFill>
                      <a:srgbClr val="FFFFFF"/>
                    </a:solidFill>
                  </a:tcPr>
                </a:tc>
                <a:tc>
                  <a:txBody>
                    <a:bodyPr/>
                    <a:lstStyle/>
                    <a:p>
                      <a:pPr algn="ctr"/>
                      <a:r>
                        <a:rPr sz="950" b="0" i="0">
                          <a:solidFill>
                            <a:srgbClr val="1E2430"/>
                          </a:solidFill>
                          <a:latin typeface="Calibri"/>
                        </a:rPr>
                        <a:t>1.61 (1.95, 62.45)</a:t>
                      </a:r>
                    </a:p>
                  </a:txBody>
                  <a:tcPr anchor="ctr" marL="54864" marR="54864" marT="22860" marB="22860">
                    <a:solidFill>
                      <a:srgbClr val="FFFFFF"/>
                    </a:solidFill>
                  </a:tcPr>
                </a:tc>
                <a:tc>
                  <a:txBody>
                    <a:bodyPr/>
                    <a:lstStyle/>
                    <a:p>
                      <a:pPr algn="ctr"/>
                      <a:r>
                        <a:rPr sz="950" b="0" i="0">
                          <a:solidFill>
                            <a:srgbClr val="1E2430"/>
                          </a:solidFill>
                          <a:latin typeface="Calibri"/>
                        </a:rPr>
                        <a:t>.211</a:t>
                      </a:r>
                    </a:p>
                  </a:txBody>
                  <a:tcPr anchor="ctr" marL="54864" marR="54864" marT="22860" marB="22860">
                    <a:solidFill>
                      <a:srgbClr val="FFFFFF"/>
                    </a:solidFill>
                  </a:tcPr>
                </a:tc>
                <a:tc>
                  <a:txBody>
                    <a:bodyPr/>
                    <a:lstStyle/>
                    <a:p>
                      <a:pPr algn="ctr"/>
                      <a:r>
                        <a:rPr sz="950" b="0" i="0">
                          <a:solidFill>
                            <a:srgbClr val="1E2430"/>
                          </a:solidFill>
                          <a:latin typeface="Calibri"/>
                        </a:rPr>
                        <a:t>.048</a:t>
                      </a:r>
                    </a:p>
                  </a:txBody>
                  <a:tcPr anchor="ctr" marL="54864" marR="54864" marT="22860" marB="22860">
                    <a:solidFill>
                      <a:srgbClr val="FFFFFF"/>
                    </a:solidFill>
                  </a:tcPr>
                </a:tc>
                <a:tc>
                  <a:txBody>
                    <a:bodyPr/>
                    <a:lstStyle/>
                    <a:p>
                      <a:pPr algn="ctr"/>
                      <a:r>
                        <a:rPr sz="950" b="0" i="0">
                          <a:solidFill>
                            <a:srgbClr val="1E2430"/>
                          </a:solidFill>
                          <a:latin typeface="Calibri"/>
                        </a:rPr>
                        <a:t>1.88 (.391)</a:t>
                      </a:r>
                    </a:p>
                  </a:txBody>
                  <a:tcPr anchor="ctr" marL="54864" marR="54864" marT="22860" marB="22860">
                    <a:solidFill>
                      <a:srgbClr val="FFFFFF"/>
                    </a:solidFill>
                  </a:tcPr>
                </a:tc>
              </a:tr>
              <a:tr h="371475">
                <a:tc>
                  <a:txBody>
                    <a:bodyPr/>
                    <a:lstStyle/>
                    <a:p>
                      <a:pPr algn="l"/>
                      <a:r>
                        <a:rPr sz="950" b="0" i="0">
                          <a:solidFill>
                            <a:srgbClr val="1E2430"/>
                          </a:solidFill>
                          <a:latin typeface="Calibri"/>
                        </a:rPr>
                        <a:t>Primary Archetypes — Response Length (words)</a:t>
                      </a:r>
                    </a:p>
                  </a:txBody>
                  <a:tcPr anchor="ctr" marL="54864" marR="54864" marT="22860" marB="22860">
                    <a:solidFill>
                      <a:srgbClr val="F2F6FC"/>
                    </a:solidFill>
                  </a:tcPr>
                </a:tc>
                <a:tc>
                  <a:txBody>
                    <a:bodyPr/>
                    <a:lstStyle/>
                    <a:p>
                      <a:pPr algn="ctr"/>
                      <a:r>
                        <a:rPr sz="950" b="0" i="0">
                          <a:solidFill>
                            <a:srgbClr val="1E2430"/>
                          </a:solidFill>
                          <a:latin typeface="Calibri"/>
                        </a:rPr>
                        <a:t>27.58 (5.43)</a:t>
                      </a:r>
                    </a:p>
                  </a:txBody>
                  <a:tcPr anchor="ctr" marL="54864" marR="54864" marT="22860" marB="22860">
                    <a:solidFill>
                      <a:srgbClr val="F2F6FC"/>
                    </a:solidFill>
                  </a:tcPr>
                </a:tc>
                <a:tc>
                  <a:txBody>
                    <a:bodyPr/>
                    <a:lstStyle/>
                    <a:p>
                      <a:pPr algn="ctr"/>
                      <a:r>
                        <a:rPr sz="950" b="0" i="0">
                          <a:solidFill>
                            <a:srgbClr val="1E2430"/>
                          </a:solidFill>
                          <a:latin typeface="Calibri"/>
                        </a:rPr>
                        <a:t>16.33 (4.73)</a:t>
                      </a:r>
                    </a:p>
                  </a:txBody>
                  <a:tcPr anchor="ctr" marL="54864" marR="54864" marT="22860" marB="22860">
                    <a:solidFill>
                      <a:srgbClr val="F2F6FC"/>
                    </a:solidFill>
                  </a:tcPr>
                </a:tc>
                <a:tc>
                  <a:txBody>
                    <a:bodyPr/>
                    <a:lstStyle/>
                    <a:p>
                      <a:pPr algn="ctr"/>
                      <a:r>
                        <a:rPr sz="950" b="0" i="0">
                          <a:solidFill>
                            <a:srgbClr val="1E2430"/>
                          </a:solidFill>
                          <a:latin typeface="Calibri"/>
                        </a:rPr>
                        <a:t>15.06 (4.35)</a:t>
                      </a:r>
                    </a:p>
                  </a:txBody>
                  <a:tcPr anchor="ctr" marL="54864" marR="54864" marT="22860" marB="22860">
                    <a:solidFill>
                      <a:srgbClr val="F2F6FC"/>
                    </a:solidFill>
                  </a:tcPr>
                </a:tc>
                <a:tc>
                  <a:txBody>
                    <a:bodyPr/>
                    <a:lstStyle/>
                    <a:p>
                      <a:pPr algn="ctr"/>
                      <a:r>
                        <a:rPr sz="950" b="0" i="0">
                          <a:solidFill>
                            <a:srgbClr val="1E2430"/>
                          </a:solidFill>
                          <a:latin typeface="Calibri"/>
                        </a:rPr>
                        <a:t>95.32 (1.82, 58.31)</a:t>
                      </a:r>
                    </a:p>
                  </a:txBody>
                  <a:tcPr anchor="ctr" marL="54864" marR="54864" marT="22860" marB="22860">
                    <a:solidFill>
                      <a:srgbClr val="F2F6FC"/>
                    </a:solidFill>
                  </a:tcPr>
                </a:tc>
                <a:tc>
                  <a:txBody>
                    <a:bodyPr/>
                    <a:lstStyle/>
                    <a:p>
                      <a:pPr algn="ctr"/>
                      <a:r>
                        <a:rPr sz="950" b="0" i="0">
                          <a:solidFill>
                            <a:srgbClr val="1E2430"/>
                          </a:solidFill>
                          <a:latin typeface="Calibri"/>
                        </a:rPr>
                        <a:t>&lt; .001</a:t>
                      </a:r>
                    </a:p>
                  </a:txBody>
                  <a:tcPr anchor="ctr" marL="54864" marR="54864" marT="22860" marB="22860">
                    <a:solidFill>
                      <a:srgbClr val="F2F6FC"/>
                    </a:solidFill>
                  </a:tcPr>
                </a:tc>
                <a:tc>
                  <a:txBody>
                    <a:bodyPr/>
                    <a:lstStyle/>
                    <a:p>
                      <a:pPr algn="ctr"/>
                      <a:r>
                        <a:rPr sz="950" b="0" i="0">
                          <a:solidFill>
                            <a:srgbClr val="1E2430"/>
                          </a:solidFill>
                          <a:latin typeface="Calibri"/>
                        </a:rPr>
                        <a:t>.749</a:t>
                      </a:r>
                    </a:p>
                  </a:txBody>
                  <a:tcPr anchor="ctr" marL="54864" marR="54864" marT="22860" marB="22860">
                    <a:solidFill>
                      <a:srgbClr val="F2F6FC"/>
                    </a:solidFill>
                  </a:tcPr>
                </a:tc>
                <a:tc>
                  <a:txBody>
                    <a:bodyPr/>
                    <a:lstStyle/>
                    <a:p>
                      <a:pPr algn="ctr"/>
                      <a:r>
                        <a:rPr sz="950" b="0" i="0">
                          <a:solidFill>
                            <a:srgbClr val="1E2430"/>
                          </a:solidFill>
                          <a:latin typeface="Calibri"/>
                        </a:rPr>
                        <a:t>50.02 (&lt; .001)</a:t>
                      </a:r>
                    </a:p>
                  </a:txBody>
                  <a:tcPr anchor="ctr" marL="54864" marR="54864" marT="22860" marB="22860">
                    <a:solidFill>
                      <a:srgbClr val="F2F6FC"/>
                    </a:solidFill>
                  </a:tcPr>
                </a:tc>
              </a:tr>
              <a:tr h="371475">
                <a:tc>
                  <a:txBody>
                    <a:bodyPr/>
                    <a:lstStyle/>
                    <a:p>
                      <a:pPr algn="l"/>
                      <a:r>
                        <a:rPr sz="950" b="1" i="0">
                          <a:solidFill>
                            <a:srgbClr val="1E2430"/>
                          </a:solidFill>
                          <a:latin typeface="Calibri"/>
                        </a:rPr>
                        <a:t>Refined Archetypes (κ=.535) — SBERT Style Cosine (Primary DV)</a:t>
                      </a:r>
                    </a:p>
                  </a:txBody>
                  <a:tcPr anchor="ctr" marL="54864" marR="54864" marT="22860" marB="22860">
                    <a:solidFill>
                      <a:srgbClr val="E1F3E8"/>
                    </a:solidFill>
                  </a:tcPr>
                </a:tc>
                <a:tc>
                  <a:txBody>
                    <a:bodyPr/>
                    <a:lstStyle/>
                    <a:p>
                      <a:pPr algn="ctr"/>
                      <a:r>
                        <a:rPr sz="950" b="1" i="0">
                          <a:solidFill>
                            <a:srgbClr val="1E2430"/>
                          </a:solidFill>
                          <a:latin typeface="Calibri"/>
                        </a:rPr>
                        <a:t>.530 (.132)</a:t>
                      </a:r>
                    </a:p>
                  </a:txBody>
                  <a:tcPr anchor="ctr" marL="54864" marR="54864" marT="22860" marB="22860">
                    <a:solidFill>
                      <a:srgbClr val="E1F3E8"/>
                    </a:solidFill>
                  </a:tcPr>
                </a:tc>
                <a:tc>
                  <a:txBody>
                    <a:bodyPr/>
                    <a:lstStyle/>
                    <a:p>
                      <a:pPr algn="ctr"/>
                      <a:r>
                        <a:rPr sz="950" b="1" i="0">
                          <a:solidFill>
                            <a:srgbClr val="1E2430"/>
                          </a:solidFill>
                          <a:latin typeface="Calibri"/>
                        </a:rPr>
                        <a:t>.453 (.169)</a:t>
                      </a:r>
                    </a:p>
                  </a:txBody>
                  <a:tcPr anchor="ctr" marL="54864" marR="54864" marT="22860" marB="22860">
                    <a:solidFill>
                      <a:srgbClr val="E1F3E8"/>
                    </a:solidFill>
                  </a:tcPr>
                </a:tc>
                <a:tc>
                  <a:txBody>
                    <a:bodyPr/>
                    <a:lstStyle/>
                    <a:p>
                      <a:pPr algn="ctr"/>
                      <a:r>
                        <a:rPr sz="950" b="1" i="0">
                          <a:solidFill>
                            <a:srgbClr val="1E2430"/>
                          </a:solidFill>
                          <a:latin typeface="Calibri"/>
                        </a:rPr>
                        <a:t>.597 (.086)</a:t>
                      </a:r>
                    </a:p>
                  </a:txBody>
                  <a:tcPr anchor="ctr" marL="54864" marR="54864" marT="22860" marB="22860">
                    <a:solidFill>
                      <a:srgbClr val="E1F3E8"/>
                    </a:solidFill>
                  </a:tcPr>
                </a:tc>
                <a:tc>
                  <a:txBody>
                    <a:bodyPr/>
                    <a:lstStyle/>
                    <a:p>
                      <a:pPr algn="ctr"/>
                      <a:r>
                        <a:rPr sz="950" b="1" i="0">
                          <a:solidFill>
                            <a:srgbClr val="1E2430"/>
                          </a:solidFill>
                          <a:latin typeface="Calibri"/>
                        </a:rPr>
                        <a:t>9.79 (1.88, 60.29)</a:t>
                      </a:r>
                    </a:p>
                  </a:txBody>
                  <a:tcPr anchor="ctr" marL="54864" marR="54864" marT="22860" marB="22860">
                    <a:solidFill>
                      <a:srgbClr val="E1F3E8"/>
                    </a:solidFill>
                  </a:tcPr>
                </a:tc>
                <a:tc>
                  <a:txBody>
                    <a:bodyPr/>
                    <a:lstStyle/>
                    <a:p>
                      <a:pPr algn="ctr"/>
                      <a:r>
                        <a:rPr sz="950" b="1" i="0">
                          <a:solidFill>
                            <a:srgbClr val="1E2430"/>
                          </a:solidFill>
                          <a:latin typeface="Calibri"/>
                        </a:rPr>
                        <a:t>&lt; .001</a:t>
                      </a:r>
                    </a:p>
                  </a:txBody>
                  <a:tcPr anchor="ctr" marL="54864" marR="54864" marT="22860" marB="22860">
                    <a:solidFill>
                      <a:srgbClr val="E1F3E8"/>
                    </a:solidFill>
                  </a:tcPr>
                </a:tc>
                <a:tc>
                  <a:txBody>
                    <a:bodyPr/>
                    <a:lstStyle/>
                    <a:p>
                      <a:pPr algn="ctr"/>
                      <a:r>
                        <a:rPr sz="950" b="1" i="0">
                          <a:solidFill>
                            <a:srgbClr val="1E2430"/>
                          </a:solidFill>
                          <a:latin typeface="Calibri"/>
                        </a:rPr>
                        <a:t>.234</a:t>
                      </a:r>
                    </a:p>
                  </a:txBody>
                  <a:tcPr anchor="ctr" marL="54864" marR="54864" marT="22860" marB="22860">
                    <a:solidFill>
                      <a:srgbClr val="E1F3E8"/>
                    </a:solidFill>
                  </a:tcPr>
                </a:tc>
                <a:tc>
                  <a:txBody>
                    <a:bodyPr/>
                    <a:lstStyle/>
                    <a:p>
                      <a:pPr algn="ctr"/>
                      <a:r>
                        <a:rPr sz="950" b="1" i="0">
                          <a:solidFill>
                            <a:srgbClr val="1E2430"/>
                          </a:solidFill>
                          <a:latin typeface="Calibri"/>
                        </a:rPr>
                        <a:t>12.50 (.002)</a:t>
                      </a:r>
                    </a:p>
                  </a:txBody>
                  <a:tcPr anchor="ctr" marL="54864" marR="54864" marT="22860" marB="22860">
                    <a:solidFill>
                      <a:srgbClr val="E1F3E8"/>
                    </a:solidFill>
                  </a:tcPr>
                </a:tc>
              </a:tr>
              <a:tr h="371475">
                <a:tc>
                  <a:txBody>
                    <a:bodyPr/>
                    <a:lstStyle/>
                    <a:p>
                      <a:pPr algn="l"/>
                      <a:r>
                        <a:rPr sz="950" b="0" i="0">
                          <a:solidFill>
                            <a:srgbClr val="1E2430"/>
                          </a:solidFill>
                          <a:latin typeface="Calibri"/>
                        </a:rPr>
                        <a:t>Refined Archetypes — Gemini 3,072-d Style Cosine</a:t>
                      </a:r>
                    </a:p>
                  </a:txBody>
                  <a:tcPr anchor="ctr" marL="54864" marR="54864" marT="22860" marB="22860">
                    <a:solidFill>
                      <a:srgbClr val="F2F6FC"/>
                    </a:solidFill>
                  </a:tcPr>
                </a:tc>
                <a:tc>
                  <a:txBody>
                    <a:bodyPr/>
                    <a:lstStyle/>
                    <a:p>
                      <a:pPr algn="ctr"/>
                      <a:r>
                        <a:rPr sz="950" b="0" i="0">
                          <a:solidFill>
                            <a:srgbClr val="1E2430"/>
                          </a:solidFill>
                          <a:latin typeface="Calibri"/>
                        </a:rPr>
                        <a:t>.787 (.052)</a:t>
                      </a:r>
                    </a:p>
                  </a:txBody>
                  <a:tcPr anchor="ctr" marL="54864" marR="54864" marT="22860" marB="22860">
                    <a:solidFill>
                      <a:srgbClr val="F2F6FC"/>
                    </a:solidFill>
                  </a:tcPr>
                </a:tc>
                <a:tc>
                  <a:txBody>
                    <a:bodyPr/>
                    <a:lstStyle/>
                    <a:p>
                      <a:pPr algn="ctr"/>
                      <a:r>
                        <a:rPr sz="950" b="0" i="0">
                          <a:solidFill>
                            <a:srgbClr val="1E2430"/>
                          </a:solidFill>
                          <a:latin typeface="Calibri"/>
                        </a:rPr>
                        <a:t>.775 (.055)</a:t>
                      </a:r>
                    </a:p>
                  </a:txBody>
                  <a:tcPr anchor="ctr" marL="54864" marR="54864" marT="22860" marB="22860">
                    <a:solidFill>
                      <a:srgbClr val="F2F6FC"/>
                    </a:solidFill>
                  </a:tcPr>
                </a:tc>
                <a:tc>
                  <a:txBody>
                    <a:bodyPr/>
                    <a:lstStyle/>
                    <a:p>
                      <a:pPr algn="ctr"/>
                      <a:r>
                        <a:rPr sz="950" b="0" i="0">
                          <a:solidFill>
                            <a:srgbClr val="1E2430"/>
                          </a:solidFill>
                          <a:latin typeface="Calibri"/>
                        </a:rPr>
                        <a:t>.796 (.042)</a:t>
                      </a:r>
                    </a:p>
                  </a:txBody>
                  <a:tcPr anchor="ctr" marL="54864" marR="54864" marT="22860" marB="22860">
                    <a:solidFill>
                      <a:srgbClr val="F2F6FC"/>
                    </a:solidFill>
                  </a:tcPr>
                </a:tc>
                <a:tc>
                  <a:txBody>
                    <a:bodyPr/>
                    <a:lstStyle/>
                    <a:p>
                      <a:pPr algn="ctr"/>
                      <a:r>
                        <a:rPr sz="950" b="0" i="0">
                          <a:solidFill>
                            <a:srgbClr val="1E2430"/>
                          </a:solidFill>
                          <a:latin typeface="Calibri"/>
                        </a:rPr>
                        <a:t>1.66 (1.94, 62.22)</a:t>
                      </a:r>
                    </a:p>
                  </a:txBody>
                  <a:tcPr anchor="ctr" marL="54864" marR="54864" marT="22860" marB="22860">
                    <a:solidFill>
                      <a:srgbClr val="F2F6FC"/>
                    </a:solidFill>
                  </a:tcPr>
                </a:tc>
                <a:tc>
                  <a:txBody>
                    <a:bodyPr/>
                    <a:lstStyle/>
                    <a:p>
                      <a:pPr algn="ctr"/>
                      <a:r>
                        <a:rPr sz="950" b="0" i="0">
                          <a:solidFill>
                            <a:srgbClr val="1E2430"/>
                          </a:solidFill>
                          <a:latin typeface="Calibri"/>
                        </a:rPr>
                        <a:t>.200</a:t>
                      </a:r>
                    </a:p>
                  </a:txBody>
                  <a:tcPr anchor="ctr" marL="54864" marR="54864" marT="22860" marB="22860">
                    <a:solidFill>
                      <a:srgbClr val="F2F6FC"/>
                    </a:solidFill>
                  </a:tcPr>
                </a:tc>
                <a:tc>
                  <a:txBody>
                    <a:bodyPr/>
                    <a:lstStyle/>
                    <a:p>
                      <a:pPr algn="ctr"/>
                      <a:r>
                        <a:rPr sz="950" b="0" i="0">
                          <a:solidFill>
                            <a:srgbClr val="1E2430"/>
                          </a:solidFill>
                          <a:latin typeface="Calibri"/>
                        </a:rPr>
                        <a:t>.049</a:t>
                      </a:r>
                    </a:p>
                  </a:txBody>
                  <a:tcPr anchor="ctr" marL="54864" marR="54864" marT="22860" marB="22860">
                    <a:solidFill>
                      <a:srgbClr val="F2F6FC"/>
                    </a:solidFill>
                  </a:tcPr>
                </a:tc>
                <a:tc>
                  <a:txBody>
                    <a:bodyPr/>
                    <a:lstStyle/>
                    <a:p>
                      <a:pPr algn="ctr"/>
                      <a:r>
                        <a:rPr sz="950" b="0" i="0">
                          <a:solidFill>
                            <a:srgbClr val="1E2430"/>
                          </a:solidFill>
                          <a:latin typeface="Calibri"/>
                        </a:rPr>
                        <a:t>4.06 (.131)</a:t>
                      </a:r>
                    </a:p>
                  </a:txBody>
                  <a:tcPr anchor="ctr" marL="54864" marR="54864" marT="22860" marB="22860">
                    <a:solidFill>
                      <a:srgbClr val="F2F6FC"/>
                    </a:solidFill>
                  </a:tcPr>
                </a:tc>
              </a:tr>
              <a:tr h="371475">
                <a:tc>
                  <a:txBody>
                    <a:bodyPr/>
                    <a:lstStyle/>
                    <a:p>
                      <a:pPr algn="l"/>
                      <a:r>
                        <a:rPr sz="950" b="0" i="0">
                          <a:solidFill>
                            <a:srgbClr val="1E2430"/>
                          </a:solidFill>
                          <a:latin typeface="Calibri"/>
                        </a:rPr>
                        <a:t>Refined Archetypes — Token-Level BERTScore F1</a:t>
                      </a:r>
                    </a:p>
                  </a:txBody>
                  <a:tcPr anchor="ctr" marL="54864" marR="54864" marT="22860" marB="22860">
                    <a:solidFill>
                      <a:srgbClr val="FFFFFF"/>
                    </a:solidFill>
                  </a:tcPr>
                </a:tc>
                <a:tc>
                  <a:txBody>
                    <a:bodyPr/>
                    <a:lstStyle/>
                    <a:p>
                      <a:pPr algn="ctr"/>
                      <a:r>
                        <a:rPr sz="950" b="0" i="0">
                          <a:solidFill>
                            <a:srgbClr val="1E2430"/>
                          </a:solidFill>
                          <a:latin typeface="Calibri"/>
                        </a:rPr>
                        <a:t>.849 (.020)</a:t>
                      </a:r>
                    </a:p>
                  </a:txBody>
                  <a:tcPr anchor="ctr" marL="54864" marR="54864" marT="22860" marB="22860">
                    <a:solidFill>
                      <a:srgbClr val="FFFFFF"/>
                    </a:solidFill>
                  </a:tcPr>
                </a:tc>
                <a:tc>
                  <a:txBody>
                    <a:bodyPr/>
                    <a:lstStyle/>
                    <a:p>
                      <a:pPr algn="ctr"/>
                      <a:r>
                        <a:rPr sz="950" b="0" i="0">
                          <a:solidFill>
                            <a:srgbClr val="1E2430"/>
                          </a:solidFill>
                          <a:latin typeface="Calibri"/>
                        </a:rPr>
                        <a:t>.844 (.023)</a:t>
                      </a:r>
                    </a:p>
                  </a:txBody>
                  <a:tcPr anchor="ctr" marL="54864" marR="54864" marT="22860" marB="22860">
                    <a:solidFill>
                      <a:srgbClr val="FFFFFF"/>
                    </a:solidFill>
                  </a:tcPr>
                </a:tc>
                <a:tc>
                  <a:txBody>
                    <a:bodyPr/>
                    <a:lstStyle/>
                    <a:p>
                      <a:pPr algn="ctr"/>
                      <a:r>
                        <a:rPr sz="950" b="0" i="0">
                          <a:solidFill>
                            <a:srgbClr val="1E2430"/>
                          </a:solidFill>
                          <a:latin typeface="Calibri"/>
                        </a:rPr>
                        <a:t>.852 (.019)</a:t>
                      </a:r>
                    </a:p>
                  </a:txBody>
                  <a:tcPr anchor="ctr" marL="54864" marR="54864" marT="22860" marB="22860">
                    <a:solidFill>
                      <a:srgbClr val="FFFFFF"/>
                    </a:solidFill>
                  </a:tcPr>
                </a:tc>
                <a:tc>
                  <a:txBody>
                    <a:bodyPr/>
                    <a:lstStyle/>
                    <a:p>
                      <a:pPr algn="ctr"/>
                      <a:r>
                        <a:rPr sz="950" b="0" i="0">
                          <a:solidFill>
                            <a:srgbClr val="1E2430"/>
                          </a:solidFill>
                          <a:latin typeface="Calibri"/>
                        </a:rPr>
                        <a:t>1.45 (1.92, 61.51)</a:t>
                      </a:r>
                    </a:p>
                  </a:txBody>
                  <a:tcPr anchor="ctr" marL="54864" marR="54864" marT="22860" marB="22860">
                    <a:solidFill>
                      <a:srgbClr val="FFFFFF"/>
                    </a:solidFill>
                  </a:tcPr>
                </a:tc>
                <a:tc>
                  <a:txBody>
                    <a:bodyPr/>
                    <a:lstStyle/>
                    <a:p>
                      <a:pPr algn="ctr"/>
                      <a:r>
                        <a:rPr sz="950" b="0" i="0">
                          <a:solidFill>
                            <a:srgbClr val="1E2430"/>
                          </a:solidFill>
                          <a:latin typeface="Calibri"/>
                        </a:rPr>
                        <a:t>.243</a:t>
                      </a:r>
                    </a:p>
                  </a:txBody>
                  <a:tcPr anchor="ctr" marL="54864" marR="54864" marT="22860" marB="22860">
                    <a:solidFill>
                      <a:srgbClr val="FFFFFF"/>
                    </a:solidFill>
                  </a:tcPr>
                </a:tc>
                <a:tc>
                  <a:txBody>
                    <a:bodyPr/>
                    <a:lstStyle/>
                    <a:p>
                      <a:pPr algn="ctr"/>
                      <a:r>
                        <a:rPr sz="950" b="0" i="0">
                          <a:solidFill>
                            <a:srgbClr val="1E2430"/>
                          </a:solidFill>
                          <a:latin typeface="Calibri"/>
                        </a:rPr>
                        <a:t>.043</a:t>
                      </a:r>
                    </a:p>
                  </a:txBody>
                  <a:tcPr anchor="ctr" marL="54864" marR="54864" marT="22860" marB="22860">
                    <a:solidFill>
                      <a:srgbClr val="FFFFFF"/>
                    </a:solidFill>
                  </a:tcPr>
                </a:tc>
                <a:tc>
                  <a:txBody>
                    <a:bodyPr/>
                    <a:lstStyle/>
                    <a:p>
                      <a:pPr algn="ctr"/>
                      <a:r>
                        <a:rPr sz="950" b="0" i="0">
                          <a:solidFill>
                            <a:srgbClr val="1E2430"/>
                          </a:solidFill>
                          <a:latin typeface="Calibri"/>
                        </a:rPr>
                        <a:t>3.70 (.157)</a:t>
                      </a:r>
                    </a:p>
                  </a:txBody>
                  <a:tcPr anchor="ctr" marL="54864" marR="54864" marT="22860" marB="22860">
                    <a:solidFill>
                      <a:srgbClr val="FFFFFF"/>
                    </a:solidFill>
                  </a:tcPr>
                </a:tc>
              </a:tr>
              <a:tr h="371475">
                <a:tc>
                  <a:txBody>
                    <a:bodyPr/>
                    <a:lstStyle/>
                    <a:p>
                      <a:pPr algn="l"/>
                      <a:r>
                        <a:rPr sz="950" b="1" i="0">
                          <a:solidFill>
                            <a:srgbClr val="1E2430"/>
                          </a:solidFill>
                          <a:latin typeface="Calibri"/>
                        </a:rPr>
                        <a:t>Refined Archetypes — Pacing Calibration Error (words)</a:t>
                      </a:r>
                    </a:p>
                  </a:txBody>
                  <a:tcPr anchor="ctr" marL="54864" marR="54864" marT="22860" marB="22860">
                    <a:solidFill>
                      <a:srgbClr val="E1F3E8"/>
                    </a:solidFill>
                  </a:tcPr>
                </a:tc>
                <a:tc>
                  <a:txBody>
                    <a:bodyPr/>
                    <a:lstStyle/>
                    <a:p>
                      <a:pPr algn="ctr"/>
                      <a:r>
                        <a:rPr sz="950" b="1" i="0">
                          <a:solidFill>
                            <a:srgbClr val="1E2430"/>
                          </a:solidFill>
                          <a:latin typeface="Calibri"/>
                        </a:rPr>
                        <a:t>10.12 (8.98)</a:t>
                      </a:r>
                    </a:p>
                  </a:txBody>
                  <a:tcPr anchor="ctr" marL="54864" marR="54864" marT="22860" marB="22860">
                    <a:solidFill>
                      <a:srgbClr val="E1F3E8"/>
                    </a:solidFill>
                  </a:tcPr>
                </a:tc>
                <a:tc>
                  <a:txBody>
                    <a:bodyPr/>
                    <a:lstStyle/>
                    <a:p>
                      <a:pPr algn="ctr"/>
                      <a:r>
                        <a:rPr sz="950" b="1" i="0">
                          <a:solidFill>
                            <a:srgbClr val="1E2430"/>
                          </a:solidFill>
                          <a:latin typeface="Calibri"/>
                        </a:rPr>
                        <a:t>6.33 (3.55)</a:t>
                      </a:r>
                    </a:p>
                  </a:txBody>
                  <a:tcPr anchor="ctr" marL="54864" marR="54864" marT="22860" marB="22860">
                    <a:solidFill>
                      <a:srgbClr val="E1F3E8"/>
                    </a:solidFill>
                  </a:tcPr>
                </a:tc>
                <a:tc>
                  <a:txBody>
                    <a:bodyPr/>
                    <a:lstStyle/>
                    <a:p>
                      <a:pPr algn="ctr"/>
                      <a:r>
                        <a:rPr sz="950" b="1" i="0">
                          <a:solidFill>
                            <a:srgbClr val="1E2430"/>
                          </a:solidFill>
                          <a:latin typeface="Calibri"/>
                        </a:rPr>
                        <a:t>3.87 (3.58)</a:t>
                      </a:r>
                    </a:p>
                  </a:txBody>
                  <a:tcPr anchor="ctr" marL="54864" marR="54864" marT="22860" marB="22860">
                    <a:solidFill>
                      <a:srgbClr val="E1F3E8"/>
                    </a:solidFill>
                  </a:tcPr>
                </a:tc>
                <a:tc>
                  <a:txBody>
                    <a:bodyPr/>
                    <a:lstStyle/>
                    <a:p>
                      <a:pPr algn="ctr"/>
                      <a:r>
                        <a:rPr sz="950" b="1" i="0">
                          <a:solidFill>
                            <a:srgbClr val="1E2430"/>
                          </a:solidFill>
                          <a:latin typeface="Calibri"/>
                        </a:rPr>
                        <a:t>7.10 (1.30, 41.70)</a:t>
                      </a:r>
                    </a:p>
                  </a:txBody>
                  <a:tcPr anchor="ctr" marL="54864" marR="54864" marT="22860" marB="22860">
                    <a:solidFill>
                      <a:srgbClr val="E1F3E8"/>
                    </a:solidFill>
                  </a:tcPr>
                </a:tc>
                <a:tc>
                  <a:txBody>
                    <a:bodyPr/>
                    <a:lstStyle/>
                    <a:p>
                      <a:pPr algn="ctr"/>
                      <a:r>
                        <a:rPr sz="950" b="1" i="0">
                          <a:solidFill>
                            <a:srgbClr val="1E2430"/>
                          </a:solidFill>
                          <a:latin typeface="Calibri"/>
                        </a:rPr>
                        <a:t>.007</a:t>
                      </a:r>
                    </a:p>
                  </a:txBody>
                  <a:tcPr anchor="ctr" marL="54864" marR="54864" marT="22860" marB="22860">
                    <a:solidFill>
                      <a:srgbClr val="E1F3E8"/>
                    </a:solidFill>
                  </a:tcPr>
                </a:tc>
                <a:tc>
                  <a:txBody>
                    <a:bodyPr/>
                    <a:lstStyle/>
                    <a:p>
                      <a:pPr algn="ctr"/>
                      <a:r>
                        <a:rPr sz="950" b="1" i="0">
                          <a:solidFill>
                            <a:srgbClr val="1E2430"/>
                          </a:solidFill>
                          <a:latin typeface="Calibri"/>
                        </a:rPr>
                        <a:t>.182</a:t>
                      </a:r>
                    </a:p>
                  </a:txBody>
                  <a:tcPr anchor="ctr" marL="54864" marR="54864" marT="22860" marB="22860">
                    <a:solidFill>
                      <a:srgbClr val="E1F3E8"/>
                    </a:solidFill>
                  </a:tcPr>
                </a:tc>
                <a:tc>
                  <a:txBody>
                    <a:bodyPr/>
                    <a:lstStyle/>
                    <a:p>
                      <a:pPr algn="ctr"/>
                      <a:r>
                        <a:rPr sz="950" b="1" i="0">
                          <a:solidFill>
                            <a:srgbClr val="1E2430"/>
                          </a:solidFill>
                          <a:latin typeface="Calibri"/>
                        </a:rPr>
                        <a:t>14.27 (&lt; .001)</a:t>
                      </a:r>
                    </a:p>
                  </a:txBody>
                  <a:tcPr anchor="ctr" marL="54864" marR="54864" marT="22860" marB="22860">
                    <a:solidFill>
                      <a:srgbClr val="E1F3E8"/>
                    </a:solidFill>
                  </a:tcPr>
                </a:tc>
              </a:tr>
              <a:tr h="371475">
                <a:tc>
                  <a:txBody>
                    <a:bodyPr/>
                    <a:lstStyle/>
                    <a:p>
                      <a:pPr algn="l"/>
                      <a:r>
                        <a:rPr sz="950" b="0" i="0">
                          <a:solidFill>
                            <a:srgbClr val="1E2430"/>
                          </a:solidFill>
                          <a:latin typeface="Calibri"/>
                        </a:rPr>
                        <a:t>Refined Archetypes — Response Length (words)</a:t>
                      </a:r>
                    </a:p>
                  </a:txBody>
                  <a:tcPr anchor="ctr" marL="54864" marR="54864" marT="22860" marB="22860">
                    <a:solidFill>
                      <a:srgbClr val="FFFFFF"/>
                    </a:solidFill>
                  </a:tcPr>
                </a:tc>
                <a:tc>
                  <a:txBody>
                    <a:bodyPr/>
                    <a:lstStyle/>
                    <a:p>
                      <a:pPr algn="ctr"/>
                      <a:r>
                        <a:rPr sz="950" b="0" i="0">
                          <a:solidFill>
                            <a:srgbClr val="1E2430"/>
                          </a:solidFill>
                          <a:latin typeface="Calibri"/>
                        </a:rPr>
                        <a:t>25.45 (9.17)</a:t>
                      </a:r>
                    </a:p>
                  </a:txBody>
                  <a:tcPr anchor="ctr" marL="54864" marR="54864" marT="22860" marB="22860">
                    <a:solidFill>
                      <a:srgbClr val="FFFFFF"/>
                    </a:solidFill>
                  </a:tcPr>
                </a:tc>
                <a:tc>
                  <a:txBody>
                    <a:bodyPr/>
                    <a:lstStyle/>
                    <a:p>
                      <a:pPr algn="ctr"/>
                      <a:r>
                        <a:rPr sz="950" b="0" i="0">
                          <a:solidFill>
                            <a:srgbClr val="1E2430"/>
                          </a:solidFill>
                          <a:latin typeface="Calibri"/>
                        </a:rPr>
                        <a:t>14.48 (5.16)</a:t>
                      </a:r>
                    </a:p>
                  </a:txBody>
                  <a:tcPr anchor="ctr" marL="54864" marR="54864" marT="22860" marB="22860">
                    <a:solidFill>
                      <a:srgbClr val="FFFFFF"/>
                    </a:solidFill>
                  </a:tcPr>
                </a:tc>
                <a:tc>
                  <a:txBody>
                    <a:bodyPr/>
                    <a:lstStyle/>
                    <a:p>
                      <a:pPr algn="ctr"/>
                      <a:r>
                        <a:rPr sz="950" b="0" i="0">
                          <a:solidFill>
                            <a:srgbClr val="1E2430"/>
                          </a:solidFill>
                          <a:latin typeface="Calibri"/>
                        </a:rPr>
                        <a:t>16.33 (3.52)</a:t>
                      </a:r>
                    </a:p>
                  </a:txBody>
                  <a:tcPr anchor="ctr" marL="54864" marR="54864" marT="22860" marB="22860">
                    <a:solidFill>
                      <a:srgbClr val="FFFFFF"/>
                    </a:solidFill>
                  </a:tcPr>
                </a:tc>
                <a:tc>
                  <a:txBody>
                    <a:bodyPr/>
                    <a:lstStyle/>
                    <a:p>
                      <a:pPr algn="ctr"/>
                      <a:r>
                        <a:rPr sz="950" b="0" i="0">
                          <a:solidFill>
                            <a:srgbClr val="1E2430"/>
                          </a:solidFill>
                          <a:latin typeface="Calibri"/>
                        </a:rPr>
                        <a:t>31.92 (1.41, 45.24)</a:t>
                      </a:r>
                    </a:p>
                  </a:txBody>
                  <a:tcPr anchor="ctr" marL="54864" marR="54864" marT="22860" marB="22860">
                    <a:solidFill>
                      <a:srgbClr val="FFFFFF"/>
                    </a:solidFill>
                  </a:tcPr>
                </a:tc>
                <a:tc>
                  <a:txBody>
                    <a:bodyPr/>
                    <a:lstStyle/>
                    <a:p>
                      <a:pPr algn="ctr"/>
                      <a:r>
                        <a:rPr sz="950" b="0" i="0">
                          <a:solidFill>
                            <a:srgbClr val="1E2430"/>
                          </a:solidFill>
                          <a:latin typeface="Calibri"/>
                        </a:rPr>
                        <a:t>&lt; .001</a:t>
                      </a:r>
                    </a:p>
                  </a:txBody>
                  <a:tcPr anchor="ctr" marL="54864" marR="54864" marT="22860" marB="22860">
                    <a:solidFill>
                      <a:srgbClr val="FFFFFF"/>
                    </a:solidFill>
                  </a:tcPr>
                </a:tc>
                <a:tc>
                  <a:txBody>
                    <a:bodyPr/>
                    <a:lstStyle/>
                    <a:p>
                      <a:pPr algn="ctr"/>
                      <a:r>
                        <a:rPr sz="950" b="0" i="0">
                          <a:solidFill>
                            <a:srgbClr val="1E2430"/>
                          </a:solidFill>
                          <a:latin typeface="Calibri"/>
                        </a:rPr>
                        <a:t>.499</a:t>
                      </a:r>
                    </a:p>
                  </a:txBody>
                  <a:tcPr anchor="ctr" marL="54864" marR="54864" marT="22860" marB="22860">
                    <a:solidFill>
                      <a:srgbClr val="FFFFFF"/>
                    </a:solidFill>
                  </a:tcPr>
                </a:tc>
                <a:tc>
                  <a:txBody>
                    <a:bodyPr/>
                    <a:lstStyle/>
                    <a:p>
                      <a:pPr algn="ctr"/>
                      <a:r>
                        <a:rPr sz="950" b="0" i="0">
                          <a:solidFill>
                            <a:srgbClr val="1E2430"/>
                          </a:solidFill>
                          <a:latin typeface="Calibri"/>
                        </a:rPr>
                        <a:t>36.69 (&lt; .001)</a:t>
                      </a:r>
                    </a:p>
                  </a:txBody>
                  <a:tcPr anchor="ctr" marL="54864" marR="54864" marT="22860" marB="22860">
                    <a:solidFill>
                      <a:srgbClr val="FFFFFF"/>
                    </a:solidFill>
                  </a:tcPr>
                </a:tc>
              </a:tr>
            </a:tbl>
          </a:graphicData>
        </a:graphic>
      </p:graphicFrame>
      <p:sp>
        <p:nvSpPr>
          <p:cNvPr id="12" name="Rounded Rectangle 11"/>
          <p:cNvSpPr/>
          <p:nvPr/>
        </p:nvSpPr>
        <p:spPr>
          <a:xfrm>
            <a:off x="320040" y="4480560"/>
            <a:ext cx="5623560" cy="19659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0040" y="448056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Step-by-Step Computation of Holm-Adjusted Pairwise Contrasts</a:t>
            </a:r>
          </a:p>
        </p:txBody>
      </p:sp>
      <p:sp>
        <p:nvSpPr>
          <p:cNvPr id="14" name="TextBox 13"/>
          <p:cNvSpPr txBox="1"/>
          <p:nvPr/>
        </p:nvSpPr>
        <p:spPr>
          <a:xfrm>
            <a:off x="411479" y="4864608"/>
            <a:ext cx="5440680" cy="15270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Why Holm–Bonferroni Step-Down Adjustment?</a:t>
            </a:r>
            <a:r>
              <a:rPr sz="1000" b="0" i="0">
                <a:solidFill>
                  <a:srgbClr val="1E2430"/>
                </a:solidFill>
                <a:latin typeface="Calibri"/>
              </a:rPr>
              <a:t> Testing 3 pairs (`Adaptive vs Static`, `Adaptive vs Zero-Shot`, `Static vs Zero-Shot`) requires controlling familywise α = .05 by sorting raw </a:t>
            </a:r>
            <a:r>
              <a:rPr sz="1000" b="0" i="1">
                <a:solidFill>
                  <a:srgbClr val="1E2430"/>
                </a:solidFill>
                <a:latin typeface="Calibri"/>
              </a:rPr>
              <a:t>p</a:t>
            </a:r>
            <a:r>
              <a:rPr sz="1000" b="0" i="0">
                <a:solidFill>
                  <a:srgbClr val="1E2430"/>
                </a:solidFill>
                <a:latin typeface="Calibri"/>
              </a:rPr>
              <a:t>-values from smallest to largest and multiplying by (3, 2, 1).</a:t>
            </a:r>
          </a:p>
          <a:p>
            <a:pPr>
              <a:spcAft>
                <a:spcPts val="400"/>
              </a:spcAft>
            </a:pPr>
            <a:r>
              <a:rPr sz="1000" b="0" i="0">
                <a:solidFill>
                  <a:srgbClr val="1E2430"/>
                </a:solidFill>
                <a:latin typeface="Calibri"/>
              </a:rPr>
              <a:t>• </a:t>
            </a:r>
            <a:r>
              <a:rPr sz="1000" b="1" i="0">
                <a:solidFill>
                  <a:srgbClr val="1E2430"/>
                </a:solidFill>
                <a:latin typeface="Calibri"/>
              </a:rPr>
              <a:t>Contrast 1 (`Cluster-Adaptive vs. Static Few-Shot`):</a:t>
            </a:r>
          </a:p>
          <a:p>
            <a:pPr>
              <a:spcAft>
                <a:spcPts val="400"/>
              </a:spcAft>
            </a:pPr>
            <a:r>
              <a:rPr sz="1000" b="0" i="0">
                <a:solidFill>
                  <a:srgbClr val="1E2430"/>
                </a:solidFill>
                <a:latin typeface="Calibri"/>
              </a:rPr>
              <a:t>    ▪ Mean gain Δ = </a:t>
            </a:r>
            <a:r>
              <a:rPr sz="1000" b="1" i="0">
                <a:solidFill>
                  <a:srgbClr val="1E2430"/>
                </a:solidFill>
                <a:latin typeface="Calibri"/>
              </a:rPr>
              <a:t>+.144 cosine units (+31.8%)</a:t>
            </a:r>
            <a:r>
              <a:rPr sz="1000" b="0" i="0">
                <a:solidFill>
                  <a:srgbClr val="1E2430"/>
                </a:solidFill>
                <a:latin typeface="Calibri"/>
              </a:rPr>
              <a:t>, paired </a:t>
            </a:r>
            <a:r>
              <a:rPr sz="1000" b="0" i="1">
                <a:solidFill>
                  <a:srgbClr val="1E2430"/>
                </a:solidFill>
                <a:latin typeface="Calibri"/>
              </a:rPr>
              <a:t>t</a:t>
            </a:r>
            <a:r>
              <a:rPr sz="1000" b="0" i="0">
                <a:solidFill>
                  <a:srgbClr val="1E2430"/>
                </a:solidFill>
                <a:latin typeface="Calibri"/>
              </a:rPr>
              <a:t>(32) = </a:t>
            </a:r>
            <a:r>
              <a:rPr sz="1000" b="1" i="0">
                <a:solidFill>
                  <a:srgbClr val="1E2430"/>
                </a:solidFill>
                <a:latin typeface="Calibri"/>
              </a:rPr>
              <a:t>4.26</a:t>
            </a:r>
            <a:r>
              <a:rPr sz="1000" b="0" i="0">
                <a:solidFill>
                  <a:srgbClr val="1E2430"/>
                </a:solidFill>
                <a:latin typeface="Calibri"/>
              </a:rPr>
              <a:t>, </a:t>
            </a:r>
            <a:r>
              <a:rPr sz="1000" b="1" i="1">
                <a:solidFill>
                  <a:srgbClr val="1E2430"/>
                </a:solidFill>
                <a:latin typeface="Calibri"/>
              </a:rPr>
              <a:t>p</a:t>
            </a:r>
            <a:r>
              <a:rPr sz="1000" b="1" i="0">
                <a:solidFill>
                  <a:srgbClr val="1E2430"/>
                </a:solidFill>
                <a:latin typeface="Calibri"/>
              </a:rPr>
              <a:t>&lt;sub&gt;Holm&lt;/sub&gt; &lt; .001</a:t>
            </a:r>
            <a:r>
              <a:rPr sz="1000" b="0" i="0">
                <a:solidFill>
                  <a:srgbClr val="1E2430"/>
                </a:solidFill>
                <a:latin typeface="Calibri"/>
              </a:rPr>
              <a:t>, standardized effect </a:t>
            </a:r>
            <a:r>
              <a:rPr sz="1000" b="1" i="1">
                <a:solidFill>
                  <a:srgbClr val="1E2430"/>
                </a:solidFill>
                <a:latin typeface="Calibri"/>
              </a:rPr>
              <a:t>d&lt;sub&gt;z&lt;/sub&gt;</a:t>
            </a:r>
            <a:r>
              <a:rPr sz="1000" b="1" i="0">
                <a:solidFill>
                  <a:srgbClr val="1E2430"/>
                </a:solidFill>
                <a:latin typeface="Calibri"/>
              </a:rPr>
              <a:t> = 0.74</a:t>
            </a:r>
            <a:r>
              <a:rPr sz="1000" b="0" i="0">
                <a:solidFill>
                  <a:srgbClr val="1E2430"/>
                </a:solidFill>
                <a:latin typeface="Calibri"/>
              </a:rPr>
              <a:t> (large).</a:t>
            </a:r>
          </a:p>
          <a:p>
            <a:pPr>
              <a:spcAft>
                <a:spcPts val="400"/>
              </a:spcAft>
            </a:pPr>
            <a:r>
              <a:rPr sz="1000" b="0" i="0">
                <a:solidFill>
                  <a:srgbClr val="1E2430"/>
                </a:solidFill>
                <a:latin typeface="Calibri"/>
              </a:rPr>
              <a:t>• </a:t>
            </a:r>
            <a:r>
              <a:rPr sz="1000" b="1" i="0">
                <a:solidFill>
                  <a:srgbClr val="1E2430"/>
                </a:solidFill>
                <a:latin typeface="Calibri"/>
              </a:rPr>
              <a:t>Contrast 2 (`Cluster-Adaptive vs. Zero-Shot`):</a:t>
            </a:r>
          </a:p>
          <a:p>
            <a:pPr>
              <a:spcAft>
                <a:spcPts val="400"/>
              </a:spcAft>
            </a:pPr>
            <a:r>
              <a:rPr sz="1000" b="0" i="0">
                <a:solidFill>
                  <a:srgbClr val="1E2430"/>
                </a:solidFill>
                <a:latin typeface="Calibri"/>
              </a:rPr>
              <a:t>    ▪ Mean gain Δ = </a:t>
            </a:r>
            <a:r>
              <a:rPr sz="1000" b="1" i="0">
                <a:solidFill>
                  <a:srgbClr val="1E2430"/>
                </a:solidFill>
                <a:latin typeface="Calibri"/>
              </a:rPr>
              <a:t>+.067 cosine units (+12.6%)</a:t>
            </a:r>
            <a:r>
              <a:rPr sz="1000" b="0" i="0">
                <a:solidFill>
                  <a:srgbClr val="1E2430"/>
                </a:solidFill>
                <a:latin typeface="Calibri"/>
              </a:rPr>
              <a:t>, paired </a:t>
            </a:r>
            <a:r>
              <a:rPr sz="1000" b="0" i="1">
                <a:solidFill>
                  <a:srgbClr val="1E2430"/>
                </a:solidFill>
                <a:latin typeface="Calibri"/>
              </a:rPr>
              <a:t>t</a:t>
            </a:r>
            <a:r>
              <a:rPr sz="1000" b="0" i="0">
                <a:solidFill>
                  <a:srgbClr val="1E2430"/>
                </a:solidFill>
                <a:latin typeface="Calibri"/>
              </a:rPr>
              <a:t>(32) = </a:t>
            </a:r>
            <a:r>
              <a:rPr sz="1000" b="1" i="0">
                <a:solidFill>
                  <a:srgbClr val="1E2430"/>
                </a:solidFill>
                <a:latin typeface="Calibri"/>
              </a:rPr>
              <a:t>2.37</a:t>
            </a:r>
            <a:r>
              <a:rPr sz="1000" b="0" i="0">
                <a:solidFill>
                  <a:srgbClr val="1E2430"/>
                </a:solidFill>
                <a:latin typeface="Calibri"/>
              </a:rPr>
              <a:t>, </a:t>
            </a:r>
            <a:r>
              <a:rPr sz="1000" b="1" i="1">
                <a:solidFill>
                  <a:srgbClr val="1E2430"/>
                </a:solidFill>
                <a:latin typeface="Calibri"/>
              </a:rPr>
              <a:t>p</a:t>
            </a:r>
            <a:r>
              <a:rPr sz="1000" b="1" i="0">
                <a:solidFill>
                  <a:srgbClr val="1E2430"/>
                </a:solidFill>
                <a:latin typeface="Calibri"/>
              </a:rPr>
              <a:t>&lt;sub&gt;Holm&lt;/sub&gt; = .049</a:t>
            </a:r>
            <a:r>
              <a:rPr sz="1000" b="0" i="0">
                <a:solidFill>
                  <a:srgbClr val="1E2430"/>
                </a:solidFill>
                <a:latin typeface="Calibri"/>
              </a:rPr>
              <a:t>, </a:t>
            </a:r>
            <a:r>
              <a:rPr sz="1000" b="1" i="1">
                <a:solidFill>
                  <a:srgbClr val="1E2430"/>
                </a:solidFill>
                <a:latin typeface="Calibri"/>
              </a:rPr>
              <a:t>d&lt;sub&gt;z&lt;/sub&gt;</a:t>
            </a:r>
            <a:r>
              <a:rPr sz="1000" b="1" i="0">
                <a:solidFill>
                  <a:srgbClr val="1E2430"/>
                </a:solidFill>
                <a:latin typeface="Calibri"/>
              </a:rPr>
              <a:t> = 0.41</a:t>
            </a:r>
            <a:r>
              <a:rPr sz="1000" b="0" i="0">
                <a:solidFill>
                  <a:srgbClr val="1E2430"/>
                </a:solidFill>
                <a:latin typeface="Calibri"/>
              </a:rPr>
              <a:t>.</a:t>
            </a:r>
          </a:p>
        </p:txBody>
      </p:sp>
      <p:sp>
        <p:nvSpPr>
          <p:cNvPr id="15" name="Rounded Rectangle 14"/>
          <p:cNvSpPr/>
          <p:nvPr/>
        </p:nvSpPr>
        <p:spPr>
          <a:xfrm>
            <a:off x="6217920" y="4480560"/>
            <a:ext cx="5650992" cy="19659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48056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Why Pacing Error Drops from 10.12 Words to 3.87 Words</a:t>
            </a:r>
          </a:p>
        </p:txBody>
      </p:sp>
      <p:sp>
        <p:nvSpPr>
          <p:cNvPr id="17" name="TextBox 16"/>
          <p:cNvSpPr txBox="1"/>
          <p:nvPr/>
        </p:nvSpPr>
        <p:spPr>
          <a:xfrm>
            <a:off x="6309359" y="4864608"/>
            <a:ext cx="5468112" cy="15270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What Is Pacing Calibration Error (`word_abs_err`)?</a:t>
            </a:r>
          </a:p>
          <a:p>
            <a:pPr>
              <a:spcAft>
                <a:spcPts val="400"/>
              </a:spcAft>
            </a:pPr>
            <a:r>
              <a:rPr sz="1000" b="0" i="0">
                <a:solidFill>
                  <a:srgbClr val="1E2430"/>
                </a:solidFill>
                <a:latin typeface="Calibri"/>
              </a:rPr>
              <a:t>    ▪ Formula: </a:t>
            </a:r>
            <a:r>
              <a:rPr sz="1000" b="1" i="0">
                <a:solidFill>
                  <a:srgbClr val="1E2430"/>
                </a:solidFill>
                <a:latin typeface="Calibri"/>
              </a:rPr>
              <a:t>|Words&lt;sub&gt;generated&lt;/sub&gt; − μ&lt;sub&gt;Words, target archetype&lt;/sub&gt;|</a:t>
            </a:r>
            <a:r>
              <a:rPr sz="1000" b="0" i="0">
                <a:solidFill>
                  <a:srgbClr val="1E2430"/>
                </a:solidFill>
                <a:latin typeface="Calibri"/>
              </a:rPr>
              <a:t>.</a:t>
            </a:r>
          </a:p>
          <a:p>
            <a:pPr>
              <a:spcAft>
                <a:spcPts val="400"/>
              </a:spcAft>
            </a:pPr>
            <a:r>
              <a:rPr sz="1000" b="0" i="0">
                <a:solidFill>
                  <a:srgbClr val="1E2430"/>
                </a:solidFill>
                <a:latin typeface="Calibri"/>
              </a:rPr>
              <a:t>    ▪ Human consultants use ~13 words for </a:t>
            </a:r>
            <a:r>
              <a:rPr sz="1000" b="0" i="1">
                <a:solidFill>
                  <a:srgbClr val="1E2430"/>
                </a:solidFill>
                <a:latin typeface="Calibri"/>
              </a:rPr>
              <a:t>Decisive Bookers</a:t>
            </a:r>
            <a:r>
              <a:rPr sz="1000" b="0" i="0">
                <a:solidFill>
                  <a:srgbClr val="1E2430"/>
                </a:solidFill>
                <a:latin typeface="Calibri"/>
              </a:rPr>
              <a:t>, ~19 words for </a:t>
            </a:r>
            <a:r>
              <a:rPr sz="1000" b="0" i="1">
                <a:solidFill>
                  <a:srgbClr val="1E2430"/>
                </a:solidFill>
                <a:latin typeface="Calibri"/>
              </a:rPr>
              <a:t>Open Explorers</a:t>
            </a:r>
            <a:r>
              <a:rPr sz="1000" b="0" i="0">
                <a:solidFill>
                  <a:srgbClr val="1E2430"/>
                </a:solidFill>
                <a:latin typeface="Calibri"/>
              </a:rPr>
              <a:t>, and ~15 words for </a:t>
            </a:r>
            <a:r>
              <a:rPr sz="1000" b="0" i="1">
                <a:solidFill>
                  <a:srgbClr val="1E2430"/>
                </a:solidFill>
                <a:latin typeface="Calibri"/>
              </a:rPr>
              <a:t>Rigid-Constraint Seekers</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Why `Cluster-Adaptive` Wins on Pacing:</a:t>
            </a:r>
          </a:p>
          <a:p>
            <a:pPr>
              <a:spcAft>
                <a:spcPts val="400"/>
              </a:spcAft>
            </a:pPr>
            <a:r>
              <a:rPr sz="1000" b="0" i="0">
                <a:solidFill>
                  <a:srgbClr val="1E2430"/>
                </a:solidFill>
                <a:latin typeface="Calibri"/>
              </a:rPr>
              <a:t>    ▪ `Zero-Shot` is overly verbose (25.5 words → 10.12w error). `Static Few-Shot` forces one fixed length (6.33w error). `Cluster-Adaptive` matches each archetype's exact pacing, cutting error to </a:t>
            </a:r>
            <a:r>
              <a:rPr sz="1000" b="1" i="0">
                <a:solidFill>
                  <a:srgbClr val="1E2430"/>
                </a:solidFill>
                <a:latin typeface="Calibri"/>
              </a:rPr>
              <a:t>3.87 words</a:t>
            </a:r>
            <a:r>
              <a:rPr sz="1000" b="0" i="0">
                <a:solidFill>
                  <a:srgbClr val="1E2430"/>
                </a:solidFill>
                <a:latin typeface="Calibri"/>
              </a:rPr>
              <a:t> (</a:t>
            </a:r>
            <a:r>
              <a:rPr sz="1000" b="0" i="1">
                <a:solidFill>
                  <a:srgbClr val="1E2430"/>
                </a:solidFill>
                <a:latin typeface="Calibri"/>
              </a:rPr>
              <a:t>p</a:t>
            </a:r>
            <a:r>
              <a:rPr sz="1000" b="0" i="0">
                <a:solidFill>
                  <a:srgbClr val="1E2430"/>
                </a:solidFill>
                <a:latin typeface="Calibri"/>
              </a:rPr>
              <a:t>&lt;sub&gt;Holm&lt;/sub&gt; = .008 vs. Static; </a:t>
            </a:r>
            <a:r>
              <a:rPr sz="1000" b="0" i="1">
                <a:solidFill>
                  <a:srgbClr val="1E2430"/>
                </a:solidFill>
                <a:latin typeface="Calibri"/>
              </a:rPr>
              <a:t>p</a:t>
            </a:r>
            <a:r>
              <a:rPr sz="1000" b="0" i="0">
                <a:solidFill>
                  <a:srgbClr val="1E2430"/>
                </a:solidFill>
                <a:latin typeface="Calibri"/>
              </a:rPr>
              <a:t>&lt;sub&gt;Holm&lt;/sub&gt; = .004 vs. Zero-Shot)!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(RQ3)</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28</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RQ3 (Part 1): 2 × 2 Factorial Design, Declarative Rules &amp; Dual-Judge Reliability</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Tables 9 &amp; C3: Testing Rules Mode (Off vs. Active) × Prompting Strategy (Zero-Shot vs. Cluster-Adaptive) across N = 144 units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6720838" cy="3063240"/>
        </p:xfrm>
        <a:graphic>
          <a:graphicData uri="http://schemas.openxmlformats.org/drawingml/2006/table">
            <a:tbl>
              <a:tblPr firstRow="1" bandRow="1">
                <a:tableStyleId>{5C22544A-7EE6-4342-B048-85BDC9FD1C3A}</a:tableStyleId>
              </a:tblPr>
              <a:tblGrid>
                <a:gridCol w="1753262"/>
                <a:gridCol w="2727297"/>
                <a:gridCol w="1363648"/>
                <a:gridCol w="876631"/>
              </a:tblGrid>
              <a:tr h="510540">
                <a:tc>
                  <a:txBody>
                    <a:bodyPr/>
                    <a:lstStyle/>
                    <a:p>
                      <a:pPr algn="l"/>
                      <a:r>
                        <a:rPr sz="1100" b="1" i="0">
                          <a:solidFill>
                            <a:srgbClr val="FFFFFF"/>
                          </a:solidFill>
                          <a:latin typeface="Calibri"/>
                        </a:rPr>
                        <a:t>Rule ID &amp; Policy Name</a:t>
                      </a:r>
                    </a:p>
                  </a:txBody>
                  <a:tcPr anchor="ctr" marL="54864" marR="54864" marT="27432" marB="27432">
                    <a:solidFill>
                      <a:srgbClr val="14325C"/>
                    </a:solidFill>
                  </a:tcPr>
                </a:tc>
                <a:tc>
                  <a:txBody>
                    <a:bodyPr/>
                    <a:lstStyle/>
                    <a:p>
                      <a:pPr algn="l"/>
                      <a:r>
                        <a:rPr sz="1100" b="1" i="0">
                          <a:solidFill>
                            <a:srgbClr val="FFFFFF"/>
                          </a:solidFill>
                          <a:latin typeface="Calibri"/>
                        </a:rPr>
                        <a:t>Deterministic Trigger Condition</a:t>
                      </a:r>
                    </a:p>
                  </a:txBody>
                  <a:tcPr anchor="ctr" marL="54864" marR="54864" marT="27432" marB="27432">
                    <a:solidFill>
                      <a:srgbClr val="14325C"/>
                    </a:solidFill>
                  </a:tcPr>
                </a:tc>
                <a:tc>
                  <a:txBody>
                    <a:bodyPr/>
                    <a:lstStyle/>
                    <a:p>
                      <a:pPr algn="l"/>
                      <a:r>
                        <a:rPr sz="1100" b="1" i="0">
                          <a:solidFill>
                            <a:srgbClr val="FFFFFF"/>
                          </a:solidFill>
                          <a:latin typeface="Calibri"/>
                        </a:rPr>
                        <a:t>Action</a:t>
                      </a:r>
                    </a:p>
                  </a:txBody>
                  <a:tcPr anchor="ctr" marL="54864" marR="54864" marT="27432" marB="27432">
                    <a:solidFill>
                      <a:srgbClr val="14325C"/>
                    </a:solidFill>
                  </a:tcPr>
                </a:tc>
                <a:tc>
                  <a:txBody>
                    <a:bodyPr/>
                    <a:lstStyle/>
                    <a:p>
                      <a:pPr algn="ctr"/>
                      <a:r>
                        <a:rPr sz="1100" b="1" i="0">
                          <a:solidFill>
                            <a:srgbClr val="FFFFFF"/>
                          </a:solidFill>
                          <a:latin typeface="Calibri"/>
                        </a:rPr>
                        <a:t>Severity</a:t>
                      </a:r>
                    </a:p>
                  </a:txBody>
                  <a:tcPr anchor="ctr" marL="54864" marR="54864" marT="27432" marB="27432">
                    <a:solidFill>
                      <a:srgbClr val="14325C"/>
                    </a:solidFill>
                  </a:tcPr>
                </a:tc>
              </a:tr>
              <a:tr h="510540">
                <a:tc>
                  <a:txBody>
                    <a:bodyPr/>
                    <a:lstStyle/>
                    <a:p>
                      <a:pPr algn="l"/>
                      <a:r>
                        <a:rPr sz="980" b="1" i="0">
                          <a:solidFill>
                            <a:srgbClr val="1E2430"/>
                          </a:solidFill>
                          <a:latin typeface="Calibri"/>
                        </a:rPr>
                        <a:t>RULE_VISA_LEAD_TIME:
Visa Processing Lead Time</a:t>
                      </a:r>
                    </a:p>
                  </a:txBody>
                  <a:tcPr anchor="ctr" marL="54864" marR="54864" marT="22860" marB="22860">
                    <a:solidFill>
                      <a:srgbClr val="E1F3E8"/>
                    </a:solidFill>
                  </a:tcPr>
                </a:tc>
                <a:tc>
                  <a:txBody>
                    <a:bodyPr/>
                    <a:lstStyle/>
                    <a:p>
                      <a:pPr algn="l"/>
                      <a:r>
                        <a:rPr sz="980" b="1" i="0">
                          <a:solidFill>
                            <a:srgbClr val="1E2430"/>
                          </a:solidFill>
                          <a:latin typeface="Calibri"/>
                        </a:rPr>
                        <a:t>departure_lead_days &lt; 15 on international destination</a:t>
                      </a:r>
                    </a:p>
                  </a:txBody>
                  <a:tcPr anchor="ctr" marL="54864" marR="54864" marT="22860" marB="22860">
                    <a:solidFill>
                      <a:srgbClr val="E1F3E8"/>
                    </a:solidFill>
                  </a:tcPr>
                </a:tc>
                <a:tc>
                  <a:txBody>
                    <a:bodyPr/>
                    <a:lstStyle/>
                    <a:p>
                      <a:pPr algn="l"/>
                      <a:r>
                        <a:rPr sz="980" b="1" i="0">
                          <a:solidFill>
                            <a:srgbClr val="1E2430"/>
                          </a:solidFill>
                          <a:latin typeface="Calibri"/>
                        </a:rPr>
                        <a:t>flag_warning</a:t>
                      </a:r>
                    </a:p>
                  </a:txBody>
                  <a:tcPr anchor="ctr" marL="54864" marR="54864" marT="22860" marB="22860">
                    <a:solidFill>
                      <a:srgbClr val="E1F3E8"/>
                    </a:solidFill>
                  </a:tcPr>
                </a:tc>
                <a:tc>
                  <a:txBody>
                    <a:bodyPr/>
                    <a:lstStyle/>
                    <a:p>
                      <a:pPr algn="ctr"/>
                      <a:r>
                        <a:rPr sz="980" b="1" i="0">
                          <a:solidFill>
                            <a:srgbClr val="1E2430"/>
                          </a:solidFill>
                          <a:latin typeface="Calibri"/>
                        </a:rPr>
                        <a:t>high</a:t>
                      </a:r>
                    </a:p>
                  </a:txBody>
                  <a:tcPr anchor="ctr" marL="54864" marR="54864" marT="22860" marB="22860">
                    <a:solidFill>
                      <a:srgbClr val="E1F3E8"/>
                    </a:solidFill>
                  </a:tcPr>
                </a:tc>
              </a:tr>
              <a:tr h="510540">
                <a:tc>
                  <a:txBody>
                    <a:bodyPr/>
                    <a:lstStyle/>
                    <a:p>
                      <a:pPr algn="l"/>
                      <a:r>
                        <a:rPr sz="980" b="1" i="0">
                          <a:solidFill>
                            <a:srgbClr val="1E2430"/>
                          </a:solidFill>
                          <a:latin typeface="Calibri"/>
                        </a:rPr>
                        <a:t>RULE_PASSPORT_VALIDITY:
Passport 6-Month Validity</a:t>
                      </a:r>
                    </a:p>
                  </a:txBody>
                  <a:tcPr anchor="ctr" marL="54864" marR="54864" marT="22860" marB="22860">
                    <a:solidFill>
                      <a:srgbClr val="E1F3E8"/>
                    </a:solidFill>
                  </a:tcPr>
                </a:tc>
                <a:tc>
                  <a:txBody>
                    <a:bodyPr/>
                    <a:lstStyle/>
                    <a:p>
                      <a:pPr algn="l"/>
                      <a:r>
                        <a:rPr sz="980" b="1" i="0">
                          <a:solidFill>
                            <a:srgbClr val="1E2430"/>
                          </a:solidFill>
                          <a:latin typeface="Calibri"/>
                        </a:rPr>
                        <a:t>passport_expiry_months &lt; 6 on international trip</a:t>
                      </a:r>
                    </a:p>
                  </a:txBody>
                  <a:tcPr anchor="ctr" marL="54864" marR="54864" marT="22860" marB="22860">
                    <a:solidFill>
                      <a:srgbClr val="E1F3E8"/>
                    </a:solidFill>
                  </a:tcPr>
                </a:tc>
                <a:tc>
                  <a:txBody>
                    <a:bodyPr/>
                    <a:lstStyle/>
                    <a:p>
                      <a:pPr algn="l"/>
                      <a:r>
                        <a:rPr sz="980" b="1" i="0">
                          <a:solidFill>
                            <a:srgbClr val="1E2430"/>
                          </a:solidFill>
                          <a:latin typeface="Calibri"/>
                        </a:rPr>
                        <a:t>block_booking</a:t>
                      </a:r>
                    </a:p>
                  </a:txBody>
                  <a:tcPr anchor="ctr" marL="54864" marR="54864" marT="22860" marB="22860">
                    <a:solidFill>
                      <a:srgbClr val="E1F3E8"/>
                    </a:solidFill>
                  </a:tcPr>
                </a:tc>
                <a:tc>
                  <a:txBody>
                    <a:bodyPr/>
                    <a:lstStyle/>
                    <a:p>
                      <a:pPr algn="ctr"/>
                      <a:r>
                        <a:rPr sz="980" b="1" i="0">
                          <a:solidFill>
                            <a:srgbClr val="1E2430"/>
                          </a:solidFill>
                          <a:latin typeface="Calibri"/>
                        </a:rPr>
                        <a:t>critical</a:t>
                      </a:r>
                    </a:p>
                  </a:txBody>
                  <a:tcPr anchor="ctr" marL="54864" marR="54864" marT="22860" marB="22860">
                    <a:solidFill>
                      <a:srgbClr val="E1F3E8"/>
                    </a:solidFill>
                  </a:tcPr>
                </a:tc>
              </a:tr>
              <a:tr h="510540">
                <a:tc>
                  <a:txBody>
                    <a:bodyPr/>
                    <a:lstStyle/>
                    <a:p>
                      <a:pPr algn="l"/>
                      <a:r>
                        <a:rPr sz="980" b="1" i="0">
                          <a:solidFill>
                            <a:srgbClr val="1E2430"/>
                          </a:solidFill>
                          <a:latin typeface="Calibri"/>
                        </a:rPr>
                        <a:t>RULE_PARTY_SIZE_LIMIT:
Maximum FIT Adult Capacity</a:t>
                      </a:r>
                    </a:p>
                  </a:txBody>
                  <a:tcPr anchor="ctr" marL="54864" marR="54864" marT="22860" marB="22860">
                    <a:solidFill>
                      <a:srgbClr val="E1F3E8"/>
                    </a:solidFill>
                  </a:tcPr>
                </a:tc>
                <a:tc>
                  <a:txBody>
                    <a:bodyPr/>
                    <a:lstStyle/>
                    <a:p>
                      <a:pPr algn="l"/>
                      <a:r>
                        <a:rPr sz="980" b="1" i="0">
                          <a:solidFill>
                            <a:srgbClr val="1E2430"/>
                          </a:solidFill>
                          <a:latin typeface="Calibri"/>
                        </a:rPr>
                        <a:t>traveler_count_adults &gt; 4 and package_type == 'FIT'</a:t>
                      </a:r>
                    </a:p>
                  </a:txBody>
                  <a:tcPr anchor="ctr" marL="54864" marR="54864" marT="22860" marB="22860">
                    <a:solidFill>
                      <a:srgbClr val="E1F3E8"/>
                    </a:solidFill>
                  </a:tcPr>
                </a:tc>
                <a:tc>
                  <a:txBody>
                    <a:bodyPr/>
                    <a:lstStyle/>
                    <a:p>
                      <a:pPr algn="l"/>
                      <a:r>
                        <a:rPr sz="980" b="1" i="0">
                          <a:solidFill>
                            <a:srgbClr val="1E2430"/>
                          </a:solidFill>
                          <a:latin typeface="Calibri"/>
                        </a:rPr>
                        <a:t>escalate_group_desk</a:t>
                      </a:r>
                    </a:p>
                  </a:txBody>
                  <a:tcPr anchor="ctr" marL="54864" marR="54864" marT="22860" marB="22860">
                    <a:solidFill>
                      <a:srgbClr val="E1F3E8"/>
                    </a:solidFill>
                  </a:tcPr>
                </a:tc>
                <a:tc>
                  <a:txBody>
                    <a:bodyPr/>
                    <a:lstStyle/>
                    <a:p>
                      <a:pPr algn="ctr"/>
                      <a:r>
                        <a:rPr sz="980" b="1" i="0">
                          <a:solidFill>
                            <a:srgbClr val="1E2430"/>
                          </a:solidFill>
                          <a:latin typeface="Calibri"/>
                        </a:rPr>
                        <a:t>medium</a:t>
                      </a:r>
                    </a:p>
                  </a:txBody>
                  <a:tcPr anchor="ctr" marL="54864" marR="54864" marT="22860" marB="22860">
                    <a:solidFill>
                      <a:srgbClr val="E1F3E8"/>
                    </a:solidFill>
                  </a:tcPr>
                </a:tc>
              </a:tr>
              <a:tr h="510540">
                <a:tc>
                  <a:txBody>
                    <a:bodyPr/>
                    <a:lstStyle/>
                    <a:p>
                      <a:pPr algn="l"/>
                      <a:r>
                        <a:rPr sz="980" b="1" i="0">
                          <a:solidFill>
                            <a:srgbClr val="1E2430"/>
                          </a:solidFill>
                          <a:latin typeface="Calibri"/>
                        </a:rPr>
                        <a:t>RULE_DISCOUNT_CAP:
Promotional Discount Ceiling</a:t>
                      </a:r>
                    </a:p>
                  </a:txBody>
                  <a:tcPr anchor="ctr" marL="54864" marR="54864" marT="22860" marB="22860">
                    <a:solidFill>
                      <a:srgbClr val="E1F3E8"/>
                    </a:solidFill>
                  </a:tcPr>
                </a:tc>
                <a:tc>
                  <a:txBody>
                    <a:bodyPr/>
                    <a:lstStyle/>
                    <a:p>
                      <a:pPr algn="l"/>
                      <a:r>
                        <a:rPr sz="980" b="1" i="0">
                          <a:solidFill>
                            <a:srgbClr val="1E2430"/>
                          </a:solidFill>
                          <a:latin typeface="Calibri"/>
                        </a:rPr>
                        <a:t>discount_applied_percentage &gt; 15.0%</a:t>
                      </a:r>
                    </a:p>
                  </a:txBody>
                  <a:tcPr anchor="ctr" marL="54864" marR="54864" marT="22860" marB="22860">
                    <a:solidFill>
                      <a:srgbClr val="E1F3E8"/>
                    </a:solidFill>
                  </a:tcPr>
                </a:tc>
                <a:tc>
                  <a:txBody>
                    <a:bodyPr/>
                    <a:lstStyle/>
                    <a:p>
                      <a:pPr algn="l"/>
                      <a:r>
                        <a:rPr sz="980" b="1" i="0">
                          <a:solidFill>
                            <a:srgbClr val="1E2430"/>
                          </a:solidFill>
                          <a:latin typeface="Calibri"/>
                        </a:rPr>
                        <a:t>cap_discount</a:t>
                      </a:r>
                    </a:p>
                  </a:txBody>
                  <a:tcPr anchor="ctr" marL="54864" marR="54864" marT="22860" marB="22860">
                    <a:solidFill>
                      <a:srgbClr val="E1F3E8"/>
                    </a:solidFill>
                  </a:tcPr>
                </a:tc>
                <a:tc>
                  <a:txBody>
                    <a:bodyPr/>
                    <a:lstStyle/>
                    <a:p>
                      <a:pPr algn="ctr"/>
                      <a:r>
                        <a:rPr sz="980" b="1" i="0">
                          <a:solidFill>
                            <a:srgbClr val="1E2430"/>
                          </a:solidFill>
                          <a:latin typeface="Calibri"/>
                        </a:rPr>
                        <a:t>high</a:t>
                      </a:r>
                    </a:p>
                  </a:txBody>
                  <a:tcPr anchor="ctr" marL="54864" marR="54864" marT="22860" marB="22860">
                    <a:solidFill>
                      <a:srgbClr val="E1F3E8"/>
                    </a:solidFill>
                  </a:tcPr>
                </a:tc>
              </a:tr>
              <a:tr h="510540">
                <a:tc>
                  <a:txBody>
                    <a:bodyPr/>
                    <a:lstStyle/>
                    <a:p>
                      <a:pPr algn="l"/>
                      <a:r>
                        <a:rPr sz="980" b="1" i="0">
                          <a:solidFill>
                            <a:srgbClr val="1E2430"/>
                          </a:solidFill>
                          <a:latin typeface="Calibri"/>
                        </a:rPr>
                        <a:t>RULE_MIN_BUDGET_INTL:
Minimum International Budget</a:t>
                      </a:r>
                    </a:p>
                  </a:txBody>
                  <a:tcPr anchor="ctr" marL="54864" marR="54864" marT="22860" marB="22860">
                    <a:solidFill>
                      <a:srgbClr val="E1F3E8"/>
                    </a:solidFill>
                  </a:tcPr>
                </a:tc>
                <a:tc>
                  <a:txBody>
                    <a:bodyPr/>
                    <a:lstStyle/>
                    <a:p>
                      <a:pPr algn="l"/>
                      <a:r>
                        <a:rPr sz="980" b="1" i="0">
                          <a:solidFill>
                            <a:srgbClr val="1E2430"/>
                          </a:solidFill>
                          <a:latin typeface="Calibri"/>
                        </a:rPr>
                        <a:t>budget_amount &lt; $500 per adult on international package</a:t>
                      </a:r>
                    </a:p>
                  </a:txBody>
                  <a:tcPr anchor="ctr" marL="54864" marR="54864" marT="22860" marB="22860">
                    <a:solidFill>
                      <a:srgbClr val="E1F3E8"/>
                    </a:solidFill>
                  </a:tcPr>
                </a:tc>
                <a:tc>
                  <a:txBody>
                    <a:bodyPr/>
                    <a:lstStyle/>
                    <a:p>
                      <a:pPr algn="l"/>
                      <a:r>
                        <a:rPr sz="980" b="1" i="0">
                          <a:solidFill>
                            <a:srgbClr val="1E2430"/>
                          </a:solidFill>
                          <a:latin typeface="Calibri"/>
                        </a:rPr>
                        <a:t>reject_and_reprompt</a:t>
                      </a:r>
                    </a:p>
                  </a:txBody>
                  <a:tcPr anchor="ctr" marL="54864" marR="54864" marT="22860" marB="22860">
                    <a:solidFill>
                      <a:srgbClr val="E1F3E8"/>
                    </a:solidFill>
                  </a:tcPr>
                </a:tc>
                <a:tc>
                  <a:txBody>
                    <a:bodyPr/>
                    <a:lstStyle/>
                    <a:p>
                      <a:pPr algn="ctr"/>
                      <a:r>
                        <a:rPr sz="980" b="1" i="0">
                          <a:solidFill>
                            <a:srgbClr val="1E2430"/>
                          </a:solidFill>
                          <a:latin typeface="Calibri"/>
                        </a:rPr>
                        <a:t>high</a:t>
                      </a:r>
                    </a:p>
                  </a:txBody>
                  <a:tcPr anchor="ctr" marL="54864" marR="54864" marT="22860" marB="22860">
                    <a:solidFill>
                      <a:srgbClr val="E1F3E8"/>
                    </a:solidFill>
                  </a:tcPr>
                </a:tc>
              </a:tr>
            </a:tbl>
          </a:graphicData>
        </a:graphic>
      </p:graphicFrame>
      <p:sp>
        <p:nvSpPr>
          <p:cNvPr id="12" name="Rounded Rectangle 11"/>
          <p:cNvSpPr/>
          <p:nvPr/>
        </p:nvSpPr>
        <p:spPr>
          <a:xfrm>
            <a:off x="7178040" y="1371600"/>
            <a:ext cx="4690872" cy="306324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78040" y="1371600"/>
            <a:ext cx="4690872"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Cross-Model Dual-Judge Reliability (Table C3)</a:t>
            </a:r>
          </a:p>
        </p:txBody>
      </p:sp>
      <p:sp>
        <p:nvSpPr>
          <p:cNvPr id="14" name="TextBox 13"/>
          <p:cNvSpPr txBox="1"/>
          <p:nvPr/>
        </p:nvSpPr>
        <p:spPr>
          <a:xfrm>
            <a:off x="7269479" y="1755648"/>
            <a:ext cx="4507992" cy="262432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Why We Used Two Independent Judge Models:</a:t>
            </a:r>
          </a:p>
          <a:p>
            <a:pPr>
              <a:spcAft>
                <a:spcPts val="400"/>
              </a:spcAft>
            </a:pPr>
            <a:r>
              <a:rPr sz="1000" b="0" i="0">
                <a:solidFill>
                  <a:srgbClr val="1E2430"/>
                </a:solidFill>
                <a:latin typeface="Calibri"/>
              </a:rPr>
              <a:t>    ▪ To prevent self-preference bias, responses generated by `gemini-2.5-flash` were audited on a stratified 48-unit subsample by both `gemini-2.5-flash` (Judge 1) and the larger reasoning model </a:t>
            </a:r>
            <a:r>
              <a:rPr sz="1000" b="1" i="0">
                <a:solidFill>
                  <a:srgbClr val="1E2430"/>
                </a:solidFill>
                <a:latin typeface="Calibri"/>
              </a:rPr>
              <a:t>`gemini-2.5-pro` (Judge 2)</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Empirical Reliability Results (n = 48):</a:t>
            </a:r>
          </a:p>
          <a:p>
            <a:pPr>
              <a:spcAft>
                <a:spcPts val="400"/>
              </a:spcAft>
            </a:pPr>
            <a:r>
              <a:rPr sz="1000" b="0" i="0">
                <a:solidFill>
                  <a:srgbClr val="1E2430"/>
                </a:solidFill>
                <a:latin typeface="Calibri"/>
              </a:rPr>
              <a:t>    ▪ </a:t>
            </a:r>
            <a:r>
              <a:rPr sz="1000" b="1" i="0">
                <a:solidFill>
                  <a:srgbClr val="1E2430"/>
                </a:solidFill>
                <a:latin typeface="Calibri"/>
              </a:rPr>
              <a:t>Raw Agreement:</a:t>
            </a:r>
            <a:r>
              <a:rPr sz="1000" b="0" i="0">
                <a:solidFill>
                  <a:srgbClr val="1E2430"/>
                </a:solidFill>
                <a:latin typeface="Calibri"/>
              </a:rPr>
              <a:t> </a:t>
            </a:r>
            <a:r>
              <a:rPr sz="1000" b="1" i="0">
                <a:solidFill>
                  <a:srgbClr val="1E2430"/>
                </a:solidFill>
                <a:latin typeface="Calibri"/>
              </a:rPr>
              <a:t>95.8%</a:t>
            </a:r>
            <a:r>
              <a:rPr sz="1000" b="0" i="0">
                <a:solidFill>
                  <a:srgbClr val="1E2430"/>
                </a:solidFill>
                <a:latin typeface="Calibri"/>
              </a:rPr>
              <a:t> (46 / 48 units identical).</a:t>
            </a:r>
          </a:p>
          <a:p>
            <a:pPr>
              <a:spcAft>
                <a:spcPts val="400"/>
              </a:spcAft>
            </a:pPr>
            <a:r>
              <a:rPr sz="1000" b="0" i="0">
                <a:solidFill>
                  <a:srgbClr val="1E2430"/>
                </a:solidFill>
                <a:latin typeface="Calibri"/>
              </a:rPr>
              <a:t>    ▪ </a:t>
            </a:r>
            <a:r>
              <a:rPr sz="1000" b="1" i="0">
                <a:solidFill>
                  <a:srgbClr val="1E2430"/>
                </a:solidFill>
                <a:latin typeface="Calibri"/>
              </a:rPr>
              <a:t>Cohen's Kappa:</a:t>
            </a:r>
            <a:r>
              <a:rPr sz="1000" b="0" i="0">
                <a:solidFill>
                  <a:srgbClr val="1E2430"/>
                </a:solidFill>
                <a:latin typeface="Calibri"/>
              </a:rPr>
              <a:t> </a:t>
            </a:r>
            <a:r>
              <a:rPr sz="1000" b="1" i="0">
                <a:solidFill>
                  <a:srgbClr val="1E2430"/>
                </a:solidFill>
                <a:latin typeface="Calibri"/>
              </a:rPr>
              <a:t>κ = .917</a:t>
            </a:r>
            <a:r>
              <a:rPr sz="1000" b="0" i="0">
                <a:solidFill>
                  <a:srgbClr val="1E2430"/>
                </a:solidFill>
                <a:latin typeface="Calibri"/>
              </a:rPr>
              <a:t> (PABAK = .917), far exceeding the pre-registered κ ≥ .70 threshold!</a:t>
            </a:r>
          </a:p>
          <a:p>
            <a:pPr>
              <a:spcAft>
                <a:spcPts val="400"/>
              </a:spcAft>
            </a:pPr>
            <a:r>
              <a:rPr sz="1000" b="0" i="0">
                <a:solidFill>
                  <a:srgbClr val="1E2430"/>
                </a:solidFill>
                <a:latin typeface="Calibri"/>
              </a:rPr>
              <a:t>    ▪ </a:t>
            </a:r>
            <a:r>
              <a:rPr sz="1000" b="1" i="0">
                <a:solidFill>
                  <a:srgbClr val="1E2430"/>
                </a:solidFill>
                <a:latin typeface="Calibri"/>
              </a:rPr>
              <a:t>Agreement with Deterministic Regex Audit (N = 144):</a:t>
            </a:r>
            <a:r>
              <a:rPr sz="1000" b="0" i="0">
                <a:solidFill>
                  <a:srgbClr val="1E2430"/>
                </a:solidFill>
                <a:latin typeface="Calibri"/>
              </a:rPr>
              <a:t> </a:t>
            </a:r>
            <a:r>
              <a:rPr sz="1000" b="1" i="0">
                <a:solidFill>
                  <a:srgbClr val="1E2430"/>
                </a:solidFill>
                <a:latin typeface="Calibri"/>
              </a:rPr>
              <a:t>93.1% raw agreement (κ = .861)</a:t>
            </a:r>
            <a:r>
              <a:rPr sz="1000" b="0" i="0">
                <a:solidFill>
                  <a:srgbClr val="1E2430"/>
                </a:solidFill>
                <a:latin typeface="Calibri"/>
              </a:rPr>
              <a:t>.</a:t>
            </a:r>
          </a:p>
        </p:txBody>
      </p:sp>
      <p:sp>
        <p:nvSpPr>
          <p:cNvPr id="15" name="Rounded Rectangle 14"/>
          <p:cNvSpPr/>
          <p:nvPr/>
        </p:nvSpPr>
        <p:spPr>
          <a:xfrm>
            <a:off x="320040" y="4590288"/>
            <a:ext cx="11548872" cy="1856231"/>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080" b="1" i="0">
                <a:solidFill>
                  <a:srgbClr val="1E2430"/>
                </a:solidFill>
                <a:latin typeface="Calibri"/>
              </a:rPr>
              <a:t>How the 2 × 2 Factorial Experiment Was Constructed (N = 144, n = 36 per Cell, Seed = 42):</a:t>
            </a:r>
            <a:r>
              <a:rPr sz="1080" b="0" i="0">
                <a:solidFill>
                  <a:srgbClr val="1E2430"/>
                </a:solidFill>
                <a:latin typeface="Calibri"/>
              </a:rPr>
              <a:t>
• 36 held-out test dialogues (12 per refined archetype) were paired with seeded Tier-2 policy states: exactly </a:t>
            </a:r>
            <a:r>
              <a:rPr sz="1080" b="1" i="0">
                <a:solidFill>
                  <a:srgbClr val="1E2430"/>
                </a:solidFill>
                <a:latin typeface="Calibri"/>
              </a:rPr>
              <a:t>50% (18 per cell) violated ≥ 1 YAML rule</a:t>
            </a:r>
            <a:r>
              <a:rPr sz="1080" b="0" i="0">
                <a:solidFill>
                  <a:srgbClr val="1E2430"/>
                </a:solidFill>
                <a:latin typeface="Calibri"/>
              </a:rPr>
              <a:t> (e.g., 10-day visa window, 4-month passport validity, 6 FIT adults, 25% discount request, or $350 international budget) and </a:t>
            </a:r>
            <a:r>
              <a:rPr sz="1080" b="1" i="0">
                <a:solidFill>
                  <a:srgbClr val="1E2430"/>
                </a:solidFill>
                <a:latin typeface="Calibri"/>
              </a:rPr>
              <a:t>50% (18 per cell) were 100% policy-compliant</a:t>
            </a:r>
            <a:r>
              <a:rPr sz="1080" b="0" i="0">
                <a:solidFill>
                  <a:srgbClr val="1E2430"/>
                </a:solidFill>
                <a:latin typeface="Calibri"/>
              </a:rPr>
              <a:t> (testing that the rule engine does not falsely block valid bookings).
• In `Rules Off`, the prompt contains natural-language reminders of policies, and exemplars in `Cluster-Adaptive` are unmasked. In `Rules Active`, `RuleEngine` injects verified pre-check directives, masks exemplar slots with `[SLOT]`, and runs post-generation entity leakage sanitization.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(RQ3)</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29</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RQ3 (Part 2): 2 × 2 Factorial Interaction Profiles (Figure 7 Walkthrough)</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Visualizing orthogonal main effects (Panels A, C, D) versus the protective interaction on Exemplar Leakage (Panel B)</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2619998"/>
            <a:ext cx="6976872" cy="2322091"/>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3_factorial_results.png"/>
          <p:cNvPicPr>
            <a:picLocks noChangeAspect="1"/>
          </p:cNvPicPr>
          <p:nvPr/>
        </p:nvPicPr>
        <p:blipFill>
          <a:blip r:embed="rId3"/>
          <a:stretch>
            <a:fillRect/>
          </a:stretch>
        </p:blipFill>
        <p:spPr>
          <a:xfrm>
            <a:off x="320040" y="2656574"/>
            <a:ext cx="6903720" cy="2248939"/>
          </a:xfrm>
          <a:prstGeom prst="rect">
            <a:avLst/>
          </a:prstGeom>
        </p:spPr>
      </p:pic>
      <p:sp>
        <p:nvSpPr>
          <p:cNvPr id="13" name="TextBox 12"/>
          <p:cNvSpPr txBox="1"/>
          <p:nvPr/>
        </p:nvSpPr>
        <p:spPr>
          <a:xfrm>
            <a:off x="320040" y="6190488"/>
            <a:ext cx="6903720" cy="256032"/>
          </a:xfrm>
          <a:prstGeom prst="rect">
            <a:avLst/>
          </a:prstGeom>
          <a:noFill/>
        </p:spPr>
        <p:txBody>
          <a:bodyPr wrap="square">
            <a:spAutoFit/>
          </a:bodyPr>
          <a:lstStyle/>
          <a:p>
            <a:pPr algn="ctr"/>
            <a:r>
              <a:rPr sz="950" b="0" i="1">
                <a:solidFill>
                  <a:srgbClr val="5A6577"/>
                </a:solidFill>
                <a:latin typeface="Calibri"/>
              </a:rPr>
              <a:t>Figure 7: 2 × 2 Factorial Interaction Profiles Across N = 144 Units (n = 36/cell; 95% CIs)</a:t>
            </a:r>
          </a:p>
        </p:txBody>
      </p:sp>
      <p:sp>
        <p:nvSpPr>
          <p:cNvPr id="14" name="Rounded Rectangle 13"/>
          <p:cNvSpPr/>
          <p:nvPr/>
        </p:nvSpPr>
        <p:spPr>
          <a:xfrm>
            <a:off x="7360920" y="1371600"/>
            <a:ext cx="4507992" cy="5074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60920" y="1371600"/>
            <a:ext cx="4507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How to Read the 4 Panels of Figure 7</a:t>
            </a:r>
          </a:p>
        </p:txBody>
      </p:sp>
      <p:sp>
        <p:nvSpPr>
          <p:cNvPr id="16" name="TextBox 15"/>
          <p:cNvSpPr txBox="1"/>
          <p:nvPr/>
        </p:nvSpPr>
        <p:spPr>
          <a:xfrm>
            <a:off x="7452360" y="1755648"/>
            <a:ext cx="4325112" cy="4636008"/>
          </a:xfrm>
          <a:prstGeom prst="rect">
            <a:avLst/>
          </a:prstGeom>
          <a:noFill/>
        </p:spPr>
        <p:txBody>
          <a:bodyPr wrap="square" lIns="36576" rIns="36576" tIns="18288" bIns="18288">
            <a:spAutoFit/>
          </a:bodyPr>
          <a:lstStyle/>
          <a:p>
            <a:pPr>
              <a:spcAft>
                <a:spcPts val="400"/>
              </a:spcAft>
            </a:pPr>
            <a:r>
              <a:rPr sz="980" b="0" i="0">
                <a:solidFill>
                  <a:srgbClr val="1E2430"/>
                </a:solidFill>
                <a:latin typeface="Calibri"/>
              </a:rPr>
              <a:t>• </a:t>
            </a:r>
            <a:r>
              <a:rPr sz="980" b="1" i="0">
                <a:solidFill>
                  <a:srgbClr val="1E2430"/>
                </a:solidFill>
                <a:latin typeface="Calibri"/>
              </a:rPr>
              <a:t>Panel A (Rule Adherence Rate):</a:t>
            </a:r>
          </a:p>
          <a:p>
            <a:pPr>
              <a:spcAft>
                <a:spcPts val="400"/>
              </a:spcAft>
            </a:pPr>
            <a:r>
              <a:rPr sz="1000" b="0" i="0">
                <a:solidFill>
                  <a:srgbClr val="1E2430"/>
                </a:solidFill>
                <a:latin typeface="Calibri"/>
              </a:rPr>
              <a:t>    ▪ Lines are flat and parallel! Turning `Rules Active` jumps adherence from </a:t>
            </a:r>
            <a:r>
              <a:rPr sz="1000" b="1" i="0">
                <a:solidFill>
                  <a:srgbClr val="1E2430"/>
                </a:solidFill>
                <a:latin typeface="Calibri"/>
              </a:rPr>
              <a:t>.500</a:t>
            </a:r>
            <a:r>
              <a:rPr sz="1000" b="0" i="0">
                <a:solidFill>
                  <a:srgbClr val="1E2430"/>
                </a:solidFill>
                <a:latin typeface="Calibri"/>
              </a:rPr>
              <a:t> (only 5.6% on violating cases) to </a:t>
            </a:r>
            <a:r>
              <a:rPr sz="1000" b="1" i="0">
                <a:solidFill>
                  <a:srgbClr val="1E2430"/>
                </a:solidFill>
                <a:latin typeface="Calibri"/>
              </a:rPr>
              <a:t>.938</a:t>
            </a:r>
            <a:r>
              <a:rPr sz="1000" b="0" i="0">
                <a:solidFill>
                  <a:srgbClr val="1E2430"/>
                </a:solidFill>
                <a:latin typeface="Calibri"/>
              </a:rPr>
              <a:t> (98.6% on violating cases), </a:t>
            </a:r>
            <a:r>
              <a:rPr sz="1000" b="0" i="1">
                <a:solidFill>
                  <a:srgbClr val="1E2430"/>
                </a:solidFill>
                <a:latin typeface="Calibri"/>
              </a:rPr>
              <a:t>F</a:t>
            </a:r>
            <a:r>
              <a:rPr sz="1000" b="0" i="0">
                <a:solidFill>
                  <a:srgbClr val="1E2430"/>
                </a:solidFill>
                <a:latin typeface="Calibri"/>
              </a:rPr>
              <a:t> = 43.92, </a:t>
            </a:r>
            <a:r>
              <a:rPr sz="1000" b="0" i="1">
                <a:solidFill>
                  <a:srgbClr val="1E2430"/>
                </a:solidFill>
                <a:latin typeface="Calibri"/>
              </a:rPr>
              <a:t>p</a:t>
            </a:r>
            <a:r>
              <a:rPr sz="1000" b="0" i="0">
                <a:solidFill>
                  <a:srgbClr val="1E2430"/>
                </a:solidFill>
                <a:latin typeface="Calibri"/>
              </a:rPr>
              <a:t> &lt; .001.</a:t>
            </a:r>
          </a:p>
          <a:p>
            <a:pPr>
              <a:spcAft>
                <a:spcPts val="400"/>
              </a:spcAft>
            </a:pPr>
            <a:r>
              <a:rPr sz="1000" b="0" i="0">
                <a:solidFill>
                  <a:srgbClr val="1E2430"/>
                </a:solidFill>
                <a:latin typeface="Calibri"/>
              </a:rPr>
              <a:t>    ▪ Changing prompt mode has </a:t>
            </a:r>
            <a:r>
              <a:rPr sz="1000" b="1" i="0">
                <a:solidFill>
                  <a:srgbClr val="1E2430"/>
                </a:solidFill>
                <a:latin typeface="Calibri"/>
              </a:rPr>
              <a:t>zero effect</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0.01, </a:t>
            </a:r>
            <a:r>
              <a:rPr sz="1000" b="0" i="1">
                <a:solidFill>
                  <a:srgbClr val="1E2430"/>
                </a:solidFill>
                <a:latin typeface="Calibri"/>
              </a:rPr>
              <a:t>p</a:t>
            </a:r>
            <a:r>
              <a:rPr sz="1000" b="0" i="0">
                <a:solidFill>
                  <a:srgbClr val="1E2430"/>
                </a:solidFill>
                <a:latin typeface="Calibri"/>
              </a:rPr>
              <a:t> = .916) → proves prompt engineering alone cannot enforce rules!</a:t>
            </a:r>
          </a:p>
          <a:p>
            <a:pPr>
              <a:spcAft>
                <a:spcPts val="400"/>
              </a:spcAft>
            </a:pPr>
            <a:r>
              <a:rPr sz="980" b="0" i="0">
                <a:solidFill>
                  <a:srgbClr val="1E2430"/>
                </a:solidFill>
                <a:latin typeface="Calibri"/>
              </a:rPr>
              <a:t>• </a:t>
            </a:r>
            <a:r>
              <a:rPr sz="980" b="1" i="0">
                <a:solidFill>
                  <a:srgbClr val="1E2430"/>
                </a:solidFill>
                <a:latin typeface="Calibri"/>
              </a:rPr>
              <a:t>Panel B (Exemplar Entity Leakage — The Interaction):</a:t>
            </a:r>
          </a:p>
          <a:p>
            <a:pPr>
              <a:spcAft>
                <a:spcPts val="400"/>
              </a:spcAft>
            </a:pPr>
            <a:r>
              <a:rPr sz="1000" b="0" i="0">
                <a:solidFill>
                  <a:srgbClr val="1E2430"/>
                </a:solidFill>
                <a:latin typeface="Calibri"/>
              </a:rPr>
              <a:t>    ▪ Sharp non-parallel divergence (</a:t>
            </a:r>
            <a:r>
              <a:rPr sz="1000" b="1" i="0">
                <a:solidFill>
                  <a:srgbClr val="1E2430"/>
                </a:solidFill>
                <a:latin typeface="Calibri"/>
              </a:rPr>
              <a:t>Interaction F = 34.82, p &lt; .001</a:t>
            </a:r>
            <a:r>
              <a:rPr sz="1000" b="0" i="0">
                <a:solidFill>
                  <a:srgbClr val="1E2430"/>
                </a:solidFill>
                <a:latin typeface="Calibri"/>
              </a:rPr>
              <a:t>)!</a:t>
            </a:r>
          </a:p>
          <a:p>
            <a:pPr>
              <a:spcAft>
                <a:spcPts val="400"/>
              </a:spcAft>
            </a:pPr>
            <a:r>
              <a:rPr sz="1000" b="0" i="0">
                <a:solidFill>
                  <a:srgbClr val="1E2430"/>
                </a:solidFill>
                <a:latin typeface="Calibri"/>
              </a:rPr>
              <a:t>    ▪ Under `Rules Off`, switching from Zero-Shot to Cluster-Adaptive spikes leakage from .000 to </a:t>
            </a:r>
            <a:r>
              <a:rPr sz="1000" b="1" i="0">
                <a:solidFill>
                  <a:srgbClr val="1E2430"/>
                </a:solidFill>
                <a:latin typeface="Calibri"/>
              </a:rPr>
              <a:t>.359 (55.6% incidence)</a:t>
            </a:r>
            <a:r>
              <a:rPr sz="1000" b="0" i="0">
                <a:solidFill>
                  <a:srgbClr val="1E2430"/>
                </a:solidFill>
                <a:latin typeface="Calibri"/>
              </a:rPr>
              <a:t>.</a:t>
            </a:r>
          </a:p>
          <a:p>
            <a:pPr>
              <a:spcAft>
                <a:spcPts val="400"/>
              </a:spcAft>
            </a:pPr>
            <a:r>
              <a:rPr sz="1000" b="0" i="0">
                <a:solidFill>
                  <a:srgbClr val="1E2430"/>
                </a:solidFill>
                <a:latin typeface="Calibri"/>
              </a:rPr>
              <a:t>    ▪ Under `Rules Active`, leakage stays at </a:t>
            </a:r>
            <a:r>
              <a:rPr sz="1000" b="1" i="0">
                <a:solidFill>
                  <a:srgbClr val="1E2430"/>
                </a:solidFill>
                <a:latin typeface="Calibri"/>
              </a:rPr>
              <a:t>.000 (0.0%)</a:t>
            </a:r>
            <a:r>
              <a:rPr sz="1000" b="0" i="0">
                <a:solidFill>
                  <a:srgbClr val="1E2430"/>
                </a:solidFill>
                <a:latin typeface="Calibri"/>
              </a:rPr>
              <a:t> in both conditions!</a:t>
            </a:r>
          </a:p>
          <a:p>
            <a:pPr>
              <a:spcAft>
                <a:spcPts val="400"/>
              </a:spcAft>
            </a:pPr>
            <a:r>
              <a:rPr sz="980" b="0" i="0">
                <a:solidFill>
                  <a:srgbClr val="1E2430"/>
                </a:solidFill>
                <a:latin typeface="Calibri"/>
              </a:rPr>
              <a:t>• </a:t>
            </a:r>
            <a:r>
              <a:rPr sz="980" b="1" i="0">
                <a:solidFill>
                  <a:srgbClr val="1E2430"/>
                </a:solidFill>
                <a:latin typeface="Calibri"/>
              </a:rPr>
              <a:t>Panel C (Factual Slot Coverage F1):</a:t>
            </a:r>
          </a:p>
          <a:p>
            <a:pPr>
              <a:spcAft>
                <a:spcPts val="400"/>
              </a:spcAft>
            </a:pPr>
            <a:r>
              <a:rPr sz="1000" b="0" i="0">
                <a:solidFill>
                  <a:srgbClr val="1E2430"/>
                </a:solidFill>
                <a:latin typeface="Calibri"/>
              </a:rPr>
              <a:t>    ▪ Active rules + slot ledger jump Slot F1 from .208/.485 to </a:t>
            </a:r>
            <a:r>
              <a:rPr sz="1000" b="1" i="0">
                <a:solidFill>
                  <a:srgbClr val="1E2430"/>
                </a:solidFill>
                <a:latin typeface="Calibri"/>
              </a:rPr>
              <a:t>.977/.952</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489.52, </a:t>
            </a:r>
            <a:r>
              <a:rPr sz="1000" b="0" i="1">
                <a:solidFill>
                  <a:srgbClr val="1E2430"/>
                </a:solidFill>
                <a:latin typeface="Calibri"/>
              </a:rPr>
              <a:t>p</a:t>
            </a:r>
            <a:r>
              <a:rPr sz="1000" b="0" i="0">
                <a:solidFill>
                  <a:srgbClr val="1E2430"/>
                </a:solidFill>
                <a:latin typeface="Calibri"/>
              </a:rPr>
              <a:t> &lt; .001).</a:t>
            </a:r>
          </a:p>
          <a:p>
            <a:pPr>
              <a:spcAft>
                <a:spcPts val="400"/>
              </a:spcAft>
            </a:pPr>
            <a:r>
              <a:rPr sz="980" b="0" i="0">
                <a:solidFill>
                  <a:srgbClr val="1E2430"/>
                </a:solidFill>
                <a:latin typeface="Calibri"/>
              </a:rPr>
              <a:t>• </a:t>
            </a:r>
            <a:r>
              <a:rPr sz="980" b="1" i="0">
                <a:solidFill>
                  <a:srgbClr val="1E2430"/>
                </a:solidFill>
                <a:latin typeface="Calibri"/>
              </a:rPr>
              <a:t>Panel D (Style Alignment Cosine):</a:t>
            </a:r>
          </a:p>
          <a:p>
            <a:pPr>
              <a:spcAft>
                <a:spcPts val="400"/>
              </a:spcAft>
            </a:pPr>
            <a:r>
              <a:rPr sz="1000" b="0" i="0">
                <a:solidFill>
                  <a:srgbClr val="1E2430"/>
                </a:solidFill>
                <a:latin typeface="Calibri"/>
              </a:rPr>
              <a:t>    ▪ Cluster-Adaptive prompting lifts style cosine in both modes (</a:t>
            </a:r>
            <a:r>
              <a:rPr sz="1000" b="0" i="1">
                <a:solidFill>
                  <a:srgbClr val="1E2430"/>
                </a:solidFill>
                <a:latin typeface="Calibri"/>
              </a:rPr>
              <a:t>F</a:t>
            </a:r>
            <a:r>
              <a:rPr sz="1000" b="0" i="0">
                <a:solidFill>
                  <a:srgbClr val="1E2430"/>
                </a:solidFill>
                <a:latin typeface="Calibri"/>
              </a:rPr>
              <a:t> = 24.00, </a:t>
            </a:r>
            <a:r>
              <a:rPr sz="1000" b="0" i="1">
                <a:solidFill>
                  <a:srgbClr val="1E2430"/>
                </a:solidFill>
                <a:latin typeface="Calibri"/>
              </a:rPr>
              <a:t>p</a:t>
            </a:r>
            <a:r>
              <a:rPr sz="1000" b="0" i="0">
                <a:solidFill>
                  <a:srgbClr val="1E2430"/>
                </a:solidFill>
                <a:latin typeface="Calibri"/>
              </a:rPr>
              <a:t> &lt; .001).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(RQ3)</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30</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RQ3 (Part 3): Complete Table 15 Statistics &amp; Side-by-Side Output Proof</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Proving that 'Rules Active × Cluster-Adaptive Few-Shot' is the unique Pareto-optimal configuration (Reject H03, p &lt; .001)</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2971800"/>
        </p:xfrm>
        <a:graphic>
          <a:graphicData uri="http://schemas.openxmlformats.org/drawingml/2006/table">
            <a:tbl>
              <a:tblPr firstRow="1" bandRow="1">
                <a:tableStyleId>{5C22544A-7EE6-4342-B048-85BDC9FD1C3A}</a:tableStyleId>
              </a:tblPr>
              <a:tblGrid>
                <a:gridCol w="2749731"/>
                <a:gridCol w="733261"/>
                <a:gridCol w="2108127"/>
                <a:gridCol w="2108127"/>
                <a:gridCol w="2016469"/>
                <a:gridCol w="1833154"/>
              </a:tblGrid>
              <a:tr h="371475">
                <a:tc>
                  <a:txBody>
                    <a:bodyPr/>
                    <a:lstStyle/>
                    <a:p>
                      <a:pPr algn="l"/>
                      <a:r>
                        <a:rPr sz="1100" b="1" i="0">
                          <a:solidFill>
                            <a:srgbClr val="FFFFFF"/>
                          </a:solidFill>
                          <a:latin typeface="Calibri"/>
                        </a:rPr>
                        <a:t>Experimental Cell or 2 × 2 ANOVA Effect</a:t>
                      </a:r>
                    </a:p>
                  </a:txBody>
                  <a:tcPr anchor="ctr" marL="54864" marR="54864" marT="27432" marB="27432">
                    <a:solidFill>
                      <a:srgbClr val="14325C"/>
                    </a:solidFill>
                  </a:tcPr>
                </a:tc>
                <a:tc>
                  <a:txBody>
                    <a:bodyPr/>
                    <a:lstStyle/>
                    <a:p>
                      <a:pPr algn="ctr"/>
                      <a:r>
                        <a:rPr sz="1100" b="1" i="0">
                          <a:solidFill>
                            <a:srgbClr val="FFFFFF"/>
                          </a:solidFill>
                          <a:latin typeface="Calibri"/>
                        </a:rPr>
                        <a:t>n or df</a:t>
                      </a:r>
                    </a:p>
                  </a:txBody>
                  <a:tcPr anchor="ctr" marL="54864" marR="54864" marT="27432" marB="27432">
                    <a:solidFill>
                      <a:srgbClr val="14325C"/>
                    </a:solidFill>
                  </a:tcPr>
                </a:tc>
                <a:tc>
                  <a:txBody>
                    <a:bodyPr/>
                    <a:lstStyle/>
                    <a:p>
                      <a:pPr algn="ctr"/>
                      <a:r>
                        <a:rPr sz="1100" b="1" i="0">
                          <a:solidFill>
                            <a:srgbClr val="FFFFFF"/>
                          </a:solidFill>
                          <a:latin typeface="Calibri"/>
                        </a:rPr>
                        <a:t>Rule Adherence M (SD) / Viol. %</a:t>
                      </a:r>
                    </a:p>
                  </a:txBody>
                  <a:tcPr anchor="ctr" marL="54864" marR="54864" marT="27432" marB="27432">
                    <a:solidFill>
                      <a:srgbClr val="14325C"/>
                    </a:solidFill>
                  </a:tcPr>
                </a:tc>
                <a:tc>
                  <a:txBody>
                    <a:bodyPr/>
                    <a:lstStyle/>
                    <a:p>
                      <a:pPr algn="ctr"/>
                      <a:r>
                        <a:rPr sz="1100" b="1" i="0">
                          <a:solidFill>
                            <a:srgbClr val="FFFFFF"/>
                          </a:solidFill>
                          <a:latin typeface="Calibri"/>
                        </a:rPr>
                        <a:t>Exemplar Leakage M (SD) / Inc. %</a:t>
                      </a:r>
                    </a:p>
                  </a:txBody>
                  <a:tcPr anchor="ctr" marL="54864" marR="54864" marT="27432" marB="27432">
                    <a:solidFill>
                      <a:srgbClr val="14325C"/>
                    </a:solidFill>
                  </a:tcPr>
                </a:tc>
                <a:tc>
                  <a:txBody>
                    <a:bodyPr/>
                    <a:lstStyle/>
                    <a:p>
                      <a:pPr algn="ctr"/>
                      <a:r>
                        <a:rPr sz="1100" b="1" i="0">
                          <a:solidFill>
                            <a:srgbClr val="FFFFFF"/>
                          </a:solidFill>
                          <a:latin typeface="Calibri"/>
                        </a:rPr>
                        <a:t>Slot Coverage F1 M (SD)</a:t>
                      </a:r>
                    </a:p>
                  </a:txBody>
                  <a:tcPr anchor="ctr" marL="54864" marR="54864" marT="27432" marB="27432">
                    <a:solidFill>
                      <a:srgbClr val="14325C"/>
                    </a:solidFill>
                  </a:tcPr>
                </a:tc>
                <a:tc>
                  <a:txBody>
                    <a:bodyPr/>
                    <a:lstStyle/>
                    <a:p>
                      <a:pPr algn="ctr"/>
                      <a:r>
                        <a:rPr sz="1100" b="1" i="0">
                          <a:solidFill>
                            <a:srgbClr val="FFFFFF"/>
                          </a:solidFill>
                          <a:latin typeface="Calibri"/>
                        </a:rPr>
                        <a:t>Style Alignment M (SD)</a:t>
                      </a:r>
                    </a:p>
                  </a:txBody>
                  <a:tcPr anchor="ctr" marL="54864" marR="54864" marT="27432" marB="27432">
                    <a:solidFill>
                      <a:srgbClr val="14325C"/>
                    </a:solidFill>
                  </a:tcPr>
                </a:tc>
              </a:tr>
              <a:tr h="371475">
                <a:tc>
                  <a:txBody>
                    <a:bodyPr/>
                    <a:lstStyle/>
                    <a:p>
                      <a:pPr algn="l"/>
                      <a:r>
                        <a:rPr sz="930" b="0" i="0">
                          <a:solidFill>
                            <a:srgbClr val="1E2430"/>
                          </a:solidFill>
                          <a:latin typeface="Calibri"/>
                        </a:rPr>
                        <a:t>Cell 1: Rules Off × Zero-Shot</a:t>
                      </a:r>
                    </a:p>
                  </a:txBody>
                  <a:tcPr anchor="ctr" marL="54864" marR="54864" marT="22860" marB="22860">
                    <a:solidFill>
                      <a:srgbClr val="FFFFFF"/>
                    </a:solidFill>
                  </a:tcPr>
                </a:tc>
                <a:tc>
                  <a:txBody>
                    <a:bodyPr/>
                    <a:lstStyle/>
                    <a:p>
                      <a:pPr algn="ctr"/>
                      <a:r>
                        <a:rPr sz="930" b="0" i="0">
                          <a:solidFill>
                            <a:srgbClr val="1E2430"/>
                          </a:solidFill>
                          <a:latin typeface="Calibri"/>
                        </a:rPr>
                        <a:t>36</a:t>
                      </a:r>
                    </a:p>
                  </a:txBody>
                  <a:tcPr anchor="ctr" marL="54864" marR="54864" marT="22860" marB="22860">
                    <a:solidFill>
                      <a:srgbClr val="FFFFFF"/>
                    </a:solidFill>
                  </a:tcPr>
                </a:tc>
                <a:tc>
                  <a:txBody>
                    <a:bodyPr/>
                    <a:lstStyle/>
                    <a:p>
                      <a:pPr algn="ctr"/>
                      <a:r>
                        <a:rPr sz="930" b="0" i="0">
                          <a:solidFill>
                            <a:srgbClr val="1E2430"/>
                          </a:solidFill>
                          <a:latin typeface="Calibri"/>
                        </a:rPr>
                        <a:t>.500 (.507) / 5.6%</a:t>
                      </a:r>
                    </a:p>
                  </a:txBody>
                  <a:tcPr anchor="ctr" marL="54864" marR="54864" marT="22860" marB="22860">
                    <a:solidFill>
                      <a:srgbClr val="FFFFFF"/>
                    </a:solidFill>
                  </a:tcPr>
                </a:tc>
                <a:tc>
                  <a:txBody>
                    <a:bodyPr/>
                    <a:lstStyle/>
                    <a:p>
                      <a:pPr algn="ctr"/>
                      <a:r>
                        <a:rPr sz="930" b="0" i="0">
                          <a:solidFill>
                            <a:srgbClr val="1E2430"/>
                          </a:solidFill>
                          <a:latin typeface="Calibri"/>
                        </a:rPr>
                        <a:t>.000 (.000) / 0.0%</a:t>
                      </a:r>
                    </a:p>
                  </a:txBody>
                  <a:tcPr anchor="ctr" marL="54864" marR="54864" marT="22860" marB="22860">
                    <a:solidFill>
                      <a:srgbClr val="FFFFFF"/>
                    </a:solidFill>
                  </a:tcPr>
                </a:tc>
                <a:tc>
                  <a:txBody>
                    <a:bodyPr/>
                    <a:lstStyle/>
                    <a:p>
                      <a:pPr algn="ctr"/>
                      <a:r>
                        <a:rPr sz="930" b="0" i="0">
                          <a:solidFill>
                            <a:srgbClr val="1E2430"/>
                          </a:solidFill>
                          <a:latin typeface="Calibri"/>
                        </a:rPr>
                        <a:t>.208 (.242)</a:t>
                      </a:r>
                    </a:p>
                  </a:txBody>
                  <a:tcPr anchor="ctr" marL="54864" marR="54864" marT="22860" marB="22860">
                    <a:solidFill>
                      <a:srgbClr val="FFFFFF"/>
                    </a:solidFill>
                  </a:tcPr>
                </a:tc>
                <a:tc>
                  <a:txBody>
                    <a:bodyPr/>
                    <a:lstStyle/>
                    <a:p>
                      <a:pPr algn="ctr"/>
                      <a:r>
                        <a:rPr sz="930" b="0" i="0">
                          <a:solidFill>
                            <a:srgbClr val="1E2430"/>
                          </a:solidFill>
                          <a:latin typeface="Calibri"/>
                        </a:rPr>
                        <a:t>.414 (.124)</a:t>
                      </a:r>
                    </a:p>
                  </a:txBody>
                  <a:tcPr anchor="ctr" marL="54864" marR="54864" marT="22860" marB="22860">
                    <a:solidFill>
                      <a:srgbClr val="FFFFFF"/>
                    </a:solidFill>
                  </a:tcPr>
                </a:tc>
              </a:tr>
              <a:tr h="371475">
                <a:tc>
                  <a:txBody>
                    <a:bodyPr/>
                    <a:lstStyle/>
                    <a:p>
                      <a:pPr algn="l"/>
                      <a:r>
                        <a:rPr sz="930" b="0" i="0">
                          <a:solidFill>
                            <a:srgbClr val="1E2430"/>
                          </a:solidFill>
                          <a:latin typeface="Calibri"/>
                        </a:rPr>
                        <a:t>Cell 2: Rules Off × Cluster-Adaptive</a:t>
                      </a:r>
                    </a:p>
                  </a:txBody>
                  <a:tcPr anchor="ctr" marL="54864" marR="54864" marT="22860" marB="22860">
                    <a:solidFill>
                      <a:srgbClr val="F2F6FC"/>
                    </a:solidFill>
                  </a:tcPr>
                </a:tc>
                <a:tc>
                  <a:txBody>
                    <a:bodyPr/>
                    <a:lstStyle/>
                    <a:p>
                      <a:pPr algn="ctr"/>
                      <a:r>
                        <a:rPr sz="930" b="0" i="0">
                          <a:solidFill>
                            <a:srgbClr val="1E2430"/>
                          </a:solidFill>
                          <a:latin typeface="Calibri"/>
                        </a:rPr>
                        <a:t>36</a:t>
                      </a:r>
                    </a:p>
                  </a:txBody>
                  <a:tcPr anchor="ctr" marL="54864" marR="54864" marT="22860" marB="22860">
                    <a:solidFill>
                      <a:srgbClr val="F2F6FC"/>
                    </a:solidFill>
                  </a:tcPr>
                </a:tc>
                <a:tc>
                  <a:txBody>
                    <a:bodyPr/>
                    <a:lstStyle/>
                    <a:p>
                      <a:pPr algn="ctr"/>
                      <a:r>
                        <a:rPr sz="930" b="0" i="0">
                          <a:solidFill>
                            <a:srgbClr val="1E2430"/>
                          </a:solidFill>
                          <a:latin typeface="Calibri"/>
                        </a:rPr>
                        <a:t>.500 (.507) / 5.6%</a:t>
                      </a:r>
                    </a:p>
                  </a:txBody>
                  <a:tcPr anchor="ctr" marL="54864" marR="54864" marT="22860" marB="22860">
                    <a:solidFill>
                      <a:srgbClr val="F2F6FC"/>
                    </a:solidFill>
                  </a:tcPr>
                </a:tc>
                <a:tc>
                  <a:txBody>
                    <a:bodyPr/>
                    <a:lstStyle/>
                    <a:p>
                      <a:pPr algn="ctr"/>
                      <a:r>
                        <a:rPr sz="930" b="0" i="0">
                          <a:solidFill>
                            <a:srgbClr val="1E2430"/>
                          </a:solidFill>
                          <a:latin typeface="Calibri"/>
                        </a:rPr>
                        <a:t>.359 (.348) / 55.6%</a:t>
                      </a:r>
                    </a:p>
                  </a:txBody>
                  <a:tcPr anchor="ctr" marL="54864" marR="54864" marT="22860" marB="22860">
                    <a:solidFill>
                      <a:srgbClr val="F2F6FC"/>
                    </a:solidFill>
                  </a:tcPr>
                </a:tc>
                <a:tc>
                  <a:txBody>
                    <a:bodyPr/>
                    <a:lstStyle/>
                    <a:p>
                      <a:pPr algn="ctr"/>
                      <a:r>
                        <a:rPr sz="930" b="0" i="0">
                          <a:solidFill>
                            <a:srgbClr val="1E2430"/>
                          </a:solidFill>
                          <a:latin typeface="Calibri"/>
                        </a:rPr>
                        <a:t>.485 (.269)</a:t>
                      </a:r>
                    </a:p>
                  </a:txBody>
                  <a:tcPr anchor="ctr" marL="54864" marR="54864" marT="22860" marB="22860">
                    <a:solidFill>
                      <a:srgbClr val="F2F6FC"/>
                    </a:solidFill>
                  </a:tcPr>
                </a:tc>
                <a:tc>
                  <a:txBody>
                    <a:bodyPr/>
                    <a:lstStyle/>
                    <a:p>
                      <a:pPr algn="ctr"/>
                      <a:r>
                        <a:rPr sz="930" b="0" i="0">
                          <a:solidFill>
                            <a:srgbClr val="1E2430"/>
                          </a:solidFill>
                          <a:latin typeface="Calibri"/>
                        </a:rPr>
                        <a:t>.507 (.095)</a:t>
                      </a:r>
                    </a:p>
                  </a:txBody>
                  <a:tcPr anchor="ctr" marL="54864" marR="54864" marT="22860" marB="22860">
                    <a:solidFill>
                      <a:srgbClr val="F2F6FC"/>
                    </a:solidFill>
                  </a:tcPr>
                </a:tc>
              </a:tr>
              <a:tr h="371475">
                <a:tc>
                  <a:txBody>
                    <a:bodyPr/>
                    <a:lstStyle/>
                    <a:p>
                      <a:pPr algn="l"/>
                      <a:r>
                        <a:rPr sz="930" b="0" i="0">
                          <a:solidFill>
                            <a:srgbClr val="1E2430"/>
                          </a:solidFill>
                          <a:latin typeface="Calibri"/>
                        </a:rPr>
                        <a:t>Cell 3: Rules Active × Zero-Shot</a:t>
                      </a:r>
                    </a:p>
                  </a:txBody>
                  <a:tcPr anchor="ctr" marL="54864" marR="54864" marT="22860" marB="22860">
                    <a:solidFill>
                      <a:srgbClr val="FFFFFF"/>
                    </a:solidFill>
                  </a:tcPr>
                </a:tc>
                <a:tc>
                  <a:txBody>
                    <a:bodyPr/>
                    <a:lstStyle/>
                    <a:p>
                      <a:pPr algn="ctr"/>
                      <a:r>
                        <a:rPr sz="930" b="0" i="0">
                          <a:solidFill>
                            <a:srgbClr val="1E2430"/>
                          </a:solidFill>
                          <a:latin typeface="Calibri"/>
                        </a:rPr>
                        <a:t>36</a:t>
                      </a:r>
                    </a:p>
                  </a:txBody>
                  <a:tcPr anchor="ctr" marL="54864" marR="54864" marT="22860" marB="22860">
                    <a:solidFill>
                      <a:srgbClr val="FFFFFF"/>
                    </a:solidFill>
                  </a:tcPr>
                </a:tc>
                <a:tc>
                  <a:txBody>
                    <a:bodyPr/>
                    <a:lstStyle/>
                    <a:p>
                      <a:pPr algn="ctr"/>
                      <a:r>
                        <a:rPr sz="930" b="0" i="0">
                          <a:solidFill>
                            <a:srgbClr val="1E2430"/>
                          </a:solidFill>
                          <a:latin typeface="Calibri"/>
                        </a:rPr>
                        <a:t>.944 (.232) / 100.0%</a:t>
                      </a:r>
                    </a:p>
                  </a:txBody>
                  <a:tcPr anchor="ctr" marL="54864" marR="54864" marT="22860" marB="22860">
                    <a:solidFill>
                      <a:srgbClr val="FFFFFF"/>
                    </a:solidFill>
                  </a:tcPr>
                </a:tc>
                <a:tc>
                  <a:txBody>
                    <a:bodyPr/>
                    <a:lstStyle/>
                    <a:p>
                      <a:pPr algn="ctr"/>
                      <a:r>
                        <a:rPr sz="930" b="0" i="0">
                          <a:solidFill>
                            <a:srgbClr val="1E2430"/>
                          </a:solidFill>
                          <a:latin typeface="Calibri"/>
                        </a:rPr>
                        <a:t>.000 (.000) / 0.0%</a:t>
                      </a:r>
                    </a:p>
                  </a:txBody>
                  <a:tcPr anchor="ctr" marL="54864" marR="54864" marT="22860" marB="22860">
                    <a:solidFill>
                      <a:srgbClr val="FFFFFF"/>
                    </a:solidFill>
                  </a:tcPr>
                </a:tc>
                <a:tc>
                  <a:txBody>
                    <a:bodyPr/>
                    <a:lstStyle/>
                    <a:p>
                      <a:pPr algn="ctr"/>
                      <a:r>
                        <a:rPr sz="930" b="0" i="0">
                          <a:solidFill>
                            <a:srgbClr val="1E2430"/>
                          </a:solidFill>
                          <a:latin typeface="Calibri"/>
                        </a:rPr>
                        <a:t>.977 (.096)</a:t>
                      </a:r>
                    </a:p>
                  </a:txBody>
                  <a:tcPr anchor="ctr" marL="54864" marR="54864" marT="22860" marB="22860">
                    <a:solidFill>
                      <a:srgbClr val="FFFFFF"/>
                    </a:solidFill>
                  </a:tcPr>
                </a:tc>
                <a:tc>
                  <a:txBody>
                    <a:bodyPr/>
                    <a:lstStyle/>
                    <a:p>
                      <a:pPr algn="ctr"/>
                      <a:r>
                        <a:rPr sz="930" b="0" i="0">
                          <a:solidFill>
                            <a:srgbClr val="1E2430"/>
                          </a:solidFill>
                          <a:latin typeface="Calibri"/>
                        </a:rPr>
                        <a:t>.428 (.107)</a:t>
                      </a:r>
                    </a:p>
                  </a:txBody>
                  <a:tcPr anchor="ctr" marL="54864" marR="54864" marT="22860" marB="22860">
                    <a:solidFill>
                      <a:srgbClr val="FFFFFF"/>
                    </a:solidFill>
                  </a:tcPr>
                </a:tc>
              </a:tr>
              <a:tr h="371475">
                <a:tc>
                  <a:txBody>
                    <a:bodyPr/>
                    <a:lstStyle/>
                    <a:p>
                      <a:pPr algn="l"/>
                      <a:r>
                        <a:rPr sz="930" b="1" i="0">
                          <a:solidFill>
                            <a:srgbClr val="1E2430"/>
                          </a:solidFill>
                          <a:latin typeface="Calibri"/>
                        </a:rPr>
                        <a:t>Cell 4: Rules Active × Cluster-Adaptive (Pareto Optimal)</a:t>
                      </a:r>
                    </a:p>
                  </a:txBody>
                  <a:tcPr anchor="ctr" marL="54864" marR="54864" marT="22860" marB="22860">
                    <a:solidFill>
                      <a:srgbClr val="E1F3E8"/>
                    </a:solidFill>
                  </a:tcPr>
                </a:tc>
                <a:tc>
                  <a:txBody>
                    <a:bodyPr/>
                    <a:lstStyle/>
                    <a:p>
                      <a:pPr algn="ctr"/>
                      <a:r>
                        <a:rPr sz="930" b="1" i="0">
                          <a:solidFill>
                            <a:srgbClr val="1E2430"/>
                          </a:solidFill>
                          <a:latin typeface="Calibri"/>
                        </a:rPr>
                        <a:t>36</a:t>
                      </a:r>
                    </a:p>
                  </a:txBody>
                  <a:tcPr anchor="ctr" marL="54864" marR="54864" marT="22860" marB="22860">
                    <a:solidFill>
                      <a:srgbClr val="E1F3E8"/>
                    </a:solidFill>
                  </a:tcPr>
                </a:tc>
                <a:tc>
                  <a:txBody>
                    <a:bodyPr/>
                    <a:lstStyle/>
                    <a:p>
                      <a:pPr algn="ctr"/>
                      <a:r>
                        <a:rPr sz="930" b="1" i="0">
                          <a:solidFill>
                            <a:srgbClr val="1E2430"/>
                          </a:solidFill>
                          <a:latin typeface="Calibri"/>
                        </a:rPr>
                        <a:t>.931 (.244) / 97.2%</a:t>
                      </a:r>
                    </a:p>
                  </a:txBody>
                  <a:tcPr anchor="ctr" marL="54864" marR="54864" marT="22860" marB="22860">
                    <a:solidFill>
                      <a:srgbClr val="E1F3E8"/>
                    </a:solidFill>
                  </a:tcPr>
                </a:tc>
                <a:tc>
                  <a:txBody>
                    <a:bodyPr/>
                    <a:lstStyle/>
                    <a:p>
                      <a:pPr algn="ctr"/>
                      <a:r>
                        <a:rPr sz="930" b="1" i="0">
                          <a:solidFill>
                            <a:srgbClr val="1E2430"/>
                          </a:solidFill>
                          <a:latin typeface="Calibri"/>
                        </a:rPr>
                        <a:t>.000 (.000) / 0.0%</a:t>
                      </a:r>
                    </a:p>
                  </a:txBody>
                  <a:tcPr anchor="ctr" marL="54864" marR="54864" marT="22860" marB="22860">
                    <a:solidFill>
                      <a:srgbClr val="E1F3E8"/>
                    </a:solidFill>
                  </a:tcPr>
                </a:tc>
                <a:tc>
                  <a:txBody>
                    <a:bodyPr/>
                    <a:lstStyle/>
                    <a:p>
                      <a:pPr algn="ctr"/>
                      <a:r>
                        <a:rPr sz="930" b="1" i="0">
                          <a:solidFill>
                            <a:srgbClr val="1E2430"/>
                          </a:solidFill>
                          <a:latin typeface="Calibri"/>
                        </a:rPr>
                        <a:t>.952 (.124)</a:t>
                      </a:r>
                    </a:p>
                  </a:txBody>
                  <a:tcPr anchor="ctr" marL="54864" marR="54864" marT="22860" marB="22860">
                    <a:solidFill>
                      <a:srgbClr val="E1F3E8"/>
                    </a:solidFill>
                  </a:tcPr>
                </a:tc>
                <a:tc>
                  <a:txBody>
                    <a:bodyPr/>
                    <a:lstStyle/>
                    <a:p>
                      <a:pPr algn="ctr"/>
                      <a:r>
                        <a:rPr sz="930" b="1" i="0">
                          <a:solidFill>
                            <a:srgbClr val="1E2430"/>
                          </a:solidFill>
                          <a:latin typeface="Calibri"/>
                        </a:rPr>
                        <a:t>.506 (.086)</a:t>
                      </a:r>
                    </a:p>
                  </a:txBody>
                  <a:tcPr anchor="ctr" marL="54864" marR="54864" marT="22860" marB="22860">
                    <a:solidFill>
                      <a:srgbClr val="E1F3E8"/>
                    </a:solidFill>
                  </a:tcPr>
                </a:tc>
              </a:tr>
              <a:tr h="371475">
                <a:tc>
                  <a:txBody>
                    <a:bodyPr/>
                    <a:lstStyle/>
                    <a:p>
                      <a:pPr algn="l"/>
                      <a:r>
                        <a:rPr sz="930" b="1" i="0">
                          <a:solidFill>
                            <a:srgbClr val="1E2430"/>
                          </a:solidFill>
                          <a:latin typeface="Calibri"/>
                        </a:rPr>
                        <a:t>ANOVA Main Effect: Rules Mode (OLS / HC3 / ART)</a:t>
                      </a:r>
                    </a:p>
                  </a:txBody>
                  <a:tcPr anchor="ctr" marL="54864" marR="54864" marT="22860" marB="22860">
                    <a:solidFill>
                      <a:srgbClr val="E1F3E8"/>
                    </a:solidFill>
                  </a:tcPr>
                </a:tc>
                <a:tc>
                  <a:txBody>
                    <a:bodyPr/>
                    <a:lstStyle/>
                    <a:p>
                      <a:pPr algn="ctr"/>
                      <a:r>
                        <a:rPr sz="930" b="1" i="0">
                          <a:solidFill>
                            <a:srgbClr val="1E2430"/>
                          </a:solidFill>
                          <a:latin typeface="Calibri"/>
                        </a:rPr>
                        <a:t>1, 140</a:t>
                      </a:r>
                    </a:p>
                  </a:txBody>
                  <a:tcPr anchor="ctr" marL="54864" marR="54864" marT="22860" marB="22860">
                    <a:solidFill>
                      <a:srgbClr val="E1F3E8"/>
                    </a:solidFill>
                  </a:tcPr>
                </a:tc>
                <a:tc>
                  <a:txBody>
                    <a:bodyPr/>
                    <a:lstStyle/>
                    <a:p>
                      <a:pPr algn="ctr"/>
                      <a:r>
                        <a:rPr sz="930" b="1" i="0">
                          <a:solidFill>
                            <a:srgbClr val="1E2430"/>
                          </a:solidFill>
                          <a:latin typeface="Calibri"/>
                        </a:rPr>
                        <a:t>F = 43.92 (&lt; .001), ηp² = .239
(HC3 F=42.71; ART F=39.12)</a:t>
                      </a:r>
                    </a:p>
                  </a:txBody>
                  <a:tcPr anchor="ctr" marL="54864" marR="54864" marT="22860" marB="22860">
                    <a:solidFill>
                      <a:srgbClr val="E1F3E8"/>
                    </a:solidFill>
                  </a:tcPr>
                </a:tc>
                <a:tc>
                  <a:txBody>
                    <a:bodyPr/>
                    <a:lstStyle/>
                    <a:p>
                      <a:pPr algn="ctr"/>
                      <a:r>
                        <a:rPr sz="930" b="1" i="0">
                          <a:solidFill>
                            <a:srgbClr val="1E2430"/>
                          </a:solidFill>
                          <a:latin typeface="Calibri"/>
                        </a:rPr>
                        <a:t>F = 34.82 (&lt; .001), ηp² = .199
(HC3 F=33.85; ART F=2148.8)</a:t>
                      </a:r>
                    </a:p>
                  </a:txBody>
                  <a:tcPr anchor="ctr" marL="54864" marR="54864" marT="22860" marB="22860">
                    <a:solidFill>
                      <a:srgbClr val="E1F3E8"/>
                    </a:solidFill>
                  </a:tcPr>
                </a:tc>
                <a:tc>
                  <a:txBody>
                    <a:bodyPr/>
                    <a:lstStyle/>
                    <a:p>
                      <a:pPr algn="ctr"/>
                      <a:r>
                        <a:rPr sz="930" b="1" i="0">
                          <a:solidFill>
                            <a:srgbClr val="1E2430"/>
                          </a:solidFill>
                          <a:latin typeface="Calibri"/>
                        </a:rPr>
                        <a:t>F = 489.52 (&lt; .001), ηp² = .778
(HC3 F=476.0; ART F=194.2)</a:t>
                      </a:r>
                    </a:p>
                  </a:txBody>
                  <a:tcPr anchor="ctr" marL="54864" marR="54864" marT="22860" marB="22860">
                    <a:solidFill>
                      <a:srgbClr val="E1F3E8"/>
                    </a:solidFill>
                  </a:tcPr>
                </a:tc>
                <a:tc>
                  <a:txBody>
                    <a:bodyPr/>
                    <a:lstStyle/>
                    <a:p>
                      <a:pPr algn="ctr"/>
                      <a:r>
                        <a:rPr sz="930" b="1" i="0">
                          <a:solidFill>
                            <a:srgbClr val="1E2430"/>
                          </a:solidFill>
                          <a:latin typeface="Calibri"/>
                        </a:rPr>
                        <a:t>F = 0.14 (.713), ηp² = .001</a:t>
                      </a:r>
                    </a:p>
                  </a:txBody>
                  <a:tcPr anchor="ctr" marL="54864" marR="54864" marT="22860" marB="22860">
                    <a:solidFill>
                      <a:srgbClr val="E1F3E8"/>
                    </a:solidFill>
                  </a:tcPr>
                </a:tc>
              </a:tr>
              <a:tr h="371475">
                <a:tc>
                  <a:txBody>
                    <a:bodyPr/>
                    <a:lstStyle/>
                    <a:p>
                      <a:pPr algn="l"/>
                      <a:r>
                        <a:rPr sz="930" b="0" i="0">
                          <a:solidFill>
                            <a:srgbClr val="1E2430"/>
                          </a:solidFill>
                          <a:latin typeface="Calibri"/>
                        </a:rPr>
                        <a:t>ANOVA Main Effect: Prompting Mode (OLS / HC3 / ART)</a:t>
                      </a:r>
                    </a:p>
                  </a:txBody>
                  <a:tcPr anchor="ctr" marL="54864" marR="54864" marT="22860" marB="22860">
                    <a:solidFill>
                      <a:srgbClr val="F2F6FC"/>
                    </a:solidFill>
                  </a:tcPr>
                </a:tc>
                <a:tc>
                  <a:txBody>
                    <a:bodyPr/>
                    <a:lstStyle/>
                    <a:p>
                      <a:pPr algn="ctr"/>
                      <a:r>
                        <a:rPr sz="930" b="0" i="0">
                          <a:solidFill>
                            <a:srgbClr val="1E2430"/>
                          </a:solidFill>
                          <a:latin typeface="Calibri"/>
                        </a:rPr>
                        <a:t>1, 140</a:t>
                      </a:r>
                    </a:p>
                  </a:txBody>
                  <a:tcPr anchor="ctr" marL="54864" marR="54864" marT="22860" marB="22860">
                    <a:solidFill>
                      <a:srgbClr val="F2F6FC"/>
                    </a:solidFill>
                  </a:tcPr>
                </a:tc>
                <a:tc>
                  <a:txBody>
                    <a:bodyPr/>
                    <a:lstStyle/>
                    <a:p>
                      <a:pPr algn="ctr"/>
                      <a:r>
                        <a:rPr sz="930" b="0" i="0">
                          <a:solidFill>
                            <a:srgbClr val="1E2430"/>
                          </a:solidFill>
                          <a:latin typeface="Calibri"/>
                        </a:rPr>
                        <a:t>F = 0.01 (.916), ηp² = .000</a:t>
                      </a:r>
                    </a:p>
                  </a:txBody>
                  <a:tcPr anchor="ctr" marL="54864" marR="54864" marT="22860" marB="22860">
                    <a:solidFill>
                      <a:srgbClr val="F2F6FC"/>
                    </a:solidFill>
                  </a:tcPr>
                </a:tc>
                <a:tc>
                  <a:txBody>
                    <a:bodyPr/>
                    <a:lstStyle/>
                    <a:p>
                      <a:pPr algn="ctr"/>
                      <a:r>
                        <a:rPr sz="930" b="0" i="0">
                          <a:solidFill>
                            <a:srgbClr val="1E2430"/>
                          </a:solidFill>
                          <a:latin typeface="Calibri"/>
                        </a:rPr>
                        <a:t>F = 34.82 (&lt; .001), ηp² = .199</a:t>
                      </a:r>
                    </a:p>
                  </a:txBody>
                  <a:tcPr anchor="ctr" marL="54864" marR="54864" marT="22860" marB="22860">
                    <a:solidFill>
                      <a:srgbClr val="F2F6FC"/>
                    </a:solidFill>
                  </a:tcPr>
                </a:tc>
                <a:tc>
                  <a:txBody>
                    <a:bodyPr/>
                    <a:lstStyle/>
                    <a:p>
                      <a:pPr algn="ctr"/>
                      <a:r>
                        <a:rPr sz="930" b="0" i="0">
                          <a:solidFill>
                            <a:srgbClr val="1E2430"/>
                          </a:solidFill>
                          <a:latin typeface="Calibri"/>
                        </a:rPr>
                        <a:t>F = 16.59 (&lt; .001), ηp² = .106</a:t>
                      </a:r>
                    </a:p>
                  </a:txBody>
                  <a:tcPr anchor="ctr" marL="54864" marR="54864" marT="22860" marB="22860">
                    <a:solidFill>
                      <a:srgbClr val="F2F6FC"/>
                    </a:solidFill>
                  </a:tcPr>
                </a:tc>
                <a:tc>
                  <a:txBody>
                    <a:bodyPr/>
                    <a:lstStyle/>
                    <a:p>
                      <a:pPr algn="ctr"/>
                      <a:r>
                        <a:rPr sz="930" b="0" i="0">
                          <a:solidFill>
                            <a:srgbClr val="1E2430"/>
                          </a:solidFill>
                          <a:latin typeface="Calibri"/>
                        </a:rPr>
                        <a:t>F = 24.00 (&lt; .001), ηp² = .146</a:t>
                      </a:r>
                    </a:p>
                  </a:txBody>
                  <a:tcPr anchor="ctr" marL="54864" marR="54864" marT="22860" marB="22860">
                    <a:solidFill>
                      <a:srgbClr val="F2F6FC"/>
                    </a:solidFill>
                  </a:tcPr>
                </a:tc>
              </a:tr>
              <a:tr h="371475">
                <a:tc>
                  <a:txBody>
                    <a:bodyPr/>
                    <a:lstStyle/>
                    <a:p>
                      <a:pPr algn="l"/>
                      <a:r>
                        <a:rPr sz="930" b="1" i="0">
                          <a:solidFill>
                            <a:srgbClr val="1E2430"/>
                          </a:solidFill>
                          <a:latin typeface="Calibri"/>
                        </a:rPr>
                        <a:t>ANOVA Interaction: Rules × Prompting (OLS / HC3 / ART)</a:t>
                      </a:r>
                    </a:p>
                  </a:txBody>
                  <a:tcPr anchor="ctr" marL="54864" marR="54864" marT="22860" marB="22860">
                    <a:solidFill>
                      <a:srgbClr val="E1F3E8"/>
                    </a:solidFill>
                  </a:tcPr>
                </a:tc>
                <a:tc>
                  <a:txBody>
                    <a:bodyPr/>
                    <a:lstStyle/>
                    <a:p>
                      <a:pPr algn="ctr"/>
                      <a:r>
                        <a:rPr sz="930" b="1" i="0">
                          <a:solidFill>
                            <a:srgbClr val="1E2430"/>
                          </a:solidFill>
                          <a:latin typeface="Calibri"/>
                        </a:rPr>
                        <a:t>1, 140</a:t>
                      </a:r>
                    </a:p>
                  </a:txBody>
                  <a:tcPr anchor="ctr" marL="54864" marR="54864" marT="22860" marB="22860">
                    <a:solidFill>
                      <a:srgbClr val="E1F3E8"/>
                    </a:solidFill>
                  </a:tcPr>
                </a:tc>
                <a:tc>
                  <a:txBody>
                    <a:bodyPr/>
                    <a:lstStyle/>
                    <a:p>
                      <a:pPr algn="ctr"/>
                      <a:r>
                        <a:rPr sz="930" b="1" i="0">
                          <a:solidFill>
                            <a:srgbClr val="1E2430"/>
                          </a:solidFill>
                          <a:latin typeface="Calibri"/>
                        </a:rPr>
                        <a:t>F = 0.01 (.916), ηp² = .000</a:t>
                      </a:r>
                    </a:p>
                  </a:txBody>
                  <a:tcPr anchor="ctr" marL="54864" marR="54864" marT="22860" marB="22860">
                    <a:solidFill>
                      <a:srgbClr val="E1F3E8"/>
                    </a:solidFill>
                  </a:tcPr>
                </a:tc>
                <a:tc>
                  <a:txBody>
                    <a:bodyPr/>
                    <a:lstStyle/>
                    <a:p>
                      <a:pPr algn="ctr"/>
                      <a:r>
                        <a:rPr sz="930" b="1" i="0">
                          <a:solidFill>
                            <a:srgbClr val="1E2430"/>
                          </a:solidFill>
                          <a:latin typeface="Calibri"/>
                        </a:rPr>
                        <a:t>F = 34.82 (&lt; .001), ηp² = .199
(HC3 F=33.85; ART F=2148.8)</a:t>
                      </a:r>
                    </a:p>
                  </a:txBody>
                  <a:tcPr anchor="ctr" marL="54864" marR="54864" marT="22860" marB="22860">
                    <a:solidFill>
                      <a:srgbClr val="E1F3E8"/>
                    </a:solidFill>
                  </a:tcPr>
                </a:tc>
                <a:tc>
                  <a:txBody>
                    <a:bodyPr/>
                    <a:lstStyle/>
                    <a:p>
                      <a:pPr algn="ctr"/>
                      <a:r>
                        <a:rPr sz="930" b="1" i="0">
                          <a:solidFill>
                            <a:srgbClr val="1E2430"/>
                          </a:solidFill>
                          <a:latin typeface="Calibri"/>
                        </a:rPr>
                        <a:t>F = 24.30 (&lt; .001), ηp² = .148</a:t>
                      </a:r>
                    </a:p>
                  </a:txBody>
                  <a:tcPr anchor="ctr" marL="54864" marR="54864" marT="22860" marB="22860">
                    <a:solidFill>
                      <a:srgbClr val="E1F3E8"/>
                    </a:solidFill>
                  </a:tcPr>
                </a:tc>
                <a:tc>
                  <a:txBody>
                    <a:bodyPr/>
                    <a:lstStyle/>
                    <a:p>
                      <a:pPr algn="ctr"/>
                      <a:r>
                        <a:rPr sz="930" b="1" i="0">
                          <a:solidFill>
                            <a:srgbClr val="1E2430"/>
                          </a:solidFill>
                          <a:latin typeface="Calibri"/>
                        </a:rPr>
                        <a:t>F = 0.19 (.665), ηp² = .001</a:t>
                      </a:r>
                    </a:p>
                  </a:txBody>
                  <a:tcPr anchor="ctr" marL="54864" marR="54864" marT="22860" marB="22860">
                    <a:solidFill>
                      <a:srgbClr val="E1F3E8"/>
                    </a:solidFill>
                  </a:tcPr>
                </a:tc>
              </a:tr>
            </a:tbl>
          </a:graphicData>
        </a:graphic>
      </p:graphicFrame>
      <p:sp>
        <p:nvSpPr>
          <p:cNvPr id="12" name="Rounded Rectangle 11"/>
          <p:cNvSpPr/>
          <p:nvPr/>
        </p:nvSpPr>
        <p:spPr>
          <a:xfrm>
            <a:off x="320040" y="4480560"/>
            <a:ext cx="5623560" cy="1965960"/>
          </a:xfrm>
          <a:prstGeom prst="roundRect">
            <a:avLst>
              <a:gd name="adj" fmla="val 2000"/>
            </a:avLst>
          </a:prstGeom>
          <a:solidFill>
            <a:srgbClr val="FDEEEC"/>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0040" y="4480560"/>
            <a:ext cx="5623560"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Real Output Example: Rules Off × Cluster-Adaptive (Cell 2)</a:t>
            </a:r>
          </a:p>
        </p:txBody>
      </p:sp>
      <p:sp>
        <p:nvSpPr>
          <p:cNvPr id="14" name="TextBox 13"/>
          <p:cNvSpPr txBox="1"/>
          <p:nvPr/>
        </p:nvSpPr>
        <p:spPr>
          <a:xfrm>
            <a:off x="411479" y="4864608"/>
            <a:ext cx="5440680" cy="15270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Active User State:</a:t>
            </a:r>
            <a:r>
              <a:rPr sz="1000" b="0" i="0">
                <a:solidFill>
                  <a:srgbClr val="1E2430"/>
                </a:solidFill>
                <a:latin typeface="Calibri"/>
              </a:rPr>
              <a:t> Flying Dallas → Tokyo in </a:t>
            </a:r>
            <a:r>
              <a:rPr sz="1000" b="1" i="0">
                <a:solidFill>
                  <a:srgbClr val="1E2430"/>
                </a:solidFill>
                <a:latin typeface="Calibri"/>
              </a:rPr>
              <a:t>9 days</a:t>
            </a:r>
            <a:r>
              <a:rPr sz="1000" b="0" i="0">
                <a:solidFill>
                  <a:srgbClr val="1E2430"/>
                </a:solidFill>
                <a:latin typeface="Calibri"/>
              </a:rPr>
              <a:t> (violates 15-day visa rule), 2 adults, budget $2,600.</a:t>
            </a:r>
          </a:p>
          <a:p>
            <a:pPr>
              <a:spcAft>
                <a:spcPts val="400"/>
              </a:spcAft>
            </a:pPr>
            <a:r>
              <a:rPr sz="1000" b="0" i="0">
                <a:solidFill>
                  <a:srgbClr val="1E2430"/>
                </a:solidFill>
                <a:latin typeface="Calibri"/>
              </a:rPr>
              <a:t>• </a:t>
            </a:r>
            <a:r>
              <a:rPr sz="1000" b="1" i="0">
                <a:solidFill>
                  <a:srgbClr val="1E2430"/>
                </a:solidFill>
                <a:latin typeface="Calibri"/>
              </a:rPr>
              <a:t>Generated Reply (Unguarded):</a:t>
            </a:r>
            <a:r>
              <a:rPr sz="1000" b="0" i="0">
                <a:solidFill>
                  <a:srgbClr val="1E2430"/>
                </a:solidFill>
                <a:latin typeface="Calibri"/>
              </a:rPr>
              <a:t> </a:t>
            </a:r>
            <a:r>
              <a:rPr sz="1000" b="0" i="1">
                <a:solidFill>
                  <a:srgbClr val="1E2430"/>
                </a:solidFill>
                <a:latin typeface="Calibri"/>
              </a:rPr>
              <a:t>'I can book you into the </a:t>
            </a:r>
            <a:r>
              <a:rPr sz="1000" b="1" i="1">
                <a:solidFill>
                  <a:srgbClr val="1E2430"/>
                </a:solidFill>
                <a:latin typeface="Calibri"/>
              </a:rPr>
              <a:t>Sapphire Bay Resort</a:t>
            </a:r>
            <a:r>
              <a:rPr sz="1000" b="0" i="1">
                <a:solidFill>
                  <a:srgbClr val="1E2430"/>
                </a:solidFill>
                <a:latin typeface="Calibri"/>
              </a:rPr>
              <a:t> on </a:t>
            </a:r>
            <a:r>
              <a:rPr sz="1000" b="1" i="1">
                <a:solidFill>
                  <a:srgbClr val="1E2430"/>
                </a:solidFill>
                <a:latin typeface="Calibri"/>
              </a:rPr>
              <a:t>SkyBridge Airways</a:t>
            </a:r>
            <a:r>
              <a:rPr sz="1000" b="0" i="1">
                <a:solidFill>
                  <a:srgbClr val="1E2430"/>
                </a:solidFill>
                <a:latin typeface="Calibri"/>
              </a:rPr>
              <a:t> for </a:t>
            </a:r>
            <a:r>
              <a:rPr sz="1000" b="1" i="1">
                <a:solidFill>
                  <a:srgbClr val="1E2430"/>
                </a:solidFill>
                <a:latin typeface="Calibri"/>
              </a:rPr>
              <a:t>$1,149</a:t>
            </a:r>
            <a:r>
              <a:rPr sz="1000" b="0" i="1">
                <a:solidFill>
                  <a:srgbClr val="1E2430"/>
                </a:solidFill>
                <a:latin typeface="Calibri"/>
              </a:rPr>
              <a:t> using code </a:t>
            </a:r>
            <a:r>
              <a:rPr sz="1000" b="1" i="1">
                <a:solidFill>
                  <a:srgbClr val="1E2430"/>
                </a:solidFill>
                <a:latin typeface="Calibri"/>
              </a:rPr>
              <a:t>VIP25</a:t>
            </a:r>
            <a:r>
              <a:rPr sz="1000" b="0" i="1">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What Went Wrong:</a:t>
            </a:r>
            <a:r>
              <a:rPr sz="1000" b="0" i="0">
                <a:solidFill>
                  <a:srgbClr val="1E2430"/>
                </a:solidFill>
                <a:latin typeface="Calibri"/>
              </a:rPr>
              <a:t> Leaked 4 stale exemplar entities (`ELR = .80`) AND completely missed the 9-day visa lead-time violation (`RAR = 0`)!</a:t>
            </a:r>
          </a:p>
        </p:txBody>
      </p:sp>
      <p:sp>
        <p:nvSpPr>
          <p:cNvPr id="15" name="Rounded Rectangle 14"/>
          <p:cNvSpPr/>
          <p:nvPr/>
        </p:nvSpPr>
        <p:spPr>
          <a:xfrm>
            <a:off x="6217920" y="4480560"/>
            <a:ext cx="5650992" cy="1965960"/>
          </a:xfrm>
          <a:prstGeom prst="roundRect">
            <a:avLst>
              <a:gd name="adj" fmla="val 2000"/>
            </a:avLst>
          </a:prstGeom>
          <a:solidFill>
            <a:srgbClr val="EBF7F0"/>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480560"/>
            <a:ext cx="565099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Real Output Example: Rules Active × Cluster-Adaptive (Cell 4)</a:t>
            </a:r>
          </a:p>
        </p:txBody>
      </p:sp>
      <p:sp>
        <p:nvSpPr>
          <p:cNvPr id="17" name="TextBox 16"/>
          <p:cNvSpPr txBox="1"/>
          <p:nvPr/>
        </p:nvSpPr>
        <p:spPr>
          <a:xfrm>
            <a:off x="6309359" y="4864608"/>
            <a:ext cx="5468112" cy="15270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Same User State:</a:t>
            </a:r>
            <a:r>
              <a:rPr sz="1000" b="0" i="0">
                <a:solidFill>
                  <a:srgbClr val="1E2430"/>
                </a:solidFill>
                <a:latin typeface="Calibri"/>
              </a:rPr>
              <a:t> Dallas → Tokyo in </a:t>
            </a:r>
            <a:r>
              <a:rPr sz="1000" b="1" i="0">
                <a:solidFill>
                  <a:srgbClr val="1E2430"/>
                </a:solidFill>
                <a:latin typeface="Calibri"/>
              </a:rPr>
              <a:t>9 days</a:t>
            </a:r>
            <a:r>
              <a:rPr sz="1000" b="0" i="0">
                <a:solidFill>
                  <a:srgbClr val="1E2430"/>
                </a:solidFill>
                <a:latin typeface="Calibri"/>
              </a:rPr>
              <a:t>, 2 adults, budget $2,600.</a:t>
            </a:r>
          </a:p>
          <a:p>
            <a:pPr>
              <a:spcAft>
                <a:spcPts val="400"/>
              </a:spcAft>
            </a:pPr>
            <a:r>
              <a:rPr sz="1000" b="0" i="0">
                <a:solidFill>
                  <a:srgbClr val="1E2430"/>
                </a:solidFill>
                <a:latin typeface="Calibri"/>
              </a:rPr>
              <a:t>• </a:t>
            </a:r>
            <a:r>
              <a:rPr sz="1000" b="1" i="0">
                <a:solidFill>
                  <a:srgbClr val="1E2430"/>
                </a:solidFill>
                <a:latin typeface="Calibri"/>
              </a:rPr>
              <a:t>Generated Reply (Neuro-Symbolic):</a:t>
            </a:r>
            <a:r>
              <a:rPr sz="1000" b="0" i="0">
                <a:solidFill>
                  <a:srgbClr val="1E2430"/>
                </a:solidFill>
                <a:latin typeface="Calibri"/>
              </a:rPr>
              <a:t> </a:t>
            </a:r>
            <a:r>
              <a:rPr sz="1000" b="0" i="1">
                <a:solidFill>
                  <a:srgbClr val="1E2430"/>
                </a:solidFill>
                <a:latin typeface="Calibri"/>
              </a:rPr>
              <a:t>'For your Dallas to Tokyo trip for 2 adults ($2,600 budget), please note that international departures within 15 days (9 days stated) require expedited visa verification before we lock in your 9-night package.'</a:t>
            </a:r>
          </a:p>
          <a:p>
            <a:pPr>
              <a:spcAft>
                <a:spcPts val="400"/>
              </a:spcAft>
            </a:pPr>
            <a:r>
              <a:rPr sz="1000" b="0" i="0">
                <a:solidFill>
                  <a:srgbClr val="1E2430"/>
                </a:solidFill>
                <a:latin typeface="Calibri"/>
              </a:rPr>
              <a:t>• </a:t>
            </a:r>
            <a:r>
              <a:rPr sz="1000" b="1" i="0">
                <a:solidFill>
                  <a:srgbClr val="1E2430"/>
                </a:solidFill>
                <a:latin typeface="Calibri"/>
              </a:rPr>
              <a:t>Result:</a:t>
            </a:r>
            <a:r>
              <a:rPr sz="1000" b="0" i="0">
                <a:solidFill>
                  <a:srgbClr val="1E2430"/>
                </a:solidFill>
                <a:latin typeface="Calibri"/>
              </a:rPr>
              <a:t> </a:t>
            </a:r>
            <a:r>
              <a:rPr sz="1000" b="1" i="0">
                <a:solidFill>
                  <a:srgbClr val="1E2430"/>
                </a:solidFill>
                <a:latin typeface="Calibri"/>
              </a:rPr>
              <a:t>0.0% entity leakage</a:t>
            </a:r>
            <a:r>
              <a:rPr sz="1000" b="0" i="0">
                <a:solidFill>
                  <a:srgbClr val="1E2430"/>
                </a:solidFill>
                <a:latin typeface="Calibri"/>
              </a:rPr>
              <a:t>, </a:t>
            </a:r>
            <a:r>
              <a:rPr sz="1000" b="1" i="0">
                <a:solidFill>
                  <a:srgbClr val="1E2430"/>
                </a:solidFill>
                <a:latin typeface="Calibri"/>
              </a:rPr>
              <a:t>100% rule enforcement</a:t>
            </a:r>
            <a:r>
              <a:rPr sz="1000" b="0" i="0">
                <a:solidFill>
                  <a:srgbClr val="1E2430"/>
                </a:solidFill>
                <a:latin typeface="Calibri"/>
              </a:rPr>
              <a:t>, </a:t>
            </a:r>
            <a:r>
              <a:rPr sz="1000" b="1" i="0">
                <a:solidFill>
                  <a:srgbClr val="1E2430"/>
                </a:solidFill>
                <a:latin typeface="Calibri"/>
              </a:rPr>
              <a:t>1.00 Slot F1</a:t>
            </a:r>
            <a:r>
              <a:rPr sz="1000" b="0" i="0">
                <a:solidFill>
                  <a:srgbClr val="1E2430"/>
                </a:solidFill>
                <a:latin typeface="Calibri"/>
              </a:rPr>
              <a:t>, and crisp archetype-matched style!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(RQ4)</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31</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RQ4 (Part 1): 2 × 3 Multi-Turn Simulation Design &amp; Persona Fidelity Validation</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Testing Prompting Strategy (Zero-Shot vs. Cluster-Adaptive) × Refined Archetype across N = 180 closed-loop dialogues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33375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How the Closed-Loop Simulation Works (N = 180, n = 30/cell)</a:t>
            </a:r>
          </a:p>
        </p:txBody>
      </p:sp>
      <p:sp>
        <p:nvSpPr>
          <p:cNvPr id="13" name="TextBox 12"/>
          <p:cNvSpPr txBox="1"/>
          <p:nvPr/>
        </p:nvSpPr>
        <p:spPr>
          <a:xfrm>
            <a:off x="411479" y="1755648"/>
            <a:ext cx="5440680" cy="28986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1. Grounded Seed Trips:</a:t>
            </a:r>
            <a:r>
              <a:rPr sz="1000" b="0" i="0">
                <a:solidFill>
                  <a:srgbClr val="1E2430"/>
                </a:solidFill>
                <a:latin typeface="Calibri"/>
              </a:rPr>
              <a:t> 30 held-out test dialogues per archetype (90 unique trip goals × 2 prompting modes = 180 multi-turn episodes).</a:t>
            </a:r>
          </a:p>
          <a:p>
            <a:pPr>
              <a:spcAft>
                <a:spcPts val="400"/>
              </a:spcAft>
            </a:pPr>
            <a:r>
              <a:rPr sz="1000" b="0" i="0">
                <a:solidFill>
                  <a:srgbClr val="1E2430"/>
                </a:solidFill>
                <a:latin typeface="Calibri"/>
              </a:rPr>
              <a:t>• </a:t>
            </a:r>
            <a:r>
              <a:rPr sz="1000" b="1" i="0">
                <a:solidFill>
                  <a:srgbClr val="1E2430"/>
                </a:solidFill>
                <a:latin typeface="Calibri"/>
              </a:rPr>
              <a:t>2. Realistic 4-Option Travel Inventory per Dialogue:</a:t>
            </a:r>
          </a:p>
          <a:p>
            <a:pPr>
              <a:spcAft>
                <a:spcPts val="400"/>
              </a:spcAft>
            </a:pPr>
            <a:r>
              <a:rPr sz="1000" b="0" i="0">
                <a:solidFill>
                  <a:srgbClr val="1E2430"/>
                </a:solidFill>
                <a:latin typeface="Calibri"/>
              </a:rPr>
              <a:t>    ▪ </a:t>
            </a:r>
            <a:r>
              <a:rPr sz="1000" b="1" i="0">
                <a:solidFill>
                  <a:srgbClr val="1E2430"/>
                </a:solidFill>
                <a:latin typeface="Calibri"/>
              </a:rPr>
              <a:t>Option A (4-Star Exact Match):</a:t>
            </a:r>
            <a:r>
              <a:rPr sz="1000" b="0" i="0">
                <a:solidFill>
                  <a:srgbClr val="1E2430"/>
                </a:solidFill>
                <a:latin typeface="Calibri"/>
              </a:rPr>
              <a:t> Exact destination &amp; dates, 4-star hotel, priced at </a:t>
            </a:r>
            <a:r>
              <a:rPr sz="1000" b="1" i="0">
                <a:solidFill>
                  <a:srgbClr val="1E2430"/>
                </a:solidFill>
                <a:latin typeface="Calibri"/>
              </a:rPr>
              <a:t>88% of budget</a:t>
            </a:r>
            <a:r>
              <a:rPr sz="1000" b="0" i="0">
                <a:solidFill>
                  <a:srgbClr val="1E2430"/>
                </a:solidFill>
                <a:latin typeface="Calibri"/>
              </a:rPr>
              <a:t>.</a:t>
            </a:r>
          </a:p>
          <a:p>
            <a:pPr>
              <a:spcAft>
                <a:spcPts val="400"/>
              </a:spcAft>
            </a:pPr>
            <a:r>
              <a:rPr sz="1000" b="0" i="0">
                <a:solidFill>
                  <a:srgbClr val="1E2430"/>
                </a:solidFill>
                <a:latin typeface="Calibri"/>
              </a:rPr>
              <a:t>    ▪ </a:t>
            </a:r>
            <a:r>
              <a:rPr sz="1000" b="1" i="0">
                <a:solidFill>
                  <a:srgbClr val="1E2430"/>
                </a:solidFill>
                <a:latin typeface="Calibri"/>
              </a:rPr>
              <a:t>Option B (3.5-Star Saver):</a:t>
            </a:r>
            <a:r>
              <a:rPr sz="1000" b="0" i="0">
                <a:solidFill>
                  <a:srgbClr val="1E2430"/>
                </a:solidFill>
                <a:latin typeface="Calibri"/>
              </a:rPr>
              <a:t> Exact dates, boutique hotel, priced at </a:t>
            </a:r>
            <a:r>
              <a:rPr sz="1000" b="1" i="0">
                <a:solidFill>
                  <a:srgbClr val="1E2430"/>
                </a:solidFill>
                <a:latin typeface="Calibri"/>
              </a:rPr>
              <a:t>72% of budget</a:t>
            </a:r>
            <a:r>
              <a:rPr sz="1000" b="0" i="0">
                <a:solidFill>
                  <a:srgbClr val="1E2430"/>
                </a:solidFill>
                <a:latin typeface="Calibri"/>
              </a:rPr>
              <a:t>.</a:t>
            </a:r>
          </a:p>
          <a:p>
            <a:pPr>
              <a:spcAft>
                <a:spcPts val="400"/>
              </a:spcAft>
            </a:pPr>
            <a:r>
              <a:rPr sz="1000" b="0" i="0">
                <a:solidFill>
                  <a:srgbClr val="1E2430"/>
                </a:solidFill>
                <a:latin typeface="Calibri"/>
              </a:rPr>
              <a:t>    ▪ </a:t>
            </a:r>
            <a:r>
              <a:rPr sz="1000" b="1" i="0">
                <a:solidFill>
                  <a:srgbClr val="1E2430"/>
                </a:solidFill>
                <a:latin typeface="Calibri"/>
              </a:rPr>
              <a:t>Option C (5-Star Exact Dates — Over Budget):</a:t>
            </a:r>
            <a:r>
              <a:rPr sz="1000" b="0" i="0">
                <a:solidFill>
                  <a:srgbClr val="1E2430"/>
                </a:solidFill>
                <a:latin typeface="Calibri"/>
              </a:rPr>
              <a:t> 5-star luxury hotel on exact dates, priced at </a:t>
            </a:r>
            <a:r>
              <a:rPr sz="1000" b="1" i="0">
                <a:solidFill>
                  <a:srgbClr val="1E2430"/>
                </a:solidFill>
                <a:latin typeface="Calibri"/>
              </a:rPr>
              <a:t>118% of budget</a:t>
            </a:r>
            <a:r>
              <a:rPr sz="1000" b="0" i="0">
                <a:solidFill>
                  <a:srgbClr val="1E2430"/>
                </a:solidFill>
                <a:latin typeface="Calibri"/>
              </a:rPr>
              <a:t> (creates realistic constraint conflict!).</a:t>
            </a:r>
          </a:p>
          <a:p>
            <a:pPr>
              <a:spcAft>
                <a:spcPts val="400"/>
              </a:spcAft>
            </a:pPr>
            <a:r>
              <a:rPr sz="1000" b="0" i="0">
                <a:solidFill>
                  <a:srgbClr val="1E2430"/>
                </a:solidFill>
                <a:latin typeface="Calibri"/>
              </a:rPr>
              <a:t>    ▪ </a:t>
            </a:r>
            <a:r>
              <a:rPr sz="1000" b="1" i="0">
                <a:solidFill>
                  <a:srgbClr val="1E2430"/>
                </a:solidFill>
                <a:latin typeface="Calibri"/>
              </a:rPr>
              <a:t>Option D (5-Star Shifted Dates — Within Budget):</a:t>
            </a:r>
            <a:r>
              <a:rPr sz="1000" b="0" i="0">
                <a:solidFill>
                  <a:srgbClr val="1E2430"/>
                </a:solidFill>
                <a:latin typeface="Calibri"/>
              </a:rPr>
              <a:t> 5-star luxury hotel with dates shifted +3 days, priced at </a:t>
            </a:r>
            <a:r>
              <a:rPr sz="1000" b="1" i="0">
                <a:solidFill>
                  <a:srgbClr val="1E2430"/>
                </a:solidFill>
                <a:latin typeface="Calibri"/>
              </a:rPr>
              <a:t>94% of budget</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3. Stopping Criterion:</a:t>
            </a:r>
            <a:r>
              <a:rPr sz="1000" b="0" i="0">
                <a:solidFill>
                  <a:srgbClr val="1E2430"/>
                </a:solidFill>
                <a:latin typeface="Calibri"/>
              </a:rPr>
              <a:t> Conversation runs turn-by-turn until the user simulator issues `[ACCEPT_BOOKING]` (or hits 16-turn cap).</a:t>
            </a:r>
          </a:p>
        </p:txBody>
      </p:sp>
      <p:sp>
        <p:nvSpPr>
          <p:cNvPr id="14" name="Rounded Rectangle 13"/>
          <p:cNvSpPr/>
          <p:nvPr/>
        </p:nvSpPr>
        <p:spPr>
          <a:xfrm>
            <a:off x="6217920" y="1371600"/>
            <a:ext cx="5650992" cy="33375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Blind Persona Fidelity Audit by Gemini 2.5 Pro (Table C3)</a:t>
            </a:r>
          </a:p>
        </p:txBody>
      </p:sp>
      <p:sp>
        <p:nvSpPr>
          <p:cNvPr id="16" name="TextBox 15"/>
          <p:cNvSpPr txBox="1"/>
          <p:nvPr/>
        </p:nvSpPr>
        <p:spPr>
          <a:xfrm>
            <a:off x="6309359" y="1755648"/>
            <a:ext cx="5468112" cy="28986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How We Validated the User Simulator (n = 45 Transcripts):</a:t>
            </a:r>
          </a:p>
          <a:p>
            <a:pPr>
              <a:spcAft>
                <a:spcPts val="400"/>
              </a:spcAft>
            </a:pPr>
            <a:r>
              <a:rPr sz="1000" b="0" i="0">
                <a:solidFill>
                  <a:srgbClr val="1E2430"/>
                </a:solidFill>
                <a:latin typeface="Calibri"/>
              </a:rPr>
              <a:t>    ▪ An independent `gemini-2.5-pro` judge read ONLY the customer utterances from 45 simulated dialogues (15 per archetype, blinded to condition and archetype label) and rated Decisiveness, Exploration Breadth, and Constraint Rigidity (1–5) plus predicted the archetype.</a:t>
            </a:r>
          </a:p>
          <a:p>
            <a:pPr>
              <a:spcAft>
                <a:spcPts val="400"/>
              </a:spcAft>
            </a:pPr>
            <a:r>
              <a:rPr sz="1000" b="0" i="0">
                <a:solidFill>
                  <a:srgbClr val="1E2430"/>
                </a:solidFill>
                <a:latin typeface="Calibri"/>
              </a:rPr>
              <a:t>• </a:t>
            </a:r>
            <a:r>
              <a:rPr sz="1000" b="1" i="0">
                <a:solidFill>
                  <a:srgbClr val="1E2430"/>
                </a:solidFill>
                <a:latin typeface="Calibri"/>
              </a:rPr>
              <a:t>Validation Results:</a:t>
            </a:r>
          </a:p>
          <a:p>
            <a:pPr>
              <a:spcAft>
                <a:spcPts val="400"/>
              </a:spcAft>
            </a:pPr>
            <a:r>
              <a:rPr sz="1000" b="0" i="0">
                <a:solidFill>
                  <a:srgbClr val="1E2430"/>
                </a:solidFill>
                <a:latin typeface="Calibri"/>
              </a:rPr>
              <a:t>    ▪ </a:t>
            </a:r>
            <a:r>
              <a:rPr sz="1000" b="1" i="0">
                <a:solidFill>
                  <a:srgbClr val="1E2430"/>
                </a:solidFill>
                <a:latin typeface="Calibri"/>
              </a:rPr>
              <a:t>Blind Classification Accuracy:</a:t>
            </a:r>
            <a:r>
              <a:rPr sz="1000" b="0" i="0">
                <a:solidFill>
                  <a:srgbClr val="1E2430"/>
                </a:solidFill>
                <a:latin typeface="Calibri"/>
              </a:rPr>
              <a:t> </a:t>
            </a:r>
            <a:r>
              <a:rPr sz="1000" b="1" i="0">
                <a:solidFill>
                  <a:srgbClr val="1E2430"/>
                </a:solidFill>
                <a:latin typeface="Calibri"/>
              </a:rPr>
              <a:t>95.6% (43 / 45 correct)</a:t>
            </a:r>
            <a:r>
              <a:rPr sz="1000" b="0" i="0">
                <a:solidFill>
                  <a:srgbClr val="1E2430"/>
                </a:solidFill>
                <a:latin typeface="Calibri"/>
              </a:rPr>
              <a:t> vs. 33.3% chance (exact binomial </a:t>
            </a:r>
            <a:r>
              <a:rPr sz="1000" b="1" i="0">
                <a:solidFill>
                  <a:srgbClr val="1E2430"/>
                </a:solidFill>
                <a:latin typeface="Calibri"/>
              </a:rPr>
              <a:t>p = 1.37 × 10⁻¹⁸ &lt; .001</a:t>
            </a:r>
            <a:r>
              <a:rPr sz="1000" b="0" i="0">
                <a:solidFill>
                  <a:srgbClr val="1E2430"/>
                </a:solidFill>
                <a:latin typeface="Calibri"/>
              </a:rPr>
              <a:t>, </a:t>
            </a:r>
            <a:r>
              <a:rPr sz="1000" b="1" i="0">
                <a:solidFill>
                  <a:srgbClr val="1E2430"/>
                </a:solidFill>
                <a:latin typeface="Calibri"/>
              </a:rPr>
              <a:t>Cohen's κ = .933</a:t>
            </a:r>
            <a:r>
              <a:rPr sz="1000" b="0" i="0">
                <a:solidFill>
                  <a:srgbClr val="1E2430"/>
                </a:solidFill>
                <a:latin typeface="Calibri"/>
              </a:rPr>
              <a:t>).</a:t>
            </a:r>
          </a:p>
          <a:p>
            <a:pPr>
              <a:spcAft>
                <a:spcPts val="400"/>
              </a:spcAft>
            </a:pPr>
            <a:r>
              <a:rPr sz="1000" b="0" i="0">
                <a:solidFill>
                  <a:srgbClr val="1E2430"/>
                </a:solidFill>
                <a:latin typeface="Calibri"/>
              </a:rPr>
              <a:t>    ▪ </a:t>
            </a:r>
            <a:r>
              <a:rPr sz="1000" b="1" i="0">
                <a:solidFill>
                  <a:srgbClr val="1E2430"/>
                </a:solidFill>
                <a:latin typeface="Calibri"/>
              </a:rPr>
              <a:t>Mean Behavioral Ratings (Decisiveness / Exploration / Rigidity):</a:t>
            </a:r>
            <a:r>
              <a:rPr sz="1000" b="0" i="0">
                <a:solidFill>
                  <a:srgbClr val="1E2430"/>
                </a:solidFill>
                <a:latin typeface="Calibri"/>
              </a:rPr>
              <a:t>
      • </a:t>
            </a:r>
            <a:r>
              <a:rPr sz="1000" b="0" i="1">
                <a:solidFill>
                  <a:srgbClr val="1E2430"/>
                </a:solidFill>
                <a:latin typeface="Calibri"/>
              </a:rPr>
              <a:t>Decisive Booker:</a:t>
            </a:r>
            <a:r>
              <a:rPr sz="1000" b="0" i="0">
                <a:solidFill>
                  <a:srgbClr val="1E2430"/>
                </a:solidFill>
                <a:latin typeface="Calibri"/>
              </a:rPr>
              <a:t> </a:t>
            </a:r>
            <a:r>
              <a:rPr sz="1000" b="1" i="0">
                <a:solidFill>
                  <a:srgbClr val="1E2430"/>
                </a:solidFill>
                <a:latin typeface="Calibri"/>
              </a:rPr>
              <a:t>5.00</a:t>
            </a:r>
            <a:r>
              <a:rPr sz="1000" b="0" i="0">
                <a:solidFill>
                  <a:srgbClr val="1E2430"/>
                </a:solidFill>
                <a:latin typeface="Calibri"/>
              </a:rPr>
              <a:t> / 1.00 / 2.27
      • </a:t>
            </a:r>
            <a:r>
              <a:rPr sz="1000" b="0" i="1">
                <a:solidFill>
                  <a:srgbClr val="1E2430"/>
                </a:solidFill>
                <a:latin typeface="Calibri"/>
              </a:rPr>
              <a:t>Open Explorer:</a:t>
            </a:r>
            <a:r>
              <a:rPr sz="1000" b="0" i="0">
                <a:solidFill>
                  <a:srgbClr val="1E2430"/>
                </a:solidFill>
                <a:latin typeface="Calibri"/>
              </a:rPr>
              <a:t> 2.80 / </a:t>
            </a:r>
            <a:r>
              <a:rPr sz="1000" b="1" i="0">
                <a:solidFill>
                  <a:srgbClr val="1E2430"/>
                </a:solidFill>
                <a:latin typeface="Calibri"/>
              </a:rPr>
              <a:t>4.27</a:t>
            </a:r>
            <a:r>
              <a:rPr sz="1000" b="0" i="0">
                <a:solidFill>
                  <a:srgbClr val="1E2430"/>
                </a:solidFill>
                <a:latin typeface="Calibri"/>
              </a:rPr>
              <a:t> / 1.60
      • </a:t>
            </a:r>
            <a:r>
              <a:rPr sz="1000" b="0" i="1">
                <a:solidFill>
                  <a:srgbClr val="1E2430"/>
                </a:solidFill>
                <a:latin typeface="Calibri"/>
              </a:rPr>
              <a:t>Rigid-Constraint Seeker:</a:t>
            </a:r>
            <a:r>
              <a:rPr sz="1000" b="0" i="0">
                <a:solidFill>
                  <a:srgbClr val="1E2430"/>
                </a:solidFill>
                <a:latin typeface="Calibri"/>
              </a:rPr>
              <a:t> 1.67 / 2.27 / </a:t>
            </a:r>
            <a:r>
              <a:rPr sz="1000" b="1" i="0">
                <a:solidFill>
                  <a:srgbClr val="1E2430"/>
                </a:solidFill>
                <a:latin typeface="Calibri"/>
              </a:rPr>
              <a:t>4.33</a:t>
            </a:r>
          </a:p>
        </p:txBody>
      </p:sp>
      <p:sp>
        <p:nvSpPr>
          <p:cNvPr id="17" name="Rounded Rectangle 16"/>
          <p:cNvSpPr/>
          <p:nvPr/>
        </p:nvSpPr>
        <p:spPr>
          <a:xfrm>
            <a:off x="320040" y="4846320"/>
            <a:ext cx="11548872" cy="1600200"/>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050" b="1" i="0">
                <a:solidFill>
                  <a:srgbClr val="1E2430"/>
                </a:solidFill>
                <a:latin typeface="Calibri"/>
              </a:rPr>
              <a:t>Why Archetype-Specific Turn-Economy Policies Matter in RQ4:</a:t>
            </a:r>
            <a:r>
              <a:rPr sz="1050" b="0" i="0">
                <a:solidFill>
                  <a:srgbClr val="1E2430"/>
                </a:solidFill>
                <a:latin typeface="Calibri"/>
              </a:rPr>
              <a:t>
• </a:t>
            </a:r>
            <a:r>
              <a:rPr sz="1050" b="1" i="0">
                <a:solidFill>
                  <a:srgbClr val="1E2430"/>
                </a:solidFill>
                <a:latin typeface="Calibri"/>
              </a:rPr>
              <a:t>Zero-Shot Baseline:</a:t>
            </a:r>
            <a:r>
              <a:rPr sz="1050" b="0" i="0">
                <a:solidFill>
                  <a:srgbClr val="1E2430"/>
                </a:solidFill>
                <a:latin typeface="Calibri"/>
              </a:rPr>
              <a:t> Uses a generic sequential policy—asks clarifying questions one by one and offers only Option A first, without a Verified Informed Slot Ledger.
• </a:t>
            </a:r>
            <a:r>
              <a:rPr sz="1050" b="1" i="0">
                <a:solidFill>
                  <a:srgbClr val="1E2430"/>
                </a:solidFill>
                <a:latin typeface="Calibri"/>
              </a:rPr>
              <a:t>Cluster-Adaptive Few-Shot (Routed via `Blocks` at M = 9, κ = .958):</a:t>
            </a:r>
            <a:r>
              <a:rPr sz="1050" b="0" i="0">
                <a:solidFill>
                  <a:srgbClr val="1E2430"/>
                </a:solidFill>
                <a:latin typeface="Calibri"/>
              </a:rPr>
              <a:t> Combines the </a:t>
            </a:r>
            <a:r>
              <a:rPr sz="1050" b="1" i="0">
                <a:solidFill>
                  <a:srgbClr val="1E2430"/>
                </a:solidFill>
                <a:latin typeface="Calibri"/>
              </a:rPr>
              <a:t>Verified Informed Slot Ledger</a:t>
            </a:r>
            <a:r>
              <a:rPr sz="1050" b="0" i="0">
                <a:solidFill>
                  <a:srgbClr val="1E2430"/>
                </a:solidFill>
                <a:latin typeface="Calibri"/>
              </a:rPr>
              <a:t> (forbidding re-asking any stated slot) with archetype-specific action policies: (1) immediate Option A confirmation for </a:t>
            </a:r>
            <a:r>
              <a:rPr sz="1050" b="0" i="1">
                <a:solidFill>
                  <a:srgbClr val="1E2430"/>
                </a:solidFill>
                <a:latin typeface="Calibri"/>
              </a:rPr>
              <a:t>Decisive Bookers</a:t>
            </a:r>
            <a:r>
              <a:rPr sz="1050" b="0" i="0">
                <a:solidFill>
                  <a:srgbClr val="1E2430"/>
                </a:solidFill>
                <a:latin typeface="Calibri"/>
              </a:rPr>
              <a:t>; (2) side-by-side Option A vs. Option B comparison table for </a:t>
            </a:r>
            <a:r>
              <a:rPr sz="1050" b="0" i="1">
                <a:solidFill>
                  <a:srgbClr val="1E2430"/>
                </a:solidFill>
                <a:latin typeface="Calibri"/>
              </a:rPr>
              <a:t>Open Explorers</a:t>
            </a:r>
            <a:r>
              <a:rPr sz="1050" b="0" i="0">
                <a:solidFill>
                  <a:srgbClr val="1E2430"/>
                </a:solidFill>
                <a:latin typeface="Calibri"/>
              </a:rPr>
              <a:t>; and (3) proactive single-turn trade-off resolution (explaining Option C's budget conflict while presenting Option A [4-star exact date] and Option D [5-star flexible date]) for </a:t>
            </a:r>
            <a:r>
              <a:rPr sz="1050" b="0" i="1">
                <a:solidFill>
                  <a:srgbClr val="1E2430"/>
                </a:solidFill>
                <a:latin typeface="Calibri"/>
              </a:rPr>
              <a:t>Rigid-Constraint Seekers</a:t>
            </a:r>
            <a:r>
              <a:rPr sz="1050" b="0" i="0">
                <a:solidFill>
                  <a:srgbClr val="1E2430"/>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(RQ4)</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32</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RQ4 (Part 2): Multi-Turn Turn Economy &amp; Redundant Elicitation Profiles (Figure 8)</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Rejecting H04 (p &lt; .001): Massive main effect of prompting (F = 664.43) AND significant Prompt × Archetype interaction (F = 10.89)</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ectangle 10"/>
          <p:cNvSpPr/>
          <p:nvPr/>
        </p:nvSpPr>
        <p:spPr>
          <a:xfrm>
            <a:off x="283464" y="2423756"/>
            <a:ext cx="6976872" cy="2714575"/>
          </a:xfrm>
          <a:prstGeom prst="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rq4_turn_economy_results.png"/>
          <p:cNvPicPr>
            <a:picLocks noChangeAspect="1"/>
          </p:cNvPicPr>
          <p:nvPr/>
        </p:nvPicPr>
        <p:blipFill>
          <a:blip r:embed="rId3"/>
          <a:stretch>
            <a:fillRect/>
          </a:stretch>
        </p:blipFill>
        <p:spPr>
          <a:xfrm>
            <a:off x="320040" y="2460332"/>
            <a:ext cx="6903720" cy="2641423"/>
          </a:xfrm>
          <a:prstGeom prst="rect">
            <a:avLst/>
          </a:prstGeom>
        </p:spPr>
      </p:pic>
      <p:sp>
        <p:nvSpPr>
          <p:cNvPr id="13" name="TextBox 12"/>
          <p:cNvSpPr txBox="1"/>
          <p:nvPr/>
        </p:nvSpPr>
        <p:spPr>
          <a:xfrm>
            <a:off x="320040" y="6190488"/>
            <a:ext cx="6903720" cy="256032"/>
          </a:xfrm>
          <a:prstGeom prst="rect">
            <a:avLst/>
          </a:prstGeom>
          <a:noFill/>
        </p:spPr>
        <p:txBody>
          <a:bodyPr wrap="square">
            <a:spAutoFit/>
          </a:bodyPr>
          <a:lstStyle/>
          <a:p>
            <a:pPr algn="ctr"/>
            <a:r>
              <a:rPr sz="950" b="0" i="1">
                <a:solidFill>
                  <a:srgbClr val="5A6577"/>
                </a:solidFill>
                <a:latin typeface="Calibri"/>
              </a:rPr>
              <a:t>Figure 8: Mean Turns to Goal Completion (Panel A) &amp; Redundant Elicitation Rate (Panel B) Across N = 180 Simulations</a:t>
            </a:r>
          </a:p>
        </p:txBody>
      </p:sp>
      <p:sp>
        <p:nvSpPr>
          <p:cNvPr id="14" name="Rounded Rectangle 13"/>
          <p:cNvSpPr/>
          <p:nvPr/>
        </p:nvSpPr>
        <p:spPr>
          <a:xfrm>
            <a:off x="7360920" y="1371600"/>
            <a:ext cx="4507992" cy="5074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60920" y="1371600"/>
            <a:ext cx="4507992"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Visual Walkthrough of Figure 8</a:t>
            </a:r>
          </a:p>
        </p:txBody>
      </p:sp>
      <p:sp>
        <p:nvSpPr>
          <p:cNvPr id="16" name="TextBox 15"/>
          <p:cNvSpPr txBox="1"/>
          <p:nvPr/>
        </p:nvSpPr>
        <p:spPr>
          <a:xfrm>
            <a:off x="7452360" y="1755648"/>
            <a:ext cx="4325112" cy="463600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Panel A (Turns to Goal Completion):</a:t>
            </a:r>
          </a:p>
          <a:p>
            <a:pPr>
              <a:spcAft>
                <a:spcPts val="400"/>
              </a:spcAft>
            </a:pPr>
            <a:r>
              <a:rPr sz="1000" b="0" i="0">
                <a:solidFill>
                  <a:srgbClr val="1E2430"/>
                </a:solidFill>
                <a:latin typeface="Calibri"/>
              </a:rPr>
              <a:t>    ▪ Under `Zero-Shot` (coral bars), </a:t>
            </a:r>
            <a:r>
              <a:rPr sz="1000" b="0" i="1">
                <a:solidFill>
                  <a:srgbClr val="1E2430"/>
                </a:solidFill>
                <a:latin typeface="Calibri"/>
              </a:rPr>
              <a:t>Rigid-Constraint Seekers</a:t>
            </a:r>
            <a:r>
              <a:rPr sz="1000" b="0" i="0">
                <a:solidFill>
                  <a:srgbClr val="1E2430"/>
                </a:solidFill>
                <a:latin typeface="Calibri"/>
              </a:rPr>
              <a:t> take the longest (</a:t>
            </a:r>
            <a:r>
              <a:rPr sz="1000" b="1" i="0">
                <a:solidFill>
                  <a:srgbClr val="1E2430"/>
                </a:solidFill>
                <a:latin typeface="Calibri"/>
              </a:rPr>
              <a:t>8.73 turns</a:t>
            </a:r>
            <a:r>
              <a:rPr sz="1000" b="0" i="0">
                <a:solidFill>
                  <a:srgbClr val="1E2430"/>
                </a:solidFill>
                <a:latin typeface="Calibri"/>
              </a:rPr>
              <a:t>) because they reject Option A when their 5-star request exceeds budget, triggering multi-turn pushback loops.</a:t>
            </a:r>
          </a:p>
          <a:p>
            <a:pPr>
              <a:spcAft>
                <a:spcPts val="400"/>
              </a:spcAft>
            </a:pPr>
            <a:r>
              <a:rPr sz="1000" b="0" i="0">
                <a:solidFill>
                  <a:srgbClr val="1E2430"/>
                </a:solidFill>
                <a:latin typeface="Calibri"/>
              </a:rPr>
              <a:t>    ▪ Under `Cluster-Adaptive Few-Shot` (teal bars), turns drop dramatically across all three personas—and the drop is </a:t>
            </a:r>
            <a:r>
              <a:rPr sz="1000" b="1" i="0">
                <a:solidFill>
                  <a:srgbClr val="1E2430"/>
                </a:solidFill>
                <a:latin typeface="Calibri"/>
              </a:rPr>
              <a:t>steepest for Rigid-Constraint Seekers (−3.73 turns, −42.7%, 8.73 → 5.00 turns)</a:t>
            </a:r>
            <a:r>
              <a:rPr sz="1000" b="0" i="0">
                <a:solidFill>
                  <a:srgbClr val="1E2430"/>
                </a:solidFill>
                <a:latin typeface="Calibri"/>
              </a:rPr>
              <a:t>!</a:t>
            </a:r>
          </a:p>
          <a:p>
            <a:pPr>
              <a:spcAft>
                <a:spcPts val="400"/>
              </a:spcAft>
            </a:pPr>
            <a:r>
              <a:rPr sz="1000" b="0" i="0">
                <a:solidFill>
                  <a:srgbClr val="1E2430"/>
                </a:solidFill>
                <a:latin typeface="Calibri"/>
              </a:rPr>
              <a:t>    ▪ This non-uniform compression produces the highly significant </a:t>
            </a:r>
            <a:r>
              <a:rPr sz="1000" b="1" i="0">
                <a:solidFill>
                  <a:srgbClr val="1E2430"/>
                </a:solidFill>
                <a:latin typeface="Calibri"/>
              </a:rPr>
              <a:t>Prompt × Archetype interaction: F(2, 174) = 10.89, p &lt; .001, ηp² = .111</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Panel B (Redundant Elicitation Rate — RER):</a:t>
            </a:r>
          </a:p>
          <a:p>
            <a:pPr>
              <a:spcAft>
                <a:spcPts val="400"/>
              </a:spcAft>
            </a:pPr>
            <a:r>
              <a:rPr sz="1000" b="0" i="0">
                <a:solidFill>
                  <a:srgbClr val="1E2430"/>
                </a:solidFill>
                <a:latin typeface="Calibri"/>
              </a:rPr>
              <a:t>    ▪ Under `Zero-Shot`, the bot re-asks already stated slots in </a:t>
            </a:r>
            <a:r>
              <a:rPr sz="1000" b="1" i="0">
                <a:solidFill>
                  <a:srgbClr val="1E2430"/>
                </a:solidFill>
                <a:latin typeface="Calibri"/>
              </a:rPr>
              <a:t>19.4%</a:t>
            </a:r>
            <a:r>
              <a:rPr sz="1000" b="0" i="0">
                <a:solidFill>
                  <a:srgbClr val="1E2430"/>
                </a:solidFill>
                <a:latin typeface="Calibri"/>
              </a:rPr>
              <a:t> of turns for Decisive Bookers (who state many slots up front), 6.1% for Open Explorers, and 7.2% for Rigid Seekers.</a:t>
            </a:r>
          </a:p>
          <a:p>
            <a:pPr>
              <a:spcAft>
                <a:spcPts val="400"/>
              </a:spcAft>
            </a:pPr>
            <a:r>
              <a:rPr sz="1000" b="0" i="0">
                <a:solidFill>
                  <a:srgbClr val="1E2430"/>
                </a:solidFill>
                <a:latin typeface="Calibri"/>
              </a:rPr>
              <a:t>    ▪ Under `Cluster-Adaptive Few-Shot` with the Verified Informed Slot Ledger, RER drops to </a:t>
            </a:r>
            <a:r>
              <a:rPr sz="1000" b="1" i="0">
                <a:solidFill>
                  <a:srgbClr val="1E2430"/>
                </a:solidFill>
                <a:latin typeface="Calibri"/>
              </a:rPr>
              <a:t>0.000 (0.0%) across all 90 dialogues</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63.02, </a:t>
            </a:r>
            <a:r>
              <a:rPr sz="1000" b="0" i="1">
                <a:solidFill>
                  <a:srgbClr val="1E2430"/>
                </a:solidFill>
                <a:latin typeface="Calibri"/>
              </a:rPr>
              <a:t>p</a:t>
            </a:r>
            <a:r>
              <a:rPr sz="1000" b="0" i="0">
                <a:solidFill>
                  <a:srgbClr val="1E2430"/>
                </a:solidFill>
                <a:latin typeface="Calibri"/>
              </a:rPr>
              <a:t> &lt; .001)!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(RQ4)</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33</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RQ4 (Part 3): Complete Table 16 Statistics, Simple Contrasts &amp; Robust Checks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100% concordance across OLS ANOVA, HC3 heteroscedasticity-robust F, Aligned Rank Transform (ART), Welch t, and Mann–Whitney U</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8" cy="3383280"/>
        </p:xfrm>
        <a:graphic>
          <a:graphicData uri="http://schemas.openxmlformats.org/drawingml/2006/table">
            <a:tbl>
              <a:tblPr firstRow="1" bandRow="1">
                <a:tableStyleId>{5C22544A-7EE6-4342-B048-85BDC9FD1C3A}</a:tableStyleId>
              </a:tblPr>
              <a:tblGrid>
                <a:gridCol w="2566415"/>
                <a:gridCol w="1374865"/>
                <a:gridCol w="1466523"/>
                <a:gridCol w="1466523"/>
                <a:gridCol w="1741496"/>
                <a:gridCol w="2933046"/>
              </a:tblGrid>
              <a:tr h="338328">
                <a:tc>
                  <a:txBody>
                    <a:bodyPr/>
                    <a:lstStyle/>
                    <a:p>
                      <a:pPr algn="l"/>
                      <a:r>
                        <a:rPr sz="1100" b="1" i="0">
                          <a:solidFill>
                            <a:srgbClr val="FFFFFF"/>
                          </a:solidFill>
                          <a:latin typeface="Calibri"/>
                        </a:rPr>
                        <a:t>Archetype × Prompting Cell or 2 × 3 ANOVA Effect</a:t>
                      </a:r>
                    </a:p>
                  </a:txBody>
                  <a:tcPr anchor="ctr" marL="54864" marR="54864" marT="27432" marB="27432">
                    <a:solidFill>
                      <a:srgbClr val="14325C"/>
                    </a:solidFill>
                  </a:tcPr>
                </a:tc>
                <a:tc>
                  <a:txBody>
                    <a:bodyPr/>
                    <a:lstStyle/>
                    <a:p>
                      <a:pPr algn="ctr"/>
                      <a:r>
                        <a:rPr sz="1100" b="1" i="0">
                          <a:solidFill>
                            <a:srgbClr val="FFFFFF"/>
                          </a:solidFill>
                          <a:latin typeface="Calibri"/>
                        </a:rPr>
                        <a:t>Total Turns M (SD)</a:t>
                      </a:r>
                    </a:p>
                  </a:txBody>
                  <a:tcPr anchor="ctr" marL="54864" marR="54864" marT="27432" marB="27432">
                    <a:solidFill>
                      <a:srgbClr val="14325C"/>
                    </a:solidFill>
                  </a:tcPr>
                </a:tc>
                <a:tc>
                  <a:txBody>
                    <a:bodyPr/>
                    <a:lstStyle/>
                    <a:p>
                      <a:pPr algn="ctr"/>
                      <a:r>
                        <a:rPr sz="1100" b="1" i="0">
                          <a:solidFill>
                            <a:srgbClr val="FFFFFF"/>
                          </a:solidFill>
                          <a:latin typeface="Calibri"/>
                        </a:rPr>
                        <a:t>Log Turns ln(TGC) M (SD)</a:t>
                      </a:r>
                    </a:p>
                  </a:txBody>
                  <a:tcPr anchor="ctr" marL="54864" marR="54864" marT="27432" marB="27432">
                    <a:solidFill>
                      <a:srgbClr val="14325C"/>
                    </a:solidFill>
                  </a:tcPr>
                </a:tc>
                <a:tc>
                  <a:txBody>
                    <a:bodyPr/>
                    <a:lstStyle/>
                    <a:p>
                      <a:pPr algn="ctr"/>
                      <a:r>
                        <a:rPr sz="1100" b="1" i="0">
                          <a:solidFill>
                            <a:srgbClr val="FFFFFF"/>
                          </a:solidFill>
                          <a:latin typeface="Calibri"/>
                        </a:rPr>
                        <a:t>Redundant Elicitation (RER)</a:t>
                      </a:r>
                    </a:p>
                  </a:txBody>
                  <a:tcPr anchor="ctr" marL="54864" marR="54864" marT="27432" marB="27432">
                    <a:solidFill>
                      <a:srgbClr val="14325C"/>
                    </a:solidFill>
                  </a:tcPr>
                </a:tc>
                <a:tc>
                  <a:txBody>
                    <a:bodyPr/>
                    <a:lstStyle/>
                    <a:p>
                      <a:pPr algn="ctr"/>
                      <a:r>
                        <a:rPr sz="1100" b="1" i="0">
                          <a:solidFill>
                            <a:srgbClr val="FFFFFF"/>
                          </a:solidFill>
                          <a:latin typeface="Calibri"/>
                        </a:rPr>
                        <a:t>Turn Reduction Δ (%)</a:t>
                      </a:r>
                    </a:p>
                  </a:txBody>
                  <a:tcPr anchor="ctr" marL="54864" marR="54864" marT="27432" marB="27432">
                    <a:solidFill>
                      <a:srgbClr val="14325C"/>
                    </a:solidFill>
                  </a:tcPr>
                </a:tc>
                <a:tc>
                  <a:txBody>
                    <a:bodyPr/>
                    <a:lstStyle/>
                    <a:p>
                      <a:pPr algn="l"/>
                      <a:r>
                        <a:rPr sz="1100" b="1" i="0">
                          <a:solidFill>
                            <a:srgbClr val="FFFFFF"/>
                          </a:solidFill>
                          <a:latin typeface="Calibri"/>
                        </a:rPr>
                        <a:t>Simple Contrast (Welch t / Mann–Whitney U / Cohen's d)</a:t>
                      </a:r>
                    </a:p>
                  </a:txBody>
                  <a:tcPr anchor="ctr" marL="54864" marR="54864" marT="27432" marB="27432">
                    <a:solidFill>
                      <a:srgbClr val="14325C"/>
                    </a:solidFill>
                  </a:tcPr>
                </a:tc>
              </a:tr>
              <a:tr h="338328">
                <a:tc>
                  <a:txBody>
                    <a:bodyPr/>
                    <a:lstStyle/>
                    <a:p>
                      <a:pPr algn="l"/>
                      <a:r>
                        <a:rPr sz="919" b="0" i="0">
                          <a:solidFill>
                            <a:srgbClr val="1E2430"/>
                          </a:solidFill>
                          <a:latin typeface="Calibri"/>
                        </a:rPr>
                        <a:t>Decisive Booker — Zero-Shot (n = 30)</a:t>
                      </a:r>
                    </a:p>
                  </a:txBody>
                  <a:tcPr anchor="ctr" marL="54864" marR="54864" marT="22860" marB="22860">
                    <a:solidFill>
                      <a:srgbClr val="FFFFFF"/>
                    </a:solidFill>
                  </a:tcPr>
                </a:tc>
                <a:tc>
                  <a:txBody>
                    <a:bodyPr/>
                    <a:lstStyle/>
                    <a:p>
                      <a:pPr algn="ctr"/>
                      <a:r>
                        <a:rPr sz="919" b="0" i="0">
                          <a:solidFill>
                            <a:srgbClr val="1E2430"/>
                          </a:solidFill>
                          <a:latin typeface="Calibri"/>
                        </a:rPr>
                        <a:t>7.60 (0.93)</a:t>
                      </a:r>
                    </a:p>
                  </a:txBody>
                  <a:tcPr anchor="ctr" marL="54864" marR="54864" marT="22860" marB="22860">
                    <a:solidFill>
                      <a:srgbClr val="FFFFFF"/>
                    </a:solidFill>
                  </a:tcPr>
                </a:tc>
                <a:tc>
                  <a:txBody>
                    <a:bodyPr/>
                    <a:lstStyle/>
                    <a:p>
                      <a:pPr algn="ctr"/>
                      <a:r>
                        <a:rPr sz="919" b="0" i="0">
                          <a:solidFill>
                            <a:srgbClr val="1E2430"/>
                          </a:solidFill>
                          <a:latin typeface="Calibri"/>
                        </a:rPr>
                        <a:t>2.021 (0.119)</a:t>
                      </a:r>
                    </a:p>
                  </a:txBody>
                  <a:tcPr anchor="ctr" marL="54864" marR="54864" marT="22860" marB="22860">
                    <a:solidFill>
                      <a:srgbClr val="FFFFFF"/>
                    </a:solidFill>
                  </a:tcPr>
                </a:tc>
                <a:tc>
                  <a:txBody>
                    <a:bodyPr/>
                    <a:lstStyle/>
                    <a:p>
                      <a:pPr algn="ctr"/>
                      <a:r>
                        <a:rPr sz="919" b="0" i="0">
                          <a:solidFill>
                            <a:srgbClr val="1E2430"/>
                          </a:solidFill>
                          <a:latin typeface="Calibri"/>
                        </a:rPr>
                        <a:t>.194 (.166)</a:t>
                      </a:r>
                    </a:p>
                  </a:txBody>
                  <a:tcPr anchor="ctr" marL="54864" marR="54864" marT="22860" marB="22860">
                    <a:solidFill>
                      <a:srgbClr val="FFFFFF"/>
                    </a:solidFill>
                  </a:tcPr>
                </a:tc>
                <a:tc>
                  <a:txBody>
                    <a:bodyPr/>
                    <a:lstStyle/>
                    <a:p>
                      <a:pPr algn="ctr"/>
                      <a:r>
                        <a:rPr sz="919" b="0" i="0">
                          <a:solidFill>
                            <a:srgbClr val="1E2430"/>
                          </a:solidFill>
                          <a:latin typeface="Calibri"/>
                        </a:rPr>
                        <a:t>—</a:t>
                      </a:r>
                    </a:p>
                  </a:txBody>
                  <a:tcPr anchor="ctr" marL="54864" marR="54864" marT="22860" marB="22860">
                    <a:solidFill>
                      <a:srgbClr val="FFFFFF"/>
                    </a:solidFill>
                  </a:tcPr>
                </a:tc>
                <a:tc>
                  <a:txBody>
                    <a:bodyPr/>
                    <a:lstStyle/>
                    <a:p>
                      <a:pPr algn="l"/>
                      <a:r>
                        <a:rPr sz="919" b="0" i="0">
                          <a:solidFill>
                            <a:srgbClr val="1E2430"/>
                          </a:solidFill>
                          <a:latin typeface="Calibri"/>
                        </a:rPr>
                        <a:t>—</a:t>
                      </a:r>
                    </a:p>
                  </a:txBody>
                  <a:tcPr anchor="ctr" marL="54864" marR="54864" marT="22860" marB="22860">
                    <a:solidFill>
                      <a:srgbClr val="FFFFFF"/>
                    </a:solidFill>
                  </a:tcPr>
                </a:tc>
              </a:tr>
              <a:tr h="338328">
                <a:tc>
                  <a:txBody>
                    <a:bodyPr/>
                    <a:lstStyle/>
                    <a:p>
                      <a:pPr algn="l"/>
                      <a:r>
                        <a:rPr sz="919" b="1" i="0">
                          <a:solidFill>
                            <a:srgbClr val="1E2430"/>
                          </a:solidFill>
                          <a:latin typeface="Calibri"/>
                        </a:rPr>
                        <a:t>Decisive Booker — Cluster-Adaptive (n = 30)</a:t>
                      </a:r>
                    </a:p>
                  </a:txBody>
                  <a:tcPr anchor="ctr" marL="54864" marR="54864" marT="22860" marB="22860">
                    <a:solidFill>
                      <a:srgbClr val="E1F3E8"/>
                    </a:solidFill>
                  </a:tcPr>
                </a:tc>
                <a:tc>
                  <a:txBody>
                    <a:bodyPr/>
                    <a:lstStyle/>
                    <a:p>
                      <a:pPr algn="ctr"/>
                      <a:r>
                        <a:rPr sz="919" b="1" i="0">
                          <a:solidFill>
                            <a:srgbClr val="1E2430"/>
                          </a:solidFill>
                          <a:latin typeface="Calibri"/>
                        </a:rPr>
                        <a:t>5.00 (0.00)</a:t>
                      </a:r>
                    </a:p>
                  </a:txBody>
                  <a:tcPr anchor="ctr" marL="54864" marR="54864" marT="22860" marB="22860">
                    <a:solidFill>
                      <a:srgbClr val="E1F3E8"/>
                    </a:solidFill>
                  </a:tcPr>
                </a:tc>
                <a:tc>
                  <a:txBody>
                    <a:bodyPr/>
                    <a:lstStyle/>
                    <a:p>
                      <a:pPr algn="ctr"/>
                      <a:r>
                        <a:rPr sz="919" b="1" i="0">
                          <a:solidFill>
                            <a:srgbClr val="1E2430"/>
                          </a:solidFill>
                          <a:latin typeface="Calibri"/>
                        </a:rPr>
                        <a:t>1.609 (0.000)</a:t>
                      </a:r>
                    </a:p>
                  </a:txBody>
                  <a:tcPr anchor="ctr" marL="54864" marR="54864" marT="22860" marB="22860">
                    <a:solidFill>
                      <a:srgbClr val="E1F3E8"/>
                    </a:solidFill>
                  </a:tcPr>
                </a:tc>
                <a:tc>
                  <a:txBody>
                    <a:bodyPr/>
                    <a:lstStyle/>
                    <a:p>
                      <a:pPr algn="ctr"/>
                      <a:r>
                        <a:rPr sz="919" b="1" i="0">
                          <a:solidFill>
                            <a:srgbClr val="1E2430"/>
                          </a:solidFill>
                          <a:latin typeface="Calibri"/>
                        </a:rPr>
                        <a:t>.000 (.000)</a:t>
                      </a:r>
                    </a:p>
                  </a:txBody>
                  <a:tcPr anchor="ctr" marL="54864" marR="54864" marT="22860" marB="22860">
                    <a:solidFill>
                      <a:srgbClr val="E1F3E8"/>
                    </a:solidFill>
                  </a:tcPr>
                </a:tc>
                <a:tc>
                  <a:txBody>
                    <a:bodyPr/>
                    <a:lstStyle/>
                    <a:p>
                      <a:pPr algn="ctr"/>
                      <a:r>
                        <a:rPr sz="919" b="1" i="0">
                          <a:solidFill>
                            <a:srgbClr val="1E2430"/>
                          </a:solidFill>
                          <a:latin typeface="Calibri"/>
                        </a:rPr>
                        <a:t>−2.60 turns (−34.2%)</a:t>
                      </a:r>
                    </a:p>
                  </a:txBody>
                  <a:tcPr anchor="ctr" marL="54864" marR="54864" marT="22860" marB="22860">
                    <a:solidFill>
                      <a:srgbClr val="E1F3E8"/>
                    </a:solidFill>
                  </a:tcPr>
                </a:tc>
                <a:tc>
                  <a:txBody>
                    <a:bodyPr/>
                    <a:lstStyle/>
                    <a:p>
                      <a:pPr algn="l"/>
                      <a:r>
                        <a:rPr sz="919" b="1" i="0">
                          <a:solidFill>
                            <a:srgbClr val="1E2430"/>
                          </a:solidFill>
                          <a:latin typeface="Calibri"/>
                        </a:rPr>
                        <a:t>t_log = −18.92 (p &lt; .001), U = 0.0 (p &lt; .001), d = −3.94</a:t>
                      </a:r>
                    </a:p>
                  </a:txBody>
                  <a:tcPr anchor="ctr" marL="54864" marR="54864" marT="22860" marB="22860">
                    <a:solidFill>
                      <a:srgbClr val="E1F3E8"/>
                    </a:solidFill>
                  </a:tcPr>
                </a:tc>
              </a:tr>
              <a:tr h="338328">
                <a:tc>
                  <a:txBody>
                    <a:bodyPr/>
                    <a:lstStyle/>
                    <a:p>
                      <a:pPr algn="l"/>
                      <a:r>
                        <a:rPr sz="919" b="0" i="0">
                          <a:solidFill>
                            <a:srgbClr val="1E2430"/>
                          </a:solidFill>
                          <a:latin typeface="Calibri"/>
                        </a:rPr>
                        <a:t>Open Explorer — Zero-Shot (n = 30)</a:t>
                      </a:r>
                    </a:p>
                  </a:txBody>
                  <a:tcPr anchor="ctr" marL="54864" marR="54864" marT="22860" marB="22860">
                    <a:solidFill>
                      <a:srgbClr val="FFFFFF"/>
                    </a:solidFill>
                  </a:tcPr>
                </a:tc>
                <a:tc>
                  <a:txBody>
                    <a:bodyPr/>
                    <a:lstStyle/>
                    <a:p>
                      <a:pPr algn="ctr"/>
                      <a:r>
                        <a:rPr sz="919" b="0" i="0">
                          <a:solidFill>
                            <a:srgbClr val="1E2430"/>
                          </a:solidFill>
                          <a:latin typeface="Calibri"/>
                        </a:rPr>
                        <a:t>7.47 (1.01)</a:t>
                      </a:r>
                    </a:p>
                  </a:txBody>
                  <a:tcPr anchor="ctr" marL="54864" marR="54864" marT="22860" marB="22860">
                    <a:solidFill>
                      <a:srgbClr val="FFFFFF"/>
                    </a:solidFill>
                  </a:tcPr>
                </a:tc>
                <a:tc>
                  <a:txBody>
                    <a:bodyPr/>
                    <a:lstStyle/>
                    <a:p>
                      <a:pPr algn="ctr"/>
                      <a:r>
                        <a:rPr sz="919" b="0" i="0">
                          <a:solidFill>
                            <a:srgbClr val="1E2430"/>
                          </a:solidFill>
                          <a:latin typeface="Calibri"/>
                        </a:rPr>
                        <a:t>2.002 (0.130)</a:t>
                      </a:r>
                    </a:p>
                  </a:txBody>
                  <a:tcPr anchor="ctr" marL="54864" marR="54864" marT="22860" marB="22860">
                    <a:solidFill>
                      <a:srgbClr val="FFFFFF"/>
                    </a:solidFill>
                  </a:tcPr>
                </a:tc>
                <a:tc>
                  <a:txBody>
                    <a:bodyPr/>
                    <a:lstStyle/>
                    <a:p>
                      <a:pPr algn="ctr"/>
                      <a:r>
                        <a:rPr sz="919" b="0" i="0">
                          <a:solidFill>
                            <a:srgbClr val="1E2430"/>
                          </a:solidFill>
                          <a:latin typeface="Calibri"/>
                        </a:rPr>
                        <a:t>.061 (.115)</a:t>
                      </a:r>
                    </a:p>
                  </a:txBody>
                  <a:tcPr anchor="ctr" marL="54864" marR="54864" marT="22860" marB="22860">
                    <a:solidFill>
                      <a:srgbClr val="FFFFFF"/>
                    </a:solidFill>
                  </a:tcPr>
                </a:tc>
                <a:tc>
                  <a:txBody>
                    <a:bodyPr/>
                    <a:lstStyle/>
                    <a:p>
                      <a:pPr algn="ctr"/>
                      <a:r>
                        <a:rPr sz="919" b="0" i="0">
                          <a:solidFill>
                            <a:srgbClr val="1E2430"/>
                          </a:solidFill>
                          <a:latin typeface="Calibri"/>
                        </a:rPr>
                        <a:t>—</a:t>
                      </a:r>
                    </a:p>
                  </a:txBody>
                  <a:tcPr anchor="ctr" marL="54864" marR="54864" marT="22860" marB="22860">
                    <a:solidFill>
                      <a:srgbClr val="FFFFFF"/>
                    </a:solidFill>
                  </a:tcPr>
                </a:tc>
                <a:tc>
                  <a:txBody>
                    <a:bodyPr/>
                    <a:lstStyle/>
                    <a:p>
                      <a:pPr algn="l"/>
                      <a:r>
                        <a:rPr sz="919" b="0" i="0">
                          <a:solidFill>
                            <a:srgbClr val="1E2430"/>
                          </a:solidFill>
                          <a:latin typeface="Calibri"/>
                        </a:rPr>
                        <a:t>—</a:t>
                      </a:r>
                    </a:p>
                  </a:txBody>
                  <a:tcPr anchor="ctr" marL="54864" marR="54864" marT="22860" marB="22860">
                    <a:solidFill>
                      <a:srgbClr val="FFFFFF"/>
                    </a:solidFill>
                  </a:tcPr>
                </a:tc>
              </a:tr>
              <a:tr h="338328">
                <a:tc>
                  <a:txBody>
                    <a:bodyPr/>
                    <a:lstStyle/>
                    <a:p>
                      <a:pPr algn="l"/>
                      <a:r>
                        <a:rPr sz="919" b="1" i="0">
                          <a:solidFill>
                            <a:srgbClr val="1E2430"/>
                          </a:solidFill>
                          <a:latin typeface="Calibri"/>
                        </a:rPr>
                        <a:t>Open Explorer — Cluster-Adaptive (n = 30)</a:t>
                      </a:r>
                    </a:p>
                  </a:txBody>
                  <a:tcPr anchor="ctr" marL="54864" marR="54864" marT="22860" marB="22860">
                    <a:solidFill>
                      <a:srgbClr val="E1F3E8"/>
                    </a:solidFill>
                  </a:tcPr>
                </a:tc>
                <a:tc>
                  <a:txBody>
                    <a:bodyPr/>
                    <a:lstStyle/>
                    <a:p>
                      <a:pPr algn="ctr"/>
                      <a:r>
                        <a:rPr sz="919" b="1" i="0">
                          <a:solidFill>
                            <a:srgbClr val="1E2430"/>
                          </a:solidFill>
                          <a:latin typeface="Calibri"/>
                        </a:rPr>
                        <a:t>5.27 (0.69)</a:t>
                      </a:r>
                    </a:p>
                  </a:txBody>
                  <a:tcPr anchor="ctr" marL="54864" marR="54864" marT="22860" marB="22860">
                    <a:solidFill>
                      <a:srgbClr val="E1F3E8"/>
                    </a:solidFill>
                  </a:tcPr>
                </a:tc>
                <a:tc>
                  <a:txBody>
                    <a:bodyPr/>
                    <a:lstStyle/>
                    <a:p>
                      <a:pPr algn="ctr"/>
                      <a:r>
                        <a:rPr sz="919" b="1" i="0">
                          <a:solidFill>
                            <a:srgbClr val="1E2430"/>
                          </a:solidFill>
                          <a:latin typeface="Calibri"/>
                        </a:rPr>
                        <a:t>1.654 (0.115)</a:t>
                      </a:r>
                    </a:p>
                  </a:txBody>
                  <a:tcPr anchor="ctr" marL="54864" marR="54864" marT="22860" marB="22860">
                    <a:solidFill>
                      <a:srgbClr val="E1F3E8"/>
                    </a:solidFill>
                  </a:tcPr>
                </a:tc>
                <a:tc>
                  <a:txBody>
                    <a:bodyPr/>
                    <a:lstStyle/>
                    <a:p>
                      <a:pPr algn="ctr"/>
                      <a:r>
                        <a:rPr sz="919" b="1" i="0">
                          <a:solidFill>
                            <a:srgbClr val="1E2430"/>
                          </a:solidFill>
                          <a:latin typeface="Calibri"/>
                        </a:rPr>
                        <a:t>.000 (.000)</a:t>
                      </a:r>
                    </a:p>
                  </a:txBody>
                  <a:tcPr anchor="ctr" marL="54864" marR="54864" marT="22860" marB="22860">
                    <a:solidFill>
                      <a:srgbClr val="E1F3E8"/>
                    </a:solidFill>
                  </a:tcPr>
                </a:tc>
                <a:tc>
                  <a:txBody>
                    <a:bodyPr/>
                    <a:lstStyle/>
                    <a:p>
                      <a:pPr algn="ctr"/>
                      <a:r>
                        <a:rPr sz="919" b="1" i="0">
                          <a:solidFill>
                            <a:srgbClr val="1E2430"/>
                          </a:solidFill>
                          <a:latin typeface="Calibri"/>
                        </a:rPr>
                        <a:t>−2.20 turns (−29.5%)</a:t>
                      </a:r>
                    </a:p>
                  </a:txBody>
                  <a:tcPr anchor="ctr" marL="54864" marR="54864" marT="22860" marB="22860">
                    <a:solidFill>
                      <a:srgbClr val="E1F3E8"/>
                    </a:solidFill>
                  </a:tcPr>
                </a:tc>
                <a:tc>
                  <a:txBody>
                    <a:bodyPr/>
                    <a:lstStyle/>
                    <a:p>
                      <a:pPr algn="l"/>
                      <a:r>
                        <a:rPr sz="919" b="1" i="0">
                          <a:solidFill>
                            <a:srgbClr val="1E2430"/>
                          </a:solidFill>
                          <a:latin typeface="Calibri"/>
                        </a:rPr>
                        <a:t>t_log = −10.97 (p &lt; .001), U = 40.5 (p &lt; .001), d = −2.55</a:t>
                      </a:r>
                    </a:p>
                  </a:txBody>
                  <a:tcPr anchor="ctr" marL="54864" marR="54864" marT="22860" marB="22860">
                    <a:solidFill>
                      <a:srgbClr val="E1F3E8"/>
                    </a:solidFill>
                  </a:tcPr>
                </a:tc>
              </a:tr>
              <a:tr h="338328">
                <a:tc>
                  <a:txBody>
                    <a:bodyPr/>
                    <a:lstStyle/>
                    <a:p>
                      <a:pPr algn="l"/>
                      <a:r>
                        <a:rPr sz="919" b="0" i="0">
                          <a:solidFill>
                            <a:srgbClr val="1E2430"/>
                          </a:solidFill>
                          <a:latin typeface="Calibri"/>
                        </a:rPr>
                        <a:t>Rigid-Constraint Seeker — Zero-Shot (n = 30)</a:t>
                      </a:r>
                    </a:p>
                  </a:txBody>
                  <a:tcPr anchor="ctr" marL="54864" marR="54864" marT="22860" marB="22860">
                    <a:solidFill>
                      <a:srgbClr val="FFFFFF"/>
                    </a:solidFill>
                  </a:tcPr>
                </a:tc>
                <a:tc>
                  <a:txBody>
                    <a:bodyPr/>
                    <a:lstStyle/>
                    <a:p>
                      <a:pPr algn="ctr"/>
                      <a:r>
                        <a:rPr sz="919" b="0" i="0">
                          <a:solidFill>
                            <a:srgbClr val="1E2430"/>
                          </a:solidFill>
                          <a:latin typeface="Calibri"/>
                        </a:rPr>
                        <a:t>8.73 (1.55)</a:t>
                      </a:r>
                    </a:p>
                  </a:txBody>
                  <a:tcPr anchor="ctr" marL="54864" marR="54864" marT="22860" marB="22860">
                    <a:solidFill>
                      <a:srgbClr val="FFFFFF"/>
                    </a:solidFill>
                  </a:tcPr>
                </a:tc>
                <a:tc>
                  <a:txBody>
                    <a:bodyPr/>
                    <a:lstStyle/>
                    <a:p>
                      <a:pPr algn="ctr"/>
                      <a:r>
                        <a:rPr sz="919" b="0" i="0">
                          <a:solidFill>
                            <a:srgbClr val="1E2430"/>
                          </a:solidFill>
                          <a:latin typeface="Calibri"/>
                        </a:rPr>
                        <a:t>2.152 (0.175)</a:t>
                      </a:r>
                    </a:p>
                  </a:txBody>
                  <a:tcPr anchor="ctr" marL="54864" marR="54864" marT="22860" marB="22860">
                    <a:solidFill>
                      <a:srgbClr val="FFFFFF"/>
                    </a:solidFill>
                  </a:tcPr>
                </a:tc>
                <a:tc>
                  <a:txBody>
                    <a:bodyPr/>
                    <a:lstStyle/>
                    <a:p>
                      <a:pPr algn="ctr"/>
                      <a:r>
                        <a:rPr sz="919" b="0" i="0">
                          <a:solidFill>
                            <a:srgbClr val="1E2430"/>
                          </a:solidFill>
                          <a:latin typeface="Calibri"/>
                        </a:rPr>
                        <a:t>.072 (.119)</a:t>
                      </a:r>
                    </a:p>
                  </a:txBody>
                  <a:tcPr anchor="ctr" marL="54864" marR="54864" marT="22860" marB="22860">
                    <a:solidFill>
                      <a:srgbClr val="FFFFFF"/>
                    </a:solidFill>
                  </a:tcPr>
                </a:tc>
                <a:tc>
                  <a:txBody>
                    <a:bodyPr/>
                    <a:lstStyle/>
                    <a:p>
                      <a:pPr algn="ctr"/>
                      <a:r>
                        <a:rPr sz="919" b="0" i="0">
                          <a:solidFill>
                            <a:srgbClr val="1E2430"/>
                          </a:solidFill>
                          <a:latin typeface="Calibri"/>
                        </a:rPr>
                        <a:t>—</a:t>
                      </a:r>
                    </a:p>
                  </a:txBody>
                  <a:tcPr anchor="ctr" marL="54864" marR="54864" marT="22860" marB="22860">
                    <a:solidFill>
                      <a:srgbClr val="FFFFFF"/>
                    </a:solidFill>
                  </a:tcPr>
                </a:tc>
                <a:tc>
                  <a:txBody>
                    <a:bodyPr/>
                    <a:lstStyle/>
                    <a:p>
                      <a:pPr algn="l"/>
                      <a:r>
                        <a:rPr sz="919" b="0" i="0">
                          <a:solidFill>
                            <a:srgbClr val="1E2430"/>
                          </a:solidFill>
                          <a:latin typeface="Calibri"/>
                        </a:rPr>
                        <a:t>—</a:t>
                      </a:r>
                    </a:p>
                  </a:txBody>
                  <a:tcPr anchor="ctr" marL="54864" marR="54864" marT="22860" marB="22860">
                    <a:solidFill>
                      <a:srgbClr val="FFFFFF"/>
                    </a:solidFill>
                  </a:tcPr>
                </a:tc>
              </a:tr>
              <a:tr h="338328">
                <a:tc>
                  <a:txBody>
                    <a:bodyPr/>
                    <a:lstStyle/>
                    <a:p>
                      <a:pPr algn="l"/>
                      <a:r>
                        <a:rPr sz="919" b="1" i="0">
                          <a:solidFill>
                            <a:srgbClr val="1E2430"/>
                          </a:solidFill>
                          <a:latin typeface="Calibri"/>
                        </a:rPr>
                        <a:t>Rigid-Constraint Seeker — Cluster-Adaptive (n = 30)</a:t>
                      </a:r>
                    </a:p>
                  </a:txBody>
                  <a:tcPr anchor="ctr" marL="54864" marR="54864" marT="22860" marB="22860">
                    <a:solidFill>
                      <a:srgbClr val="E1F3E8"/>
                    </a:solidFill>
                  </a:tcPr>
                </a:tc>
                <a:tc>
                  <a:txBody>
                    <a:bodyPr/>
                    <a:lstStyle/>
                    <a:p>
                      <a:pPr algn="ctr"/>
                      <a:r>
                        <a:rPr sz="919" b="1" i="0">
                          <a:solidFill>
                            <a:srgbClr val="1E2430"/>
                          </a:solidFill>
                          <a:latin typeface="Calibri"/>
                        </a:rPr>
                        <a:t>5.00 (0.00)</a:t>
                      </a:r>
                    </a:p>
                  </a:txBody>
                  <a:tcPr anchor="ctr" marL="54864" marR="54864" marT="22860" marB="22860">
                    <a:solidFill>
                      <a:srgbClr val="E1F3E8"/>
                    </a:solidFill>
                  </a:tcPr>
                </a:tc>
                <a:tc>
                  <a:txBody>
                    <a:bodyPr/>
                    <a:lstStyle/>
                    <a:p>
                      <a:pPr algn="ctr"/>
                      <a:r>
                        <a:rPr sz="919" b="1" i="0">
                          <a:solidFill>
                            <a:srgbClr val="1E2430"/>
                          </a:solidFill>
                          <a:latin typeface="Calibri"/>
                        </a:rPr>
                        <a:t>1.609 (0.000)</a:t>
                      </a:r>
                    </a:p>
                  </a:txBody>
                  <a:tcPr anchor="ctr" marL="54864" marR="54864" marT="22860" marB="22860">
                    <a:solidFill>
                      <a:srgbClr val="E1F3E8"/>
                    </a:solidFill>
                  </a:tcPr>
                </a:tc>
                <a:tc>
                  <a:txBody>
                    <a:bodyPr/>
                    <a:lstStyle/>
                    <a:p>
                      <a:pPr algn="ctr"/>
                      <a:r>
                        <a:rPr sz="919" b="1" i="0">
                          <a:solidFill>
                            <a:srgbClr val="1E2430"/>
                          </a:solidFill>
                          <a:latin typeface="Calibri"/>
                        </a:rPr>
                        <a:t>.000 (.000)</a:t>
                      </a:r>
                    </a:p>
                  </a:txBody>
                  <a:tcPr anchor="ctr" marL="54864" marR="54864" marT="22860" marB="22860">
                    <a:solidFill>
                      <a:srgbClr val="E1F3E8"/>
                    </a:solidFill>
                  </a:tcPr>
                </a:tc>
                <a:tc>
                  <a:txBody>
                    <a:bodyPr/>
                    <a:lstStyle/>
                    <a:p>
                      <a:pPr algn="ctr"/>
                      <a:r>
                        <a:rPr sz="919" b="1" i="0">
                          <a:solidFill>
                            <a:srgbClr val="1E2430"/>
                          </a:solidFill>
                          <a:latin typeface="Calibri"/>
                        </a:rPr>
                        <a:t>−3.73 turns (−42.7%)</a:t>
                      </a:r>
                    </a:p>
                  </a:txBody>
                  <a:tcPr anchor="ctr" marL="54864" marR="54864" marT="22860" marB="22860">
                    <a:solidFill>
                      <a:srgbClr val="E1F3E8"/>
                    </a:solidFill>
                  </a:tcPr>
                </a:tc>
                <a:tc>
                  <a:txBody>
                    <a:bodyPr/>
                    <a:lstStyle/>
                    <a:p>
                      <a:pPr algn="l"/>
                      <a:r>
                        <a:rPr sz="919" b="1" i="0">
                          <a:solidFill>
                            <a:srgbClr val="1E2430"/>
                          </a:solidFill>
                          <a:latin typeface="Calibri"/>
                        </a:rPr>
                        <a:t>t_log = −17.02 (p &lt; .001), U = 0.0 (p &lt; .001), d = −3.40</a:t>
                      </a:r>
                    </a:p>
                  </a:txBody>
                  <a:tcPr anchor="ctr" marL="54864" marR="54864" marT="22860" marB="22860">
                    <a:solidFill>
                      <a:srgbClr val="E1F3E8"/>
                    </a:solidFill>
                  </a:tcPr>
                </a:tc>
              </a:tr>
              <a:tr h="338328">
                <a:tc>
                  <a:txBody>
                    <a:bodyPr/>
                    <a:lstStyle/>
                    <a:p>
                      <a:pPr algn="l"/>
                      <a:r>
                        <a:rPr sz="919" b="1" i="0">
                          <a:solidFill>
                            <a:srgbClr val="1E2430"/>
                          </a:solidFill>
                          <a:latin typeface="Calibri"/>
                        </a:rPr>
                        <a:t>ANOVA Main Effect: Prompting (df = 1, 174)</a:t>
                      </a:r>
                    </a:p>
                  </a:txBody>
                  <a:tcPr anchor="ctr" marL="54864" marR="54864" marT="22860" marB="22860">
                    <a:solidFill>
                      <a:srgbClr val="E1F3E8"/>
                    </a:solidFill>
                  </a:tcPr>
                </a:tc>
                <a:tc>
                  <a:txBody>
                    <a:bodyPr/>
                    <a:lstStyle/>
                    <a:p>
                      <a:pPr algn="ctr"/>
                      <a:r>
                        <a:rPr sz="919" b="1" i="0">
                          <a:solidFill>
                            <a:srgbClr val="1E2430"/>
                          </a:solidFill>
                          <a:latin typeface="Calibri"/>
                        </a:rPr>
                        <a:t>F = 457.74 (&lt; .001), ηp² = .725</a:t>
                      </a:r>
                    </a:p>
                  </a:txBody>
                  <a:tcPr anchor="ctr" marL="54864" marR="54864" marT="22860" marB="22860">
                    <a:solidFill>
                      <a:srgbClr val="E1F3E8"/>
                    </a:solidFill>
                  </a:tcPr>
                </a:tc>
                <a:tc>
                  <a:txBody>
                    <a:bodyPr/>
                    <a:lstStyle/>
                    <a:p>
                      <a:pPr algn="ctr"/>
                      <a:r>
                        <a:rPr sz="919" b="1" i="0">
                          <a:solidFill>
                            <a:srgbClr val="1E2430"/>
                          </a:solidFill>
                          <a:latin typeface="Calibri"/>
                        </a:rPr>
                        <a:t>F = 664.43 (&lt; .001), ηp² = .793</a:t>
                      </a:r>
                    </a:p>
                  </a:txBody>
                  <a:tcPr anchor="ctr" marL="54864" marR="54864" marT="22860" marB="22860">
                    <a:solidFill>
                      <a:srgbClr val="E1F3E8"/>
                    </a:solidFill>
                  </a:tcPr>
                </a:tc>
                <a:tc>
                  <a:txBody>
                    <a:bodyPr/>
                    <a:lstStyle/>
                    <a:p>
                      <a:pPr algn="ctr"/>
                      <a:r>
                        <a:rPr sz="919" b="1" i="0">
                          <a:solidFill>
                            <a:srgbClr val="1E2430"/>
                          </a:solidFill>
                          <a:latin typeface="Calibri"/>
                        </a:rPr>
                        <a:t>F = 63.02 (&lt; .001), ηp² = .266</a:t>
                      </a:r>
                    </a:p>
                  </a:txBody>
                  <a:tcPr anchor="ctr" marL="54864" marR="54864" marT="22860" marB="22860">
                    <a:solidFill>
                      <a:srgbClr val="E1F3E8"/>
                    </a:solidFill>
                  </a:tcPr>
                </a:tc>
                <a:tc>
                  <a:txBody>
                    <a:bodyPr/>
                    <a:lstStyle/>
                    <a:p>
                      <a:pPr algn="ctr"/>
                      <a:r>
                        <a:rPr sz="919" b="1" i="0">
                          <a:solidFill>
                            <a:srgbClr val="1E2430"/>
                          </a:solidFill>
                          <a:latin typeface="Calibri"/>
                        </a:rPr>
                        <a:t>HC3 F_log = 681.53 (&lt; .001)</a:t>
                      </a:r>
                    </a:p>
                  </a:txBody>
                  <a:tcPr anchor="ctr" marL="54864" marR="54864" marT="22860" marB="22860">
                    <a:solidFill>
                      <a:srgbClr val="E1F3E8"/>
                    </a:solidFill>
                  </a:tcPr>
                </a:tc>
                <a:tc>
                  <a:txBody>
                    <a:bodyPr/>
                    <a:lstStyle/>
                    <a:p>
                      <a:pPr algn="l"/>
                      <a:r>
                        <a:rPr sz="919" b="1" i="0">
                          <a:solidFill>
                            <a:srgbClr val="1E2430"/>
                          </a:solidFill>
                          <a:latin typeface="Calibri"/>
                        </a:rPr>
                        <a:t>ART F_log = 224.22 (&lt; .001)</a:t>
                      </a:r>
                    </a:p>
                  </a:txBody>
                  <a:tcPr anchor="ctr" marL="54864" marR="54864" marT="22860" marB="22860">
                    <a:solidFill>
                      <a:srgbClr val="E1F3E8"/>
                    </a:solidFill>
                  </a:tcPr>
                </a:tc>
              </a:tr>
              <a:tr h="338328">
                <a:tc>
                  <a:txBody>
                    <a:bodyPr/>
                    <a:lstStyle/>
                    <a:p>
                      <a:pPr algn="l"/>
                      <a:r>
                        <a:rPr sz="919" b="0" i="0">
                          <a:solidFill>
                            <a:srgbClr val="1E2430"/>
                          </a:solidFill>
                          <a:latin typeface="Calibri"/>
                        </a:rPr>
                        <a:t>ANOVA Main Effect: Archetype (df = 2, 174)</a:t>
                      </a:r>
                    </a:p>
                  </a:txBody>
                  <a:tcPr anchor="ctr" marL="54864" marR="54864" marT="22860" marB="22860">
                    <a:solidFill>
                      <a:srgbClr val="F2F6FC"/>
                    </a:solidFill>
                  </a:tcPr>
                </a:tc>
                <a:tc>
                  <a:txBody>
                    <a:bodyPr/>
                    <a:lstStyle/>
                    <a:p>
                      <a:pPr algn="ctr"/>
                      <a:r>
                        <a:rPr sz="919" b="0" i="0">
                          <a:solidFill>
                            <a:srgbClr val="1E2430"/>
                          </a:solidFill>
                          <a:latin typeface="Calibri"/>
                        </a:rPr>
                        <a:t>F = 7.77 (&lt; .001), ηp² = .082</a:t>
                      </a:r>
                    </a:p>
                  </a:txBody>
                  <a:tcPr anchor="ctr" marL="54864" marR="54864" marT="22860" marB="22860">
                    <a:solidFill>
                      <a:srgbClr val="F2F6FC"/>
                    </a:solidFill>
                  </a:tcPr>
                </a:tc>
                <a:tc>
                  <a:txBody>
                    <a:bodyPr/>
                    <a:lstStyle/>
                    <a:p>
                      <a:pPr algn="ctr"/>
                      <a:r>
                        <a:rPr sz="919" b="0" i="0">
                          <a:solidFill>
                            <a:srgbClr val="1E2430"/>
                          </a:solidFill>
                          <a:latin typeface="Calibri"/>
                        </a:rPr>
                        <a:t>F = 5.55 (.005), ηp² = .060</a:t>
                      </a:r>
                    </a:p>
                  </a:txBody>
                  <a:tcPr anchor="ctr" marL="54864" marR="54864" marT="22860" marB="22860">
                    <a:solidFill>
                      <a:srgbClr val="F2F6FC"/>
                    </a:solidFill>
                  </a:tcPr>
                </a:tc>
                <a:tc>
                  <a:txBody>
                    <a:bodyPr/>
                    <a:lstStyle/>
                    <a:p>
                      <a:pPr algn="ctr"/>
                      <a:r>
                        <a:rPr sz="919" b="0" i="0">
                          <a:solidFill>
                            <a:srgbClr val="1E2430"/>
                          </a:solidFill>
                          <a:latin typeface="Calibri"/>
                        </a:rPr>
                        <a:t>F = 7.57 (&lt; .001), ηp² = .080</a:t>
                      </a:r>
                    </a:p>
                  </a:txBody>
                  <a:tcPr anchor="ctr" marL="54864" marR="54864" marT="22860" marB="22860">
                    <a:solidFill>
                      <a:srgbClr val="F2F6FC"/>
                    </a:solidFill>
                  </a:tcPr>
                </a:tc>
                <a:tc>
                  <a:txBody>
                    <a:bodyPr/>
                    <a:lstStyle/>
                    <a:p>
                      <a:pPr algn="ctr"/>
                      <a:r>
                        <a:rPr sz="919" b="0" i="0">
                          <a:solidFill>
                            <a:srgbClr val="1E2430"/>
                          </a:solidFill>
                          <a:latin typeface="Calibri"/>
                        </a:rPr>
                        <a:t>HC3 F_log = 5.86 (.003)</a:t>
                      </a:r>
                    </a:p>
                  </a:txBody>
                  <a:tcPr anchor="ctr" marL="54864" marR="54864" marT="22860" marB="22860">
                    <a:solidFill>
                      <a:srgbClr val="F2F6FC"/>
                    </a:solidFill>
                  </a:tcPr>
                </a:tc>
                <a:tc>
                  <a:txBody>
                    <a:bodyPr/>
                    <a:lstStyle/>
                    <a:p>
                      <a:pPr algn="l"/>
                      <a:r>
                        <a:rPr sz="919" b="0" i="0">
                          <a:solidFill>
                            <a:srgbClr val="1E2430"/>
                          </a:solidFill>
                          <a:latin typeface="Calibri"/>
                        </a:rPr>
                        <a:t>ART F_log = 207.29 (&lt; .001)</a:t>
                      </a:r>
                    </a:p>
                  </a:txBody>
                  <a:tcPr anchor="ctr" marL="54864" marR="54864" marT="22860" marB="22860">
                    <a:solidFill>
                      <a:srgbClr val="F2F6FC"/>
                    </a:solidFill>
                  </a:tcPr>
                </a:tc>
              </a:tr>
              <a:tr h="338328">
                <a:tc>
                  <a:txBody>
                    <a:bodyPr/>
                    <a:lstStyle/>
                    <a:p>
                      <a:pPr algn="l"/>
                      <a:r>
                        <a:rPr sz="919" b="1" i="0">
                          <a:solidFill>
                            <a:srgbClr val="1E2430"/>
                          </a:solidFill>
                          <a:latin typeface="Calibri"/>
                        </a:rPr>
                        <a:t>ANOVA Interaction: Prompting × Archetype (df = 2, 174)</a:t>
                      </a:r>
                    </a:p>
                  </a:txBody>
                  <a:tcPr anchor="ctr" marL="54864" marR="54864" marT="22860" marB="22860">
                    <a:solidFill>
                      <a:srgbClr val="E1F3E8"/>
                    </a:solidFill>
                  </a:tcPr>
                </a:tc>
                <a:tc>
                  <a:txBody>
                    <a:bodyPr/>
                    <a:lstStyle/>
                    <a:p>
                      <a:pPr algn="ctr"/>
                      <a:r>
                        <a:rPr sz="919" b="1" i="0">
                          <a:solidFill>
                            <a:srgbClr val="1E2430"/>
                          </a:solidFill>
                          <a:latin typeface="Calibri"/>
                        </a:rPr>
                        <a:t>F = 14.37 (&lt; .001), ηp² = .142</a:t>
                      </a:r>
                    </a:p>
                  </a:txBody>
                  <a:tcPr anchor="ctr" marL="54864" marR="54864" marT="22860" marB="22860">
                    <a:solidFill>
                      <a:srgbClr val="E1F3E8"/>
                    </a:solidFill>
                  </a:tcPr>
                </a:tc>
                <a:tc>
                  <a:txBody>
                    <a:bodyPr/>
                    <a:lstStyle/>
                    <a:p>
                      <a:pPr algn="ctr"/>
                      <a:r>
                        <a:rPr sz="919" b="1" i="0">
                          <a:solidFill>
                            <a:srgbClr val="1E2430"/>
                          </a:solidFill>
                          <a:latin typeface="Calibri"/>
                        </a:rPr>
                        <a:t>F = 10.89 (&lt; .001), ηp² = .111</a:t>
                      </a:r>
                    </a:p>
                  </a:txBody>
                  <a:tcPr anchor="ctr" marL="54864" marR="54864" marT="22860" marB="22860">
                    <a:solidFill>
                      <a:srgbClr val="E1F3E8"/>
                    </a:solidFill>
                  </a:tcPr>
                </a:tc>
                <a:tc>
                  <a:txBody>
                    <a:bodyPr/>
                    <a:lstStyle/>
                    <a:p>
                      <a:pPr algn="ctr"/>
                      <a:r>
                        <a:rPr sz="919" b="1" i="0">
                          <a:solidFill>
                            <a:srgbClr val="1E2430"/>
                          </a:solidFill>
                          <a:latin typeface="Calibri"/>
                        </a:rPr>
                        <a:t>F = 9.70 (&lt; .001), ηp² = .100</a:t>
                      </a:r>
                    </a:p>
                  </a:txBody>
                  <a:tcPr anchor="ctr" marL="54864" marR="54864" marT="22860" marB="22860">
                    <a:solidFill>
                      <a:srgbClr val="E1F3E8"/>
                    </a:solidFill>
                  </a:tcPr>
                </a:tc>
                <a:tc>
                  <a:txBody>
                    <a:bodyPr/>
                    <a:lstStyle/>
                    <a:p>
                      <a:pPr algn="ctr"/>
                      <a:r>
                        <a:rPr sz="919" b="1" i="0">
                          <a:solidFill>
                            <a:srgbClr val="1E2430"/>
                          </a:solidFill>
                          <a:latin typeface="Calibri"/>
                        </a:rPr>
                        <a:t>HC3 F_log = 8.58 (&lt; .001)</a:t>
                      </a:r>
                    </a:p>
                  </a:txBody>
                  <a:tcPr anchor="ctr" marL="54864" marR="54864" marT="22860" marB="22860">
                    <a:solidFill>
                      <a:srgbClr val="E1F3E8"/>
                    </a:solidFill>
                  </a:tcPr>
                </a:tc>
                <a:tc>
                  <a:txBody>
                    <a:bodyPr/>
                    <a:lstStyle/>
                    <a:p>
                      <a:pPr algn="l"/>
                      <a:r>
                        <a:rPr sz="919" b="1" i="0">
                          <a:solidFill>
                            <a:srgbClr val="1E2430"/>
                          </a:solidFill>
                          <a:latin typeface="Calibri"/>
                        </a:rPr>
                        <a:t>ART F_log = 209.46 (&lt; .001)</a:t>
                      </a:r>
                    </a:p>
                  </a:txBody>
                  <a:tcPr anchor="ctr" marL="54864" marR="54864" marT="22860" marB="22860">
                    <a:solidFill>
                      <a:srgbClr val="E1F3E8"/>
                    </a:solidFill>
                  </a:tcPr>
                </a:tc>
              </a:tr>
            </a:tbl>
          </a:graphicData>
        </a:graphic>
      </p:graphicFrame>
      <p:sp>
        <p:nvSpPr>
          <p:cNvPr id="12" name="Rounded Rectangle 11"/>
          <p:cNvSpPr/>
          <p:nvPr/>
        </p:nvSpPr>
        <p:spPr>
          <a:xfrm>
            <a:off x="320040" y="4892040"/>
            <a:ext cx="11548872" cy="1554480"/>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Comparison with Human Wizard Baseline in Microsoft Frames (Appendix Table E5 &amp; Figure E3):</a:t>
            </a:r>
            <a:r>
              <a:rPr sz="1100" b="0" i="0">
                <a:solidFill>
                  <a:srgbClr val="1E2430"/>
                </a:solidFill>
                <a:latin typeface="Calibri"/>
              </a:rPr>
              <a:t>
In the historical human corpus, human travel agents averaged </a:t>
            </a:r>
            <a:r>
              <a:rPr sz="1100" b="1" i="0">
                <a:solidFill>
                  <a:srgbClr val="1E2430"/>
                </a:solidFill>
                <a:latin typeface="Calibri"/>
              </a:rPr>
              <a:t>14.96 turns (RER = .052)</a:t>
            </a:r>
            <a:r>
              <a:rPr sz="1100" b="0" i="0">
                <a:solidFill>
                  <a:srgbClr val="1E2430"/>
                </a:solidFill>
                <a:latin typeface="Calibri"/>
              </a:rPr>
              <a:t> for Decisive Bookers, </a:t>
            </a:r>
            <a:r>
              <a:rPr sz="1100" b="1" i="0">
                <a:solidFill>
                  <a:srgbClr val="1E2430"/>
                </a:solidFill>
                <a:latin typeface="Calibri"/>
              </a:rPr>
              <a:t>17.99 turns (RER = .061)</a:t>
            </a:r>
            <a:r>
              <a:rPr sz="1100" b="0" i="0">
                <a:solidFill>
                  <a:srgbClr val="1E2430"/>
                </a:solidFill>
                <a:latin typeface="Calibri"/>
              </a:rPr>
              <a:t> for Open Explorers, and </a:t>
            </a:r>
            <a:r>
              <a:rPr sz="1100" b="1" i="0">
                <a:solidFill>
                  <a:srgbClr val="1E2430"/>
                </a:solidFill>
                <a:latin typeface="Calibri"/>
              </a:rPr>
              <a:t>10.64 turns (RER = .053, with 44.5% failing to find an option)</a:t>
            </a:r>
            <a:r>
              <a:rPr sz="1100" b="0" i="0">
                <a:solidFill>
                  <a:srgbClr val="1E2430"/>
                </a:solidFill>
                <a:latin typeface="Calibri"/>
              </a:rPr>
              <a:t> for Rigid-Constraint Seekers. Our neuro-symbolic `Cluster-Adaptive Few-Shot` pipeline resolves all three archetypes in </a:t>
            </a:r>
            <a:r>
              <a:rPr sz="1100" b="1" i="0">
                <a:solidFill>
                  <a:srgbClr val="1E2430"/>
                </a:solidFill>
                <a:latin typeface="Calibri"/>
              </a:rPr>
              <a:t>5.00 to 5.27 turns with 100% goal completion and 0.000 RER</a:t>
            </a:r>
            <a:r>
              <a:rPr sz="1100" b="0" i="0">
                <a:solidFill>
                  <a:srgbClr val="1E2430"/>
                </a:solidFill>
                <a:latin typeface="Calibri"/>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6: DEEP-DIVE EMPIRICAL RESULTS (SYNTHESIS)</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34</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Consolidated Hypothesis Testing Scorecard (Table 11) &amp; Enterprise ROI</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All four null hypotheses (H01–H04) are rejected at p &lt; .001 with large effect sizes and substantial operational savings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69" cy="3246120"/>
        </p:xfrm>
        <a:graphic>
          <a:graphicData uri="http://schemas.openxmlformats.org/drawingml/2006/table">
            <a:tbl>
              <a:tblPr firstRow="1" bandRow="1">
                <a:tableStyleId>{5C22544A-7EE6-4342-B048-85BDC9FD1C3A}</a:tableStyleId>
              </a:tblPr>
              <a:tblGrid>
                <a:gridCol w="1833154"/>
                <a:gridCol w="1466523"/>
                <a:gridCol w="2841389"/>
                <a:gridCol w="2291442"/>
                <a:gridCol w="2016469"/>
                <a:gridCol w="1099892"/>
              </a:tblGrid>
              <a:tr h="649224">
                <a:tc>
                  <a:txBody>
                    <a:bodyPr/>
                    <a:lstStyle/>
                    <a:p>
                      <a:pPr algn="l"/>
                      <a:r>
                        <a:rPr sz="1100" b="1" i="0">
                          <a:solidFill>
                            <a:srgbClr val="FFFFFF"/>
                          </a:solidFill>
                          <a:latin typeface="Calibri"/>
                        </a:rPr>
                        <a:t>Research Question &amp; Outcome</a:t>
                      </a:r>
                    </a:p>
                  </a:txBody>
                  <a:tcPr anchor="ctr" marL="54864" marR="54864" marT="27432" marB="27432">
                    <a:solidFill>
                      <a:srgbClr val="14325C"/>
                    </a:solidFill>
                  </a:tcPr>
                </a:tc>
                <a:tc>
                  <a:txBody>
                    <a:bodyPr/>
                    <a:lstStyle/>
                    <a:p>
                      <a:pPr algn="l"/>
                      <a:r>
                        <a:rPr sz="1100" b="1" i="0">
                          <a:solidFill>
                            <a:srgbClr val="FFFFFF"/>
                          </a:solidFill>
                          <a:latin typeface="Calibri"/>
                        </a:rPr>
                        <a:t>Sample &amp; Design</a:t>
                      </a:r>
                    </a:p>
                  </a:txBody>
                  <a:tcPr anchor="ctr" marL="54864" marR="54864" marT="27432" marB="27432">
                    <a:solidFill>
                      <a:srgbClr val="14325C"/>
                    </a:solidFill>
                  </a:tcPr>
                </a:tc>
                <a:tc>
                  <a:txBody>
                    <a:bodyPr/>
                    <a:lstStyle/>
                    <a:p>
                      <a:pPr algn="l"/>
                      <a:r>
                        <a:rPr sz="1100" b="1" i="0">
                          <a:solidFill>
                            <a:srgbClr val="FFFFFF"/>
                          </a:solidFill>
                          <a:latin typeface="Calibri"/>
                        </a:rPr>
                        <a:t>Baseline vs. Proposed Performance</a:t>
                      </a:r>
                    </a:p>
                  </a:txBody>
                  <a:tcPr anchor="ctr" marL="54864" marR="54864" marT="27432" marB="27432">
                    <a:solidFill>
                      <a:srgbClr val="14325C"/>
                    </a:solidFill>
                  </a:tcPr>
                </a:tc>
                <a:tc>
                  <a:txBody>
                    <a:bodyPr/>
                    <a:lstStyle/>
                    <a:p>
                      <a:pPr algn="l"/>
                      <a:r>
                        <a:rPr sz="1100" b="1" i="0">
                          <a:solidFill>
                            <a:srgbClr val="FFFFFF"/>
                          </a:solidFill>
                          <a:latin typeface="Calibri"/>
                        </a:rPr>
                        <a:t>Primary Parametric Test &amp; Effect Size</a:t>
                      </a:r>
                    </a:p>
                  </a:txBody>
                  <a:tcPr anchor="ctr" marL="54864" marR="54864" marT="27432" marB="27432">
                    <a:solidFill>
                      <a:srgbClr val="14325C"/>
                    </a:solidFill>
                  </a:tcPr>
                </a:tc>
                <a:tc>
                  <a:txBody>
                    <a:bodyPr/>
                    <a:lstStyle/>
                    <a:p>
                      <a:pPr algn="l"/>
                      <a:r>
                        <a:rPr sz="1100" b="1" i="0">
                          <a:solidFill>
                            <a:srgbClr val="FFFFFF"/>
                          </a:solidFill>
                          <a:latin typeface="Calibri"/>
                        </a:rPr>
                        <a:t>Robust / Non-Parametric Check</a:t>
                      </a:r>
                    </a:p>
                  </a:txBody>
                  <a:tcPr anchor="ctr" marL="54864" marR="54864" marT="27432" marB="27432">
                    <a:solidFill>
                      <a:srgbClr val="14325C"/>
                    </a:solidFill>
                  </a:tcPr>
                </a:tc>
                <a:tc>
                  <a:txBody>
                    <a:bodyPr/>
                    <a:lstStyle/>
                    <a:p>
                      <a:pPr algn="ctr"/>
                      <a:r>
                        <a:rPr sz="1100" b="1" i="0">
                          <a:solidFill>
                            <a:srgbClr val="FFFFFF"/>
                          </a:solidFill>
                          <a:latin typeface="Calibri"/>
                        </a:rPr>
                        <a:t>Decision</a:t>
                      </a:r>
                    </a:p>
                  </a:txBody>
                  <a:tcPr anchor="ctr" marL="54864" marR="54864" marT="27432" marB="27432">
                    <a:solidFill>
                      <a:srgbClr val="14325C"/>
                    </a:solidFill>
                  </a:tcPr>
                </a:tc>
              </a:tr>
              <a:tr h="649224">
                <a:tc>
                  <a:txBody>
                    <a:bodyPr/>
                    <a:lstStyle/>
                    <a:p>
                      <a:pPr algn="l"/>
                      <a:r>
                        <a:rPr sz="950" b="1" i="0">
                          <a:solidFill>
                            <a:srgbClr val="1E2430"/>
                          </a:solidFill>
                          <a:latin typeface="Calibri"/>
                        </a:rPr>
                        <a:t>RQ1: Algorithm Separation &amp;
Refined Prefix Routing</a:t>
                      </a:r>
                    </a:p>
                  </a:txBody>
                  <a:tcPr anchor="ctr" marL="54864" marR="54864" marT="22860" marB="22860">
                    <a:solidFill>
                      <a:srgbClr val="E1F3E8"/>
                    </a:solidFill>
                  </a:tcPr>
                </a:tc>
                <a:tc>
                  <a:txBody>
                    <a:bodyPr/>
                    <a:lstStyle/>
                    <a:p>
                      <a:pPr algn="l"/>
                      <a:r>
                        <a:rPr sz="950" b="1" i="0">
                          <a:solidFill>
                            <a:srgbClr val="1E2430"/>
                          </a:solidFill>
                          <a:latin typeface="Calibri"/>
                        </a:rPr>
                        <a:t>N = 159 runs
(D_gold=933, D_test=401)</a:t>
                      </a:r>
                    </a:p>
                  </a:txBody>
                  <a:tcPr anchor="ctr" marL="54864" marR="54864" marT="22860" marB="22860">
                    <a:solidFill>
                      <a:srgbClr val="E1F3E8"/>
                    </a:solidFill>
                  </a:tcPr>
                </a:tc>
                <a:tc>
                  <a:txBody>
                    <a:bodyPr/>
                    <a:lstStyle/>
                    <a:p>
                      <a:pPr algn="l"/>
                      <a:r>
                        <a:rPr sz="950" b="1" i="0">
                          <a:solidFill>
                            <a:srgbClr val="1E2430"/>
                          </a:solidFill>
                          <a:latin typeface="Calibri"/>
                        </a:rPr>
                        <a:t>Perm. Sil = −.001 vs. KM = .099, HDB = .170;
Refined ARI = .76; Routing κ = .535 (M=5) to .958 (M=9)</a:t>
                      </a:r>
                    </a:p>
                  </a:txBody>
                  <a:tcPr anchor="ctr" marL="54864" marR="54864" marT="22860" marB="22860">
                    <a:solidFill>
                      <a:srgbClr val="E1F3E8"/>
                    </a:solidFill>
                  </a:tcPr>
                </a:tc>
                <a:tc>
                  <a:txBody>
                    <a:bodyPr/>
                    <a:lstStyle/>
                    <a:p>
                      <a:pPr algn="l"/>
                      <a:r>
                        <a:rPr sz="950" b="1" i="0">
                          <a:solidFill>
                            <a:srgbClr val="1E2430"/>
                          </a:solidFill>
                          <a:latin typeface="Calibri"/>
                        </a:rPr>
                        <a:t>F(2, 156) = 91.33, p &lt; .001, η² = .54
(Gemini 3,072-d: F = 813.09, η² = .91)</a:t>
                      </a:r>
                    </a:p>
                  </a:txBody>
                  <a:tcPr anchor="ctr" marL="54864" marR="54864" marT="22860" marB="22860">
                    <a:solidFill>
                      <a:srgbClr val="E1F3E8"/>
                    </a:solidFill>
                  </a:tcPr>
                </a:tc>
                <a:tc>
                  <a:txBody>
                    <a:bodyPr/>
                    <a:lstStyle/>
                    <a:p>
                      <a:pPr algn="l"/>
                      <a:r>
                        <a:rPr sz="950" b="1" i="0">
                          <a:solidFill>
                            <a:srgbClr val="1E2430"/>
                          </a:solidFill>
                          <a:latin typeface="Calibri"/>
                        </a:rPr>
                        <a:t>Welch F = 113.84, p &lt; .001;
Kruskal H(2) = 123.70, p &lt; .001</a:t>
                      </a:r>
                    </a:p>
                  </a:txBody>
                  <a:tcPr anchor="ctr" marL="54864" marR="54864" marT="22860" marB="22860">
                    <a:solidFill>
                      <a:srgbClr val="E1F3E8"/>
                    </a:solidFill>
                  </a:tcPr>
                </a:tc>
                <a:tc>
                  <a:txBody>
                    <a:bodyPr/>
                    <a:lstStyle/>
                    <a:p>
                      <a:pPr algn="ctr"/>
                      <a:r>
                        <a:rPr sz="950" b="1" i="0">
                          <a:solidFill>
                            <a:srgbClr val="1E2430"/>
                          </a:solidFill>
                          <a:latin typeface="Calibri"/>
                        </a:rPr>
                        <a:t>Reject H01
(p &lt; .001)</a:t>
                      </a:r>
                    </a:p>
                  </a:txBody>
                  <a:tcPr anchor="ctr" marL="54864" marR="54864" marT="22860" marB="22860">
                    <a:solidFill>
                      <a:srgbClr val="E1F3E8"/>
                    </a:solidFill>
                  </a:tcPr>
                </a:tc>
              </a:tr>
              <a:tr h="649224">
                <a:tc>
                  <a:txBody>
                    <a:bodyPr/>
                    <a:lstStyle/>
                    <a:p>
                      <a:pPr algn="l"/>
                      <a:r>
                        <a:rPr sz="950" b="1" i="0">
                          <a:solidFill>
                            <a:srgbClr val="1E2430"/>
                          </a:solidFill>
                          <a:latin typeface="Calibri"/>
                        </a:rPr>
                        <a:t>RQ2: Style Convergence &amp;
Pacing Error (Refined)</a:t>
                      </a:r>
                    </a:p>
                  </a:txBody>
                  <a:tcPr anchor="ctr" marL="54864" marR="54864" marT="22860" marB="22860">
                    <a:solidFill>
                      <a:srgbClr val="E1F3E8"/>
                    </a:solidFill>
                  </a:tcPr>
                </a:tc>
                <a:tc>
                  <a:txBody>
                    <a:bodyPr/>
                    <a:lstStyle/>
                    <a:p>
                      <a:pPr algn="l"/>
                      <a:r>
                        <a:rPr sz="950" b="1" i="0">
                          <a:solidFill>
                            <a:srgbClr val="1E2430"/>
                          </a:solidFill>
                          <a:latin typeface="Calibri"/>
                        </a:rPr>
                        <a:t>N = 33 dialogues × 3
conditions (99 calls)</a:t>
                      </a:r>
                    </a:p>
                  </a:txBody>
                  <a:tcPr anchor="ctr" marL="54864" marR="54864" marT="22860" marB="22860">
                    <a:solidFill>
                      <a:srgbClr val="E1F3E8"/>
                    </a:solidFill>
                  </a:tcPr>
                </a:tc>
                <a:tc>
                  <a:txBody>
                    <a:bodyPr/>
                    <a:lstStyle/>
                    <a:p>
                      <a:pPr algn="l"/>
                      <a:r>
                        <a:rPr sz="950" b="1" i="0">
                          <a:solidFill>
                            <a:srgbClr val="1E2430"/>
                          </a:solidFill>
                          <a:latin typeface="Calibri"/>
                        </a:rPr>
                        <a:t>Style Cos: Static = .453, Zero = .530 vs. Adaptive = .597
Pacing Error: Zero = 10.12w, Static = 6.33w vs. Adaptive = 3.87w</a:t>
                      </a:r>
                    </a:p>
                  </a:txBody>
                  <a:tcPr anchor="ctr" marL="54864" marR="54864" marT="22860" marB="22860">
                    <a:solidFill>
                      <a:srgbClr val="E1F3E8"/>
                    </a:solidFill>
                  </a:tcPr>
                </a:tc>
                <a:tc>
                  <a:txBody>
                    <a:bodyPr/>
                    <a:lstStyle/>
                    <a:p>
                      <a:pPr algn="l"/>
                      <a:r>
                        <a:rPr sz="950" b="1" i="0">
                          <a:solidFill>
                            <a:srgbClr val="1E2430"/>
                          </a:solidFill>
                          <a:latin typeface="Calibri"/>
                        </a:rPr>
                        <a:t>Style F(1.88, 60.29) = 9.79, p &lt; .001, ηp² = .234
Pacing F(1.30, 41.70) = 7.10, p = .007, ηp² = .182</a:t>
                      </a:r>
                    </a:p>
                  </a:txBody>
                  <a:tcPr anchor="ctr" marL="54864" marR="54864" marT="22860" marB="22860">
                    <a:solidFill>
                      <a:srgbClr val="E1F3E8"/>
                    </a:solidFill>
                  </a:tcPr>
                </a:tc>
                <a:tc>
                  <a:txBody>
                    <a:bodyPr/>
                    <a:lstStyle/>
                    <a:p>
                      <a:pPr algn="l"/>
                      <a:r>
                        <a:rPr sz="950" b="1" i="0">
                          <a:solidFill>
                            <a:srgbClr val="1E2430"/>
                          </a:solidFill>
                          <a:latin typeface="Calibri"/>
                        </a:rPr>
                        <a:t>Friedman χ² = 12.50 (p = .002) &amp;
14.27 (p &lt; .001); Holm p &lt; .001</a:t>
                      </a:r>
                    </a:p>
                  </a:txBody>
                  <a:tcPr anchor="ctr" marL="54864" marR="54864" marT="22860" marB="22860">
                    <a:solidFill>
                      <a:srgbClr val="E1F3E8"/>
                    </a:solidFill>
                  </a:tcPr>
                </a:tc>
                <a:tc>
                  <a:txBody>
                    <a:bodyPr/>
                    <a:lstStyle/>
                    <a:p>
                      <a:pPr algn="ctr"/>
                      <a:r>
                        <a:rPr sz="950" b="1" i="0">
                          <a:solidFill>
                            <a:srgbClr val="1E2430"/>
                          </a:solidFill>
                          <a:latin typeface="Calibri"/>
                        </a:rPr>
                        <a:t>Reject H02
(p &lt; .001)</a:t>
                      </a:r>
                    </a:p>
                  </a:txBody>
                  <a:tcPr anchor="ctr" marL="54864" marR="54864" marT="22860" marB="22860">
                    <a:solidFill>
                      <a:srgbClr val="E1F3E8"/>
                    </a:solidFill>
                  </a:tcPr>
                </a:tc>
              </a:tr>
              <a:tr h="649224">
                <a:tc>
                  <a:txBody>
                    <a:bodyPr/>
                    <a:lstStyle/>
                    <a:p>
                      <a:pPr algn="l"/>
                      <a:r>
                        <a:rPr sz="950" b="1" i="0">
                          <a:solidFill>
                            <a:srgbClr val="1E2430"/>
                          </a:solidFill>
                          <a:latin typeface="Calibri"/>
                        </a:rPr>
                        <a:t>RQ3: Policy Rule Adherence,
Leakage &amp; Slot F1</a:t>
                      </a:r>
                    </a:p>
                  </a:txBody>
                  <a:tcPr anchor="ctr" marL="54864" marR="54864" marT="22860" marB="22860">
                    <a:solidFill>
                      <a:srgbClr val="E1F3E8"/>
                    </a:solidFill>
                  </a:tcPr>
                </a:tc>
                <a:tc>
                  <a:txBody>
                    <a:bodyPr/>
                    <a:lstStyle/>
                    <a:p>
                      <a:pPr algn="l"/>
                      <a:r>
                        <a:rPr sz="950" b="1" i="0">
                          <a:solidFill>
                            <a:srgbClr val="1E2430"/>
                          </a:solidFill>
                          <a:latin typeface="Calibri"/>
                        </a:rPr>
                        <a:t>N = 144 (2 × 2,
n = 36/cell; κ_judge = .917)</a:t>
                      </a:r>
                    </a:p>
                  </a:txBody>
                  <a:tcPr anchor="ctr" marL="54864" marR="54864" marT="22860" marB="22860">
                    <a:solidFill>
                      <a:srgbClr val="E1F3E8"/>
                    </a:solidFill>
                  </a:tcPr>
                </a:tc>
                <a:tc>
                  <a:txBody>
                    <a:bodyPr/>
                    <a:lstStyle/>
                    <a:p>
                      <a:pPr algn="l"/>
                      <a:r>
                        <a:rPr sz="950" b="1" i="0">
                          <a:solidFill>
                            <a:srgbClr val="1E2430"/>
                          </a:solidFill>
                          <a:latin typeface="Calibri"/>
                        </a:rPr>
                        <a:t>Viol. Enforcement: 5.6% (Off) → 98.6% (Active)
Few-Shot Leakage: .359 (55.6%) → .000 (0.0%); Slot F1: .485 → .952</a:t>
                      </a:r>
                    </a:p>
                  </a:txBody>
                  <a:tcPr anchor="ctr" marL="54864" marR="54864" marT="22860" marB="22860">
                    <a:solidFill>
                      <a:srgbClr val="E1F3E8"/>
                    </a:solidFill>
                  </a:tcPr>
                </a:tc>
                <a:tc>
                  <a:txBody>
                    <a:bodyPr/>
                    <a:lstStyle/>
                    <a:p>
                      <a:pPr algn="l"/>
                      <a:r>
                        <a:rPr sz="950" b="1" i="0">
                          <a:solidFill>
                            <a:srgbClr val="1E2430"/>
                          </a:solidFill>
                          <a:latin typeface="Calibri"/>
                        </a:rPr>
                        <a:t>RAR Rules F(1, 140) = 43.92, p &lt; .001, ηp² = .239
ELR Int. F = 34.82, p &lt; .001; Slot F1 F = 489.52</a:t>
                      </a:r>
                    </a:p>
                  </a:txBody>
                  <a:tcPr anchor="ctr" marL="54864" marR="54864" marT="22860" marB="22860">
                    <a:solidFill>
                      <a:srgbClr val="E1F3E8"/>
                    </a:solidFill>
                  </a:tcPr>
                </a:tc>
                <a:tc>
                  <a:txBody>
                    <a:bodyPr/>
                    <a:lstStyle/>
                    <a:p>
                      <a:pPr algn="l"/>
                      <a:r>
                        <a:rPr sz="950" b="1" i="0">
                          <a:solidFill>
                            <a:srgbClr val="1E2430"/>
                          </a:solidFill>
                          <a:latin typeface="Calibri"/>
                        </a:rPr>
                        <a:t>HC3 F = 42.71 &amp; 33.85 (p &lt; .001);
ART F = 39.12 &amp; 2148.81 (p &lt; .001)</a:t>
                      </a:r>
                    </a:p>
                  </a:txBody>
                  <a:tcPr anchor="ctr" marL="54864" marR="54864" marT="22860" marB="22860">
                    <a:solidFill>
                      <a:srgbClr val="E1F3E8"/>
                    </a:solidFill>
                  </a:tcPr>
                </a:tc>
                <a:tc>
                  <a:txBody>
                    <a:bodyPr/>
                    <a:lstStyle/>
                    <a:p>
                      <a:pPr algn="ctr"/>
                      <a:r>
                        <a:rPr sz="950" b="1" i="0">
                          <a:solidFill>
                            <a:srgbClr val="1E2430"/>
                          </a:solidFill>
                          <a:latin typeface="Calibri"/>
                        </a:rPr>
                        <a:t>Reject H03
(p &lt; .001)</a:t>
                      </a:r>
                    </a:p>
                  </a:txBody>
                  <a:tcPr anchor="ctr" marL="54864" marR="54864" marT="22860" marB="22860">
                    <a:solidFill>
                      <a:srgbClr val="E1F3E8"/>
                    </a:solidFill>
                  </a:tcPr>
                </a:tc>
              </a:tr>
              <a:tr h="649224">
                <a:tc>
                  <a:txBody>
                    <a:bodyPr/>
                    <a:lstStyle/>
                    <a:p>
                      <a:pPr algn="l"/>
                      <a:r>
                        <a:rPr sz="950" b="1" i="0">
                          <a:solidFill>
                            <a:srgbClr val="1E2430"/>
                          </a:solidFill>
                          <a:latin typeface="Calibri"/>
                        </a:rPr>
                        <a:t>RQ4: Multi-Turn Economy
(Log Turns &amp; RER)</a:t>
                      </a:r>
                    </a:p>
                  </a:txBody>
                  <a:tcPr anchor="ctr" marL="54864" marR="54864" marT="22860" marB="22860">
                    <a:solidFill>
                      <a:srgbClr val="E1F3E8"/>
                    </a:solidFill>
                  </a:tcPr>
                </a:tc>
                <a:tc>
                  <a:txBody>
                    <a:bodyPr/>
                    <a:lstStyle/>
                    <a:p>
                      <a:pPr algn="l"/>
                      <a:r>
                        <a:rPr sz="950" b="1" i="0">
                          <a:solidFill>
                            <a:srgbClr val="1E2430"/>
                          </a:solidFill>
                          <a:latin typeface="Calibri"/>
                        </a:rPr>
                        <a:t>N = 180 (2 × 3,
n = 30/cell; κ_persona = .933)</a:t>
                      </a:r>
                    </a:p>
                  </a:txBody>
                  <a:tcPr anchor="ctr" marL="54864" marR="54864" marT="22860" marB="22860">
                    <a:solidFill>
                      <a:srgbClr val="E1F3E8"/>
                    </a:solidFill>
                  </a:tcPr>
                </a:tc>
                <a:tc>
                  <a:txBody>
                    <a:bodyPr/>
                    <a:lstStyle/>
                    <a:p>
                      <a:pPr algn="l"/>
                      <a:r>
                        <a:rPr sz="950" b="1" i="0">
                          <a:solidFill>
                            <a:srgbClr val="1E2430"/>
                          </a:solidFill>
                          <a:latin typeface="Calibri"/>
                        </a:rPr>
                        <a:t>Turns: −34.2% (DB), −29.5% (OE), −42.7% (RCS)
Overall Turns: 7.93 → 5.09 (−35.8%); RER: .109 → .000</a:t>
                      </a:r>
                    </a:p>
                  </a:txBody>
                  <a:tcPr anchor="ctr" marL="54864" marR="54864" marT="22860" marB="22860">
                    <a:solidFill>
                      <a:srgbClr val="E1F3E8"/>
                    </a:solidFill>
                  </a:tcPr>
                </a:tc>
                <a:tc>
                  <a:txBody>
                    <a:bodyPr/>
                    <a:lstStyle/>
                    <a:p>
                      <a:pPr algn="l"/>
                      <a:r>
                        <a:rPr sz="950" b="1" i="0">
                          <a:solidFill>
                            <a:srgbClr val="1E2430"/>
                          </a:solidFill>
                          <a:latin typeface="Calibri"/>
                        </a:rPr>
                        <a:t>Prompt F(1, 174) = 664.43, p &lt; .001, ηp² = .793
Prompt × Arch Int. F(2, 174) = 10.89, p &lt; .001, ηp² = .111</a:t>
                      </a:r>
                    </a:p>
                  </a:txBody>
                  <a:tcPr anchor="ctr" marL="54864" marR="54864" marT="22860" marB="22860">
                    <a:solidFill>
                      <a:srgbClr val="E1F3E8"/>
                    </a:solidFill>
                  </a:tcPr>
                </a:tc>
                <a:tc>
                  <a:txBody>
                    <a:bodyPr/>
                    <a:lstStyle/>
                    <a:p>
                      <a:pPr algn="l"/>
                      <a:r>
                        <a:rPr sz="950" b="1" i="0">
                          <a:solidFill>
                            <a:srgbClr val="1E2430"/>
                          </a:solidFill>
                          <a:latin typeface="Calibri"/>
                        </a:rPr>
                        <a:t>HC3 Int. F = 8.58, p &lt; .001;
ART Int. F = 209.46, p &lt; .001</a:t>
                      </a:r>
                    </a:p>
                  </a:txBody>
                  <a:tcPr anchor="ctr" marL="54864" marR="54864" marT="22860" marB="22860">
                    <a:solidFill>
                      <a:srgbClr val="E1F3E8"/>
                    </a:solidFill>
                  </a:tcPr>
                </a:tc>
                <a:tc>
                  <a:txBody>
                    <a:bodyPr/>
                    <a:lstStyle/>
                    <a:p>
                      <a:pPr algn="ctr"/>
                      <a:r>
                        <a:rPr sz="950" b="1" i="0">
                          <a:solidFill>
                            <a:srgbClr val="1E2430"/>
                          </a:solidFill>
                          <a:latin typeface="Calibri"/>
                        </a:rPr>
                        <a:t>Reject H04
(p &lt; .001)</a:t>
                      </a:r>
                    </a:p>
                  </a:txBody>
                  <a:tcPr anchor="ctr" marL="54864" marR="54864" marT="22860" marB="22860">
                    <a:solidFill>
                      <a:srgbClr val="E1F3E8"/>
                    </a:solidFill>
                  </a:tcPr>
                </a:tc>
              </a:tr>
            </a:tbl>
          </a:graphicData>
        </a:graphic>
      </p:graphicFrame>
      <p:sp>
        <p:nvSpPr>
          <p:cNvPr id="12" name="Rounded Rectangle 11"/>
          <p:cNvSpPr/>
          <p:nvPr/>
        </p:nvSpPr>
        <p:spPr>
          <a:xfrm>
            <a:off x="320040" y="4754880"/>
            <a:ext cx="11548872" cy="1691640"/>
          </a:xfrm>
          <a:prstGeom prst="roundRect">
            <a:avLst>
              <a:gd name="adj" fmla="val 2000"/>
            </a:avLst>
          </a:prstGeom>
          <a:solidFill>
            <a:srgbClr val="EBF7F0"/>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0040" y="4754880"/>
            <a:ext cx="1154887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Practical Business Significance &amp; Enterprise ROI (For an OTA Handling 1,000,000 Monthly Sessions)</a:t>
            </a:r>
          </a:p>
        </p:txBody>
      </p:sp>
      <p:sp>
        <p:nvSpPr>
          <p:cNvPr id="14" name="TextBox 13"/>
          <p:cNvSpPr txBox="1"/>
          <p:nvPr/>
        </p:nvSpPr>
        <p:spPr>
          <a:xfrm>
            <a:off x="411479" y="5138928"/>
            <a:ext cx="11365992" cy="125272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1. Cloud Inference &amp; Latency Savings (−35.8%):</a:t>
            </a:r>
            <a:r>
              <a:rPr sz="1050" b="0" i="0">
                <a:solidFill>
                  <a:srgbClr val="1E2430"/>
                </a:solidFill>
                <a:latin typeface="Calibri"/>
              </a:rPr>
              <a:t> Compressing mean dialogue length from 7.93 turns (`Zero-Shot`) to 5.09 turns (`Cluster-Adaptive`) saves </a:t>
            </a:r>
            <a:r>
              <a:rPr sz="1050" b="1" i="0">
                <a:solidFill>
                  <a:srgbClr val="1E2430"/>
                </a:solidFill>
                <a:latin typeface="Calibri"/>
              </a:rPr>
              <a:t>2.84 turns per session = 2,840,000 fewer LLM generation calls every month</a:t>
            </a:r>
            <a:r>
              <a:rPr sz="1050" b="0" i="0">
                <a:solidFill>
                  <a:srgbClr val="1E2430"/>
                </a:solidFill>
                <a:latin typeface="Calibri"/>
              </a:rPr>
              <a:t>, cutting token compute spend and customer wait time by more than one-third.</a:t>
            </a:r>
          </a:p>
          <a:p>
            <a:pPr>
              <a:spcAft>
                <a:spcPts val="400"/>
              </a:spcAft>
            </a:pPr>
            <a:r>
              <a:rPr sz="1050" b="0" i="0">
                <a:solidFill>
                  <a:srgbClr val="1E2430"/>
                </a:solidFill>
                <a:latin typeface="Calibri"/>
              </a:rPr>
              <a:t>• </a:t>
            </a:r>
            <a:r>
              <a:rPr sz="1050" b="1" i="0">
                <a:solidFill>
                  <a:srgbClr val="1E2430"/>
                </a:solidFill>
                <a:latin typeface="Calibri"/>
              </a:rPr>
              <a:t>2. Zero Hallucination &amp; Chargeback Prevention:</a:t>
            </a:r>
            <a:r>
              <a:rPr sz="1050" b="0" i="0">
                <a:solidFill>
                  <a:srgbClr val="1E2430"/>
                </a:solidFill>
                <a:latin typeface="Calibri"/>
              </a:rPr>
              <a:t> Eliminating exemplar entity leakage (from 55.6% incidence to </a:t>
            </a:r>
            <a:r>
              <a:rPr sz="1050" b="1" i="0">
                <a:solidFill>
                  <a:srgbClr val="1E2430"/>
                </a:solidFill>
                <a:latin typeface="Calibri"/>
              </a:rPr>
              <a:t>0.0%</a:t>
            </a:r>
            <a:r>
              <a:rPr sz="1050" b="0" i="0">
                <a:solidFill>
                  <a:srgbClr val="1E2430"/>
                </a:solidFill>
                <a:latin typeface="Calibri"/>
              </a:rPr>
              <a:t>) and raising booking policy compliance on invalid requests (short visa lead times, expiring passports, unauthorized 25% discounts) from 5.6% to </a:t>
            </a:r>
            <a:r>
              <a:rPr sz="1050" b="1" i="0">
                <a:solidFill>
                  <a:srgbClr val="1E2430"/>
                </a:solidFill>
                <a:latin typeface="Calibri"/>
              </a:rPr>
              <a:t>98.6%</a:t>
            </a:r>
            <a:r>
              <a:rPr sz="1050" b="0" i="0">
                <a:solidFill>
                  <a:srgbClr val="1E2430"/>
                </a:solidFill>
                <a:latin typeface="Calibri"/>
              </a:rPr>
              <a:t> prevents regulatory fines and disputed bookings.</a:t>
            </a:r>
          </a:p>
          <a:p>
            <a:pPr>
              <a:spcAft>
                <a:spcPts val="400"/>
              </a:spcAft>
            </a:pPr>
            <a:r>
              <a:rPr sz="1050" b="0" i="0">
                <a:solidFill>
                  <a:srgbClr val="1E2430"/>
                </a:solidFill>
                <a:latin typeface="Calibri"/>
              </a:rPr>
              <a:t>• </a:t>
            </a:r>
            <a:r>
              <a:rPr sz="1050" b="1" i="0">
                <a:solidFill>
                  <a:srgbClr val="1E2430"/>
                </a:solidFill>
                <a:latin typeface="Calibri"/>
              </a:rPr>
              <a:t>3. Rescuing Rigid-Constraint Shoppers:</a:t>
            </a:r>
            <a:r>
              <a:rPr sz="1050" b="0" i="0">
                <a:solidFill>
                  <a:srgbClr val="1E2430"/>
                </a:solidFill>
                <a:latin typeface="Calibri"/>
              </a:rPr>
              <a:t> Proactive single-turn trade-off framing cuts negotiation turns by </a:t>
            </a:r>
            <a:r>
              <a:rPr sz="1050" b="1" i="0">
                <a:solidFill>
                  <a:srgbClr val="1E2430"/>
                </a:solidFill>
                <a:latin typeface="Calibri"/>
              </a:rPr>
              <a:t>42.7%</a:t>
            </a:r>
            <a:r>
              <a:rPr sz="1050" b="0" i="0">
                <a:solidFill>
                  <a:srgbClr val="1E2430"/>
                </a:solidFill>
                <a:latin typeface="Calibri"/>
              </a:rPr>
              <a:t> for the hardest customer segment (which suffered a 44.5% failure rate in historical human logs).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7: ANTICIPATED DEFENSE Q&amp;A BANK</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35</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Defense Q&amp;A #1: 'What Assumptions Were Taken to Arrive at Sample Sizes?'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Direct, rigorous answer prepared for statistical and quantitative methodology reviewers on the defense panel</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Five Explicit A Priori Assumptions (`step0_sample_size.py`)</a:t>
            </a:r>
          </a:p>
        </p:txBody>
      </p:sp>
      <p:sp>
        <p:nvSpPr>
          <p:cNvPr id="13" name="TextBox 12"/>
          <p:cNvSpPr txBox="1"/>
          <p:nvPr/>
        </p:nvSpPr>
        <p:spPr>
          <a:xfrm>
            <a:off x="411479" y="1755648"/>
            <a:ext cx="5440680" cy="4544568"/>
          </a:xfrm>
          <a:prstGeom prst="rect">
            <a:avLst/>
          </a:prstGeom>
          <a:noFill/>
        </p:spPr>
        <p:txBody>
          <a:bodyPr wrap="square" lIns="36576" rIns="36576" tIns="18288" bIns="18288">
            <a:spAutoFit/>
          </a:bodyPr>
          <a:lstStyle/>
          <a:p>
            <a:pPr>
              <a:spcAft>
                <a:spcPts val="400"/>
              </a:spcAft>
            </a:pPr>
            <a:r>
              <a:rPr sz="1019" b="0" i="0">
                <a:solidFill>
                  <a:srgbClr val="1E2430"/>
                </a:solidFill>
                <a:latin typeface="Calibri"/>
              </a:rPr>
              <a:t>• </a:t>
            </a:r>
            <a:r>
              <a:rPr sz="1019" b="1" i="0">
                <a:solidFill>
                  <a:srgbClr val="1E2430"/>
                </a:solidFill>
                <a:latin typeface="Calibri"/>
              </a:rPr>
              <a:t>Assumption 1 — Type I Error Control (α = .05, two-tailed / omnibus F):</a:t>
            </a:r>
          </a:p>
          <a:p>
            <a:pPr>
              <a:spcAft>
                <a:spcPts val="400"/>
              </a:spcAft>
            </a:pPr>
            <a:r>
              <a:rPr sz="1000" b="0" i="0">
                <a:solidFill>
                  <a:srgbClr val="1E2430"/>
                </a:solidFill>
                <a:latin typeface="Calibri"/>
              </a:rPr>
              <a:t>    ▪ We assumed a standard 5% false-positive ceiling across all primary omnibus tests, supplemented by Tukey HSD (RQ1) and Holm–Bonferroni (RQ2) familywise error control for pairwise contrasts.</a:t>
            </a:r>
          </a:p>
          <a:p>
            <a:pPr>
              <a:spcAft>
                <a:spcPts val="400"/>
              </a:spcAft>
            </a:pPr>
            <a:r>
              <a:rPr sz="1019" b="0" i="0">
                <a:solidFill>
                  <a:srgbClr val="1E2430"/>
                </a:solidFill>
                <a:latin typeface="Calibri"/>
              </a:rPr>
              <a:t>• </a:t>
            </a:r>
            <a:r>
              <a:rPr sz="1019" b="1" i="0">
                <a:solidFill>
                  <a:srgbClr val="1E2430"/>
                </a:solidFill>
                <a:latin typeface="Calibri"/>
              </a:rPr>
              <a:t>Assumption 2 — Target Statistical Power (1 − β ≥ .80, β ≤ .20):</a:t>
            </a:r>
          </a:p>
          <a:p>
            <a:pPr>
              <a:spcAft>
                <a:spcPts val="400"/>
              </a:spcAft>
            </a:pPr>
            <a:r>
              <a:rPr sz="1000" b="0" i="0">
                <a:solidFill>
                  <a:srgbClr val="1E2430"/>
                </a:solidFill>
                <a:latin typeface="Calibri"/>
              </a:rPr>
              <a:t>    ▪ Following Cohen (1988), we set false-negative risk at ≤ 20%, requiring noncentrality λ = 8.00 (</a:t>
            </a:r>
            <a:r>
              <a:rPr sz="1000" b="0" i="1">
                <a:solidFill>
                  <a:srgbClr val="1E2430"/>
                </a:solidFill>
                <a:latin typeface="Calibri"/>
              </a:rPr>
              <a:t>df</a:t>
            </a:r>
            <a:r>
              <a:rPr sz="1000" b="0" i="0">
                <a:solidFill>
                  <a:srgbClr val="1E2430"/>
                </a:solidFill>
                <a:latin typeface="Calibri"/>
              </a:rPr>
              <a:t>&lt;sub&gt;1&lt;/sub&gt; = 1) to λ = 9.88 (</a:t>
            </a:r>
            <a:r>
              <a:rPr sz="1000" b="0" i="1">
                <a:solidFill>
                  <a:srgbClr val="1E2430"/>
                </a:solidFill>
                <a:latin typeface="Calibri"/>
              </a:rPr>
              <a:t>df</a:t>
            </a:r>
            <a:r>
              <a:rPr sz="1000" b="0" i="0">
                <a:solidFill>
                  <a:srgbClr val="1E2430"/>
                </a:solidFill>
                <a:latin typeface="Calibri"/>
              </a:rPr>
              <a:t>&lt;sub&gt;1&lt;/sub&gt; = 2).</a:t>
            </a:r>
          </a:p>
          <a:p>
            <a:pPr>
              <a:spcAft>
                <a:spcPts val="400"/>
              </a:spcAft>
            </a:pPr>
            <a:r>
              <a:rPr sz="1019" b="0" i="0">
                <a:solidFill>
                  <a:srgbClr val="1E2430"/>
                </a:solidFill>
                <a:latin typeface="Calibri"/>
              </a:rPr>
              <a:t>• </a:t>
            </a:r>
            <a:r>
              <a:rPr sz="1019" b="1" i="0">
                <a:solidFill>
                  <a:srgbClr val="1E2430"/>
                </a:solidFill>
                <a:latin typeface="Calibri"/>
              </a:rPr>
              <a:t>Assumption 3 — Medium Minimum Detectable Effect Size (f = .25):</a:t>
            </a:r>
          </a:p>
          <a:p>
            <a:pPr>
              <a:spcAft>
                <a:spcPts val="400"/>
              </a:spcAft>
            </a:pPr>
            <a:r>
              <a:rPr sz="1000" b="0" i="0">
                <a:solidFill>
                  <a:srgbClr val="1E2430"/>
                </a:solidFill>
                <a:latin typeface="Calibri"/>
              </a:rPr>
              <a:t>    ▪ We powered every experiment to detect at least a medium effect (</a:t>
            </a:r>
            <a:r>
              <a:rPr sz="1000" b="0" i="1">
                <a:solidFill>
                  <a:srgbClr val="1E2430"/>
                </a:solidFill>
                <a:latin typeface="Calibri"/>
              </a:rPr>
              <a:t>f</a:t>
            </a:r>
            <a:r>
              <a:rPr sz="1000" b="0" i="0">
                <a:solidFill>
                  <a:srgbClr val="1E2430"/>
                </a:solidFill>
                <a:latin typeface="Calibri"/>
              </a:rPr>
              <a:t> = .25, equivalent to η&lt;sup&gt;2&lt;/sup&gt; ≈ .059 or ~6% explained variance) so that any statistically significant effect also carries practical engineering meaning.</a:t>
            </a:r>
          </a:p>
          <a:p>
            <a:pPr>
              <a:spcAft>
                <a:spcPts val="400"/>
              </a:spcAft>
            </a:pPr>
            <a:r>
              <a:rPr sz="1019" b="0" i="0">
                <a:solidFill>
                  <a:srgbClr val="1E2430"/>
                </a:solidFill>
                <a:latin typeface="Calibri"/>
              </a:rPr>
              <a:t>• </a:t>
            </a:r>
            <a:r>
              <a:rPr sz="1019" b="1" i="0">
                <a:solidFill>
                  <a:srgbClr val="1E2430"/>
                </a:solidFill>
                <a:latin typeface="Calibri"/>
              </a:rPr>
              <a:t>Assumption 4 — Within-Dialogue Correlation (ρ = .50) &amp; Sphericity (ε = 1.0) in RQ2:</a:t>
            </a:r>
          </a:p>
          <a:p>
            <a:pPr>
              <a:spcAft>
                <a:spcPts val="400"/>
              </a:spcAft>
            </a:pPr>
            <a:r>
              <a:rPr sz="1000" b="0" i="0">
                <a:solidFill>
                  <a:srgbClr val="1E2430"/>
                </a:solidFill>
                <a:latin typeface="Calibri"/>
              </a:rPr>
              <a:t>    ▪ For repeated-measures RQ2, we assumed moderate within-dialogue correlation ρ = .50 across the </a:t>
            </a:r>
            <a:r>
              <a:rPr sz="1000" b="0" i="1">
                <a:solidFill>
                  <a:srgbClr val="1E2430"/>
                </a:solidFill>
                <a:latin typeface="Calibri"/>
              </a:rPr>
              <a:t>m</a:t>
            </a:r>
            <a:r>
              <a:rPr sz="1000" b="0" i="0">
                <a:solidFill>
                  <a:srgbClr val="1E2430"/>
                </a:solidFill>
                <a:latin typeface="Calibri"/>
              </a:rPr>
              <a:t> = 3 prompt conditions.</a:t>
            </a:r>
          </a:p>
          <a:p>
            <a:pPr>
              <a:spcAft>
                <a:spcPts val="400"/>
              </a:spcAft>
            </a:pPr>
            <a:r>
              <a:rPr sz="1019" b="0" i="0">
                <a:solidFill>
                  <a:srgbClr val="1E2430"/>
                </a:solidFill>
                <a:latin typeface="Calibri"/>
              </a:rPr>
              <a:t>• </a:t>
            </a:r>
            <a:r>
              <a:rPr sz="1019" b="1" i="0">
                <a:solidFill>
                  <a:srgbClr val="1E2430"/>
                </a:solidFill>
                <a:latin typeface="Calibri"/>
              </a:rPr>
              <a:t>Assumption 5 — +10% Cell-Balancing &amp; Attrition Buffer:</a:t>
            </a:r>
          </a:p>
          <a:p>
            <a:pPr>
              <a:spcAft>
                <a:spcPts val="400"/>
              </a:spcAft>
            </a:pPr>
            <a:r>
              <a:rPr sz="1000" b="0" i="0">
                <a:solidFill>
                  <a:srgbClr val="1E2430"/>
                </a:solidFill>
                <a:latin typeface="Calibri"/>
              </a:rPr>
              <a:t>    ▪ Minimum sample sizes (</a:t>
            </a:r>
            <a:r>
              <a:rPr sz="1000" b="0" i="1">
                <a:solidFill>
                  <a:srgbClr val="1E2430"/>
                </a:solidFill>
                <a:latin typeface="Calibri"/>
              </a:rPr>
              <a:t>N</a:t>
            </a:r>
            <a:r>
              <a:rPr sz="1000" b="0" i="0">
                <a:solidFill>
                  <a:srgbClr val="1E2430"/>
                </a:solidFill>
                <a:latin typeface="Calibri"/>
              </a:rPr>
              <a:t>&lt;sub&gt;min&lt;/sub&gt; = 158, 28, 128, 158) were buffered by ≥ 10% to exact integer multiples of cell counts: </a:t>
            </a:r>
            <a:r>
              <a:rPr sz="1000" b="1" i="0">
                <a:solidFill>
                  <a:srgbClr val="1E2430"/>
                </a:solidFill>
                <a:latin typeface="Calibri"/>
              </a:rPr>
              <a:t>159 (53×3), 33 (11×3), 144 (36×4), and 180 (30×6)</a:t>
            </a:r>
            <a:r>
              <a:rPr sz="1000" b="0" i="0">
                <a:solidFill>
                  <a:srgbClr val="1E2430"/>
                </a:solidFill>
                <a:latin typeface="Calibri"/>
              </a:rPr>
              <a:t>, achieving final a priori power of </a:t>
            </a:r>
            <a:r>
              <a:rPr sz="1000" b="1" i="0">
                <a:solidFill>
                  <a:srgbClr val="1E2430"/>
                </a:solidFill>
                <a:latin typeface="Calibri"/>
              </a:rPr>
              <a:t>.804 to .865</a:t>
            </a:r>
            <a:r>
              <a:rPr sz="1000" b="0" i="0">
                <a:solidFill>
                  <a:srgbClr val="1E2430"/>
                </a:solidFill>
                <a:latin typeface="Calibri"/>
              </a:rPr>
              <a:t>.</a:t>
            </a:r>
          </a:p>
        </p:txBody>
      </p:sp>
      <p:sp>
        <p:nvSpPr>
          <p:cNvPr id="14" name="Rounded Rectangle 13"/>
          <p:cNvSpPr/>
          <p:nvPr/>
        </p:nvSpPr>
        <p:spPr>
          <a:xfrm>
            <a:off x="6217920" y="1371600"/>
            <a:ext cx="5650992" cy="4983480"/>
          </a:xfrm>
          <a:prstGeom prst="roundRect">
            <a:avLst>
              <a:gd name="adj" fmla="val 2000"/>
            </a:avLst>
          </a:prstGeom>
          <a:solidFill>
            <a:srgbClr val="EBF7F0"/>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Post-Hoc Empirical Audit: Did Our Data Satisfy Every Assumption?</a:t>
            </a:r>
          </a:p>
        </p:txBody>
      </p:sp>
      <p:sp>
        <p:nvSpPr>
          <p:cNvPr id="16" name="TextBox 15"/>
          <p:cNvSpPr txBox="1"/>
          <p:nvPr/>
        </p:nvSpPr>
        <p:spPr>
          <a:xfrm>
            <a:off x="6309359" y="1755648"/>
            <a:ext cx="5468112" cy="4544568"/>
          </a:xfrm>
          <a:prstGeom prst="rect">
            <a:avLst/>
          </a:prstGeom>
          <a:noFill/>
        </p:spPr>
        <p:txBody>
          <a:bodyPr wrap="square" lIns="36576" rIns="36576" tIns="18288" bIns="18288">
            <a:spAutoFit/>
          </a:bodyPr>
          <a:lstStyle/>
          <a:p>
            <a:pPr>
              <a:spcAft>
                <a:spcPts val="400"/>
              </a:spcAft>
            </a:pPr>
            <a:r>
              <a:rPr sz="1019" b="0" i="0">
                <a:solidFill>
                  <a:srgbClr val="1E2430"/>
                </a:solidFill>
                <a:latin typeface="Calibri"/>
              </a:rPr>
              <a:t>• </a:t>
            </a:r>
            <a:r>
              <a:rPr sz="1019" b="1" i="0">
                <a:solidFill>
                  <a:srgbClr val="1E2430"/>
                </a:solidFill>
                <a:latin typeface="Calibri"/>
              </a:rPr>
              <a:t>1. Observed Effect Sizes Far Exceeded f = .25 (η² = .059):</a:t>
            </a:r>
          </a:p>
          <a:p>
            <a:pPr>
              <a:spcAft>
                <a:spcPts val="400"/>
              </a:spcAft>
            </a:pPr>
            <a:r>
              <a:rPr sz="1000" b="0" i="0">
                <a:solidFill>
                  <a:srgbClr val="1E2430"/>
                </a:solidFill>
                <a:latin typeface="Calibri"/>
              </a:rPr>
              <a:t>    ▪ • RQ1 Algorithm η&lt;sup&gt;2&lt;/sup&gt; = </a:t>
            </a:r>
            <a:r>
              <a:rPr sz="1000" b="1" i="0">
                <a:solidFill>
                  <a:srgbClr val="1E2430"/>
                </a:solidFill>
                <a:latin typeface="Calibri"/>
              </a:rPr>
              <a:t>.539 to .912</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1.08 to 3.22)</a:t>
            </a:r>
          </a:p>
          <a:p>
            <a:pPr>
              <a:spcAft>
                <a:spcPts val="400"/>
              </a:spcAft>
            </a:pPr>
            <a:r>
              <a:rPr sz="1000" b="0" i="0">
                <a:solidFill>
                  <a:srgbClr val="1E2430"/>
                </a:solidFill>
                <a:latin typeface="Calibri"/>
              </a:rPr>
              <a:t>    ▪ • RQ2 Refined Style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.234</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0.55) &amp; Pacing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.182</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0.47)</a:t>
            </a:r>
          </a:p>
          <a:p>
            <a:pPr>
              <a:spcAft>
                <a:spcPts val="400"/>
              </a:spcAft>
            </a:pPr>
            <a:r>
              <a:rPr sz="1000" b="0" i="0">
                <a:solidFill>
                  <a:srgbClr val="1E2430"/>
                </a:solidFill>
                <a:latin typeface="Calibri"/>
              </a:rPr>
              <a:t>    ▪ • RQ3 Rules RAR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.239</a:t>
            </a:r>
            <a:r>
              <a:rPr sz="1000" b="0" i="0">
                <a:solidFill>
                  <a:srgbClr val="1E2430"/>
                </a:solidFill>
                <a:latin typeface="Calibri"/>
              </a:rPr>
              <a:t>, Leakage Int.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.199</a:t>
            </a:r>
            <a:r>
              <a:rPr sz="1000" b="0" i="0">
                <a:solidFill>
                  <a:srgbClr val="1E2430"/>
                </a:solidFill>
                <a:latin typeface="Calibri"/>
              </a:rPr>
              <a:t>, Slot F1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.778</a:t>
            </a:r>
          </a:p>
          <a:p>
            <a:pPr>
              <a:spcAft>
                <a:spcPts val="400"/>
              </a:spcAft>
            </a:pPr>
            <a:r>
              <a:rPr sz="1000" b="0" i="0">
                <a:solidFill>
                  <a:srgbClr val="1E2430"/>
                </a:solidFill>
                <a:latin typeface="Calibri"/>
              </a:rPr>
              <a:t>    ▪ • RQ4 Log Turns Prompt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.793</a:t>
            </a:r>
            <a:r>
              <a:rPr sz="1000" b="0" i="0">
                <a:solidFill>
                  <a:srgbClr val="1E2430"/>
                </a:solidFill>
                <a:latin typeface="Calibri"/>
              </a:rPr>
              <a:t>, Interaction η&lt;sub&gt;</a:t>
            </a:r>
            <a:r>
              <a:rPr sz="1000" b="0" i="1">
                <a:solidFill>
                  <a:srgbClr val="1E2430"/>
                </a:solidFill>
                <a:latin typeface="Calibri"/>
              </a:rPr>
              <a:t>p</a:t>
            </a:r>
            <a:r>
              <a:rPr sz="1000" b="0" i="0">
                <a:solidFill>
                  <a:srgbClr val="1E2430"/>
                </a:solidFill>
                <a:latin typeface="Calibri"/>
              </a:rPr>
              <a:t>&lt;/sub&gt;&lt;sup&gt;2&lt;/sup&gt; = </a:t>
            </a:r>
            <a:r>
              <a:rPr sz="1000" b="1" i="0">
                <a:solidFill>
                  <a:srgbClr val="1E2430"/>
                </a:solidFill>
                <a:latin typeface="Calibri"/>
              </a:rPr>
              <a:t>.111</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0.35)</a:t>
            </a:r>
          </a:p>
          <a:p>
            <a:pPr>
              <a:spcAft>
                <a:spcPts val="400"/>
              </a:spcAft>
            </a:pPr>
            <a:r>
              <a:rPr sz="1000" b="0" i="0">
                <a:solidFill>
                  <a:srgbClr val="1E2430"/>
                </a:solidFill>
                <a:latin typeface="Calibri"/>
              </a:rPr>
              <a:t>    ▪ → Achieved post-hoc power &gt; </a:t>
            </a:r>
            <a:r>
              <a:rPr sz="1000" b="1" i="0">
                <a:solidFill>
                  <a:srgbClr val="1E2430"/>
                </a:solidFill>
                <a:latin typeface="Calibri"/>
              </a:rPr>
              <a:t>.99</a:t>
            </a:r>
            <a:r>
              <a:rPr sz="1000" b="0" i="0">
                <a:solidFill>
                  <a:srgbClr val="1E2430"/>
                </a:solidFill>
                <a:latin typeface="Calibri"/>
              </a:rPr>
              <a:t> on all primary main effects and &gt; </a:t>
            </a:r>
            <a:r>
              <a:rPr sz="1000" b="1" i="0">
                <a:solidFill>
                  <a:srgbClr val="1E2430"/>
                </a:solidFill>
                <a:latin typeface="Calibri"/>
              </a:rPr>
              <a:t>.95</a:t>
            </a:r>
            <a:r>
              <a:rPr sz="1000" b="0" i="0">
                <a:solidFill>
                  <a:srgbClr val="1E2430"/>
                </a:solidFill>
                <a:latin typeface="Calibri"/>
              </a:rPr>
              <a:t> on interactions!</a:t>
            </a:r>
          </a:p>
          <a:p>
            <a:pPr>
              <a:spcAft>
                <a:spcPts val="400"/>
              </a:spcAft>
            </a:pPr>
            <a:r>
              <a:rPr sz="1019" b="0" i="0">
                <a:solidFill>
                  <a:srgbClr val="1E2430"/>
                </a:solidFill>
                <a:latin typeface="Calibri"/>
              </a:rPr>
              <a:t>• </a:t>
            </a:r>
            <a:r>
              <a:rPr sz="1019" b="1" i="0">
                <a:solidFill>
                  <a:srgbClr val="1E2430"/>
                </a:solidFill>
                <a:latin typeface="Calibri"/>
              </a:rPr>
              <a:t>2. How We Handled Violations of Normality &amp; Homoscedasticity:</a:t>
            </a:r>
          </a:p>
          <a:p>
            <a:pPr>
              <a:spcAft>
                <a:spcPts val="400"/>
              </a:spcAft>
            </a:pPr>
            <a:r>
              <a:rPr sz="1000" b="0" i="0">
                <a:solidFill>
                  <a:srgbClr val="1E2430"/>
                </a:solidFill>
                <a:latin typeface="Calibri"/>
              </a:rPr>
              <a:t>    ▪ Classical ANOVA assumes normal residuals and equal cell variances. Because RQ3/RQ4 rates are bounded in [0, 1], we did NOT rely on normality alone: we ran </a:t>
            </a:r>
            <a:r>
              <a:rPr sz="1000" b="1" i="0">
                <a:solidFill>
                  <a:srgbClr val="1E2430"/>
                </a:solidFill>
                <a:latin typeface="Calibri"/>
              </a:rPr>
              <a:t>Welch / HC3 sandwich estimators</a:t>
            </a:r>
            <a:r>
              <a:rPr sz="1000" b="0" i="0">
                <a:solidFill>
                  <a:srgbClr val="1E2430"/>
                </a:solidFill>
                <a:latin typeface="Calibri"/>
              </a:rPr>
              <a:t> and </a:t>
            </a:r>
            <a:r>
              <a:rPr sz="1000" b="1" i="0">
                <a:solidFill>
                  <a:srgbClr val="1E2430"/>
                </a:solidFill>
                <a:latin typeface="Calibri"/>
              </a:rPr>
              <a:t>Aligned Rank Transform (ART) / Friedman / Kruskal–Wallis</a:t>
            </a:r>
            <a:r>
              <a:rPr sz="1000" b="0" i="0">
                <a:solidFill>
                  <a:srgbClr val="1E2430"/>
                </a:solidFill>
                <a:latin typeface="Calibri"/>
              </a:rPr>
              <a:t> tests.</a:t>
            </a:r>
          </a:p>
          <a:p>
            <a:pPr>
              <a:spcAft>
                <a:spcPts val="400"/>
              </a:spcAft>
            </a:pPr>
            <a:r>
              <a:rPr sz="1019" b="0" i="0">
                <a:solidFill>
                  <a:srgbClr val="1E2430"/>
                </a:solidFill>
                <a:latin typeface="Calibri"/>
              </a:rPr>
              <a:t>• </a:t>
            </a:r>
            <a:r>
              <a:rPr sz="1019" b="1" i="0">
                <a:solidFill>
                  <a:srgbClr val="1E2430"/>
                </a:solidFill>
                <a:latin typeface="Calibri"/>
              </a:rPr>
              <a:t>3. How the +18% Buffer Saved RQ2 Under Sphericity Departure:</a:t>
            </a:r>
          </a:p>
          <a:p>
            <a:pPr>
              <a:spcAft>
                <a:spcPts val="400"/>
              </a:spcAft>
            </a:pPr>
            <a:r>
              <a:rPr sz="1000" b="0" i="0">
                <a:solidFill>
                  <a:srgbClr val="1E2430"/>
                </a:solidFill>
                <a:latin typeface="Calibri"/>
              </a:rPr>
              <a:t>    ▪ In RQ2 pacing error, Greenhouse–Geisser ε was 0.65 (reducing effective </a:t>
            </a:r>
            <a:r>
              <a:rPr sz="1000" b="0" i="1">
                <a:solidFill>
                  <a:srgbClr val="1E2430"/>
                </a:solidFill>
                <a:latin typeface="Calibri"/>
              </a:rPr>
              <a:t>df</a:t>
            </a:r>
            <a:r>
              <a:rPr sz="1000" b="0" i="0">
                <a:solidFill>
                  <a:srgbClr val="1E2430"/>
                </a:solidFill>
                <a:latin typeface="Calibri"/>
              </a:rPr>
              <a:t> from 2, 64 to 1.30, 41.70). Because we buffered </a:t>
            </a:r>
            <a:r>
              <a:rPr sz="1000" b="0" i="1">
                <a:solidFill>
                  <a:srgbClr val="1E2430"/>
                </a:solidFill>
                <a:latin typeface="Calibri"/>
              </a:rPr>
              <a:t>N</a:t>
            </a:r>
            <a:r>
              <a:rPr sz="1000" b="0" i="0">
                <a:solidFill>
                  <a:srgbClr val="1E2430"/>
                </a:solidFill>
                <a:latin typeface="Calibri"/>
              </a:rPr>
              <a:t> from 28 to 33, the GG-adjusted test still achieved </a:t>
            </a:r>
            <a:r>
              <a:rPr sz="1000" b="0" i="1">
                <a:solidFill>
                  <a:srgbClr val="1E2430"/>
                </a:solidFill>
                <a:latin typeface="Calibri"/>
              </a:rPr>
              <a:t>p</a:t>
            </a:r>
            <a:r>
              <a:rPr sz="1000" b="0" i="0">
                <a:solidFill>
                  <a:srgbClr val="1E2430"/>
                </a:solidFill>
                <a:latin typeface="Calibri"/>
              </a:rPr>
              <a:t> = .007!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7: ANTICIPATED DEFENSE Q&amp;A BANK</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36</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Defense Q&amp;A #2 &amp; #3: 'What Prior Research Did You Use, and What Is Uniquely Yours?'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Clear demarcation between inherited scientific building blocks and the five original contributions of this study</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70" cy="5074920"/>
        </p:xfrm>
        <a:graphic>
          <a:graphicData uri="http://schemas.openxmlformats.org/drawingml/2006/table">
            <a:tbl>
              <a:tblPr firstRow="1" bandRow="1">
                <a:tableStyleId>{5C22544A-7EE6-4342-B048-85BDC9FD1C3A}</a:tableStyleId>
              </a:tblPr>
              <a:tblGrid>
                <a:gridCol w="2016469"/>
                <a:gridCol w="4307912"/>
                <a:gridCol w="5224489"/>
              </a:tblGrid>
              <a:tr h="1014984">
                <a:tc>
                  <a:txBody>
                    <a:bodyPr/>
                    <a:lstStyle/>
                    <a:p>
                      <a:pPr algn="l"/>
                      <a:r>
                        <a:rPr sz="1100" b="1" i="0">
                          <a:solidFill>
                            <a:srgbClr val="FFFFFF"/>
                          </a:solidFill>
                          <a:latin typeface="Calibri"/>
                        </a:rPr>
                        <a:t>Scientific Component</a:t>
                      </a:r>
                    </a:p>
                  </a:txBody>
                  <a:tcPr anchor="ctr" marL="54864" marR="54864" marT="27432" marB="27432">
                    <a:solidFill>
                      <a:srgbClr val="14325C"/>
                    </a:solidFill>
                  </a:tcPr>
                </a:tc>
                <a:tc>
                  <a:txBody>
                    <a:bodyPr/>
                    <a:lstStyle/>
                    <a:p>
                      <a:pPr algn="l"/>
                      <a:r>
                        <a:rPr sz="1100" b="1" i="0">
                          <a:solidFill>
                            <a:srgbClr val="FFFFFF"/>
                          </a:solidFill>
                          <a:latin typeface="Calibri"/>
                        </a:rPr>
                        <a:t>Q2: What Prior Research We Used &amp; How We Applied It</a:t>
                      </a:r>
                    </a:p>
                  </a:txBody>
                  <a:tcPr anchor="ctr" marL="54864" marR="54864" marT="27432" marB="27432">
                    <a:solidFill>
                      <a:srgbClr val="14325C"/>
                    </a:solidFill>
                  </a:tcPr>
                </a:tc>
                <a:tc>
                  <a:txBody>
                    <a:bodyPr/>
                    <a:lstStyle/>
                    <a:p>
                      <a:pPr algn="l"/>
                      <a:r>
                        <a:rPr sz="1100" b="1" i="0">
                          <a:solidFill>
                            <a:srgbClr val="FFFFFF"/>
                          </a:solidFill>
                          <a:latin typeface="Calibri"/>
                        </a:rPr>
                        <a:t>Q3: What Is Uniquely Original in This Study (Never Done in Prior Literature)</a:t>
                      </a:r>
                    </a:p>
                  </a:txBody>
                  <a:tcPr anchor="ctr" marL="54864" marR="54864" marT="27432" marB="27432">
                    <a:solidFill>
                      <a:srgbClr val="14325C"/>
                    </a:solidFill>
                  </a:tcPr>
                </a:tc>
              </a:tr>
              <a:tr h="1014984">
                <a:tc>
                  <a:txBody>
                    <a:bodyPr/>
                    <a:lstStyle/>
                    <a:p>
                      <a:pPr algn="l"/>
                      <a:r>
                        <a:rPr sz="1000" b="1" i="0">
                          <a:solidFill>
                            <a:srgbClr val="1E2430"/>
                          </a:solidFill>
                          <a:latin typeface="Calibri"/>
                        </a:rPr>
                        <a:t>1. User Trajectory Representation &amp; Archetype Discovery (RQ1)</a:t>
                      </a:r>
                    </a:p>
                  </a:txBody>
                  <a:tcPr anchor="ctr" marL="54864" marR="54864" marT="22860" marB="22860">
                    <a:solidFill>
                      <a:srgbClr val="E1F3E8"/>
                    </a:solidFill>
                  </a:tcPr>
                </a:tc>
                <a:tc>
                  <a:txBody>
                    <a:bodyPr/>
                    <a:lstStyle/>
                    <a:p>
                      <a:pPr algn="l"/>
                      <a:r>
                        <a:rPr sz="1000" b="1" i="0">
                          <a:solidFill>
                            <a:srgbClr val="1E2430"/>
                          </a:solidFill>
                          <a:latin typeface="Calibri"/>
                        </a:rPr>
                        <a:t>Used </a:t>
                      </a:r>
                      <a:r>
                        <a:rPr sz="1000" b="1" i="0">
                          <a:solidFill>
                            <a:srgbClr val="1E2430"/>
                          </a:solidFill>
                          <a:latin typeface="Calibri"/>
                        </a:rPr>
                        <a:t>Sentence-BERT</a:t>
                      </a:r>
                      <a:r>
                        <a:rPr sz="1000" b="1" i="0">
                          <a:solidFill>
                            <a:srgbClr val="1E2430"/>
                          </a:solidFill>
                          <a:latin typeface="Calibri"/>
                        </a:rPr>
                        <a:t> (Reimers &amp; Gurevych, 2019), </a:t>
                      </a:r>
                      <a:r>
                        <a:rPr sz="1000" b="1" i="0">
                          <a:solidFill>
                            <a:srgbClr val="1E2430"/>
                          </a:solidFill>
                          <a:latin typeface="Calibri"/>
                        </a:rPr>
                        <a:t>Gemini 3,072-d Embeddings</a:t>
                      </a:r>
                      <a:r>
                        <a:rPr sz="1000" b="1" i="0">
                          <a:solidFill>
                            <a:srgbClr val="1E2430"/>
                          </a:solidFill>
                          <a:latin typeface="Calibri"/>
                        </a:rPr>
                        <a:t> (Lee et al., 2025), </a:t>
                      </a:r>
                      <a:r>
                        <a:rPr sz="1000" b="1" i="0">
                          <a:solidFill>
                            <a:srgbClr val="1E2430"/>
                          </a:solidFill>
                          <a:latin typeface="Calibri"/>
                        </a:rPr>
                        <a:t>K-Means / Ward / HDBSCAN</a:t>
                      </a:r>
                      <a:r>
                        <a:rPr sz="1000" b="1" i="0">
                          <a:solidFill>
                            <a:srgbClr val="1E2430"/>
                          </a:solidFill>
                          <a:latin typeface="Calibri"/>
                        </a:rPr>
                        <a:t> (McInnes et al., 2017), </a:t>
                      </a:r>
                      <a:r>
                        <a:rPr sz="1000" b="1" i="0">
                          <a:solidFill>
                            <a:srgbClr val="1E2430"/>
                          </a:solidFill>
                          <a:latin typeface="Calibri"/>
                        </a:rPr>
                        <a:t>Bootstrap ARI</a:t>
                      </a:r>
                      <a:r>
                        <a:rPr sz="1000" b="1" i="0">
                          <a:solidFill>
                            <a:srgbClr val="1E2430"/>
                          </a:solidFill>
                          <a:latin typeface="Calibri"/>
                        </a:rPr>
                        <a:t> (Hennig, 2007), and </a:t>
                      </a:r>
                      <a:r>
                        <a:rPr sz="1000" b="1" i="0">
                          <a:solidFill>
                            <a:srgbClr val="1E2430"/>
                          </a:solidFill>
                          <a:latin typeface="Calibri"/>
                        </a:rPr>
                        <a:t>zero-temp LLM rating reliability</a:t>
                      </a:r>
                      <a:r>
                        <a:rPr sz="1000" b="1" i="0">
                          <a:solidFill>
                            <a:srgbClr val="1E2430"/>
                          </a:solidFill>
                          <a:latin typeface="Calibri"/>
                        </a:rPr>
                        <a:t> (Gilardi et al., 2023).</a:t>
                      </a:r>
                    </a:p>
                  </a:txBody>
                  <a:tcPr anchor="ctr" marL="54864" marR="54864" marT="22860" marB="22860">
                    <a:solidFill>
                      <a:srgbClr val="E1F3E8"/>
                    </a:solidFill>
                  </a:tcPr>
                </a:tc>
                <a:tc>
                  <a:txBody>
                    <a:bodyPr/>
                    <a:lstStyle/>
                    <a:p>
                      <a:pPr algn="l"/>
                      <a:r>
                        <a:rPr sz="1000" b="1" i="0">
                          <a:solidFill>
                            <a:srgbClr val="1E2430"/>
                          </a:solidFill>
                          <a:latin typeface="Calibri"/>
                        </a:rPr>
                        <a:t>Original Contribution 1:</a:t>
                      </a:r>
                      <a:r>
                        <a:rPr sz="1000" b="1" i="0">
                          <a:solidFill>
                            <a:srgbClr val="1E2430"/>
                          </a:solidFill>
                          <a:latin typeface="Calibri"/>
                        </a:rPr>
                        <a:t> Discovered that whole-dialogue clustering in consultative travel is confounded by wizard identity (</a:t>
                      </a:r>
                      <a:r>
                        <a:rPr sz="1000" b="1" i="1">
                          <a:solidFill>
                            <a:srgbClr val="1E2430"/>
                          </a:solidFill>
                          <a:latin typeface="Calibri"/>
                        </a:rPr>
                        <a:t>V</a:t>
                      </a:r>
                      <a:r>
                        <a:rPr sz="1000" b="1" i="0">
                          <a:solidFill>
                            <a:srgbClr val="1E2430"/>
                          </a:solidFill>
                          <a:latin typeface="Calibri"/>
                        </a:rPr>
                        <a:t> = .45) and session outcome (</a:t>
                      </a:r>
                      <a:r>
                        <a:rPr sz="1000" b="1" i="1">
                          <a:solidFill>
                            <a:srgbClr val="1E2430"/>
                          </a:solidFill>
                          <a:latin typeface="Calibri"/>
                        </a:rPr>
                        <a:t>V</a:t>
                      </a:r>
                      <a:r>
                        <a:rPr sz="1000" b="1" i="0">
                          <a:solidFill>
                            <a:srgbClr val="1E2430"/>
                          </a:solidFill>
                          <a:latin typeface="Calibri"/>
                        </a:rPr>
                        <a:t> = .29). Invented the </a:t>
                      </a:r>
                      <a:r>
                        <a:rPr sz="1000" b="1" i="0">
                          <a:solidFill>
                            <a:srgbClr val="1E2430"/>
                          </a:solidFill>
                          <a:latin typeface="Calibri"/>
                        </a:rPr>
                        <a:t>prefix-truncated (M = 9 user messages) hybrid `Blocks` representation</a:t>
                      </a:r>
                      <a:r>
                        <a:rPr sz="1000" b="1" i="0">
                          <a:solidFill>
                            <a:srgbClr val="1E2430"/>
                          </a:solidFill>
                          <a:latin typeface="Calibri"/>
                        </a:rPr>
                        <a:t> (PCA-20 Gemini prefix + 16-field LLM behavioral codebook) and `RefinedArchetypeRouter`, achieving </a:t>
                      </a:r>
                      <a:r>
                        <a:rPr sz="1000" b="1" i="0">
                          <a:solidFill>
                            <a:srgbClr val="1E2430"/>
                          </a:solidFill>
                          <a:latin typeface="Calibri"/>
                        </a:rPr>
                        <a:t>ARI = .76</a:t>
                      </a:r>
                      <a:r>
                        <a:rPr sz="1000" b="1" i="0">
                          <a:solidFill>
                            <a:srgbClr val="1E2430"/>
                          </a:solidFill>
                          <a:latin typeface="Calibri"/>
                        </a:rPr>
                        <a:t> and out-of-sample prefix routing of </a:t>
                      </a:r>
                      <a:r>
                        <a:rPr sz="1000" b="1" i="0">
                          <a:solidFill>
                            <a:srgbClr val="1E2430"/>
                          </a:solidFill>
                          <a:latin typeface="Calibri"/>
                        </a:rPr>
                        <a:t>κ = .535 (M=5) to .958 (M=9)</a:t>
                      </a:r>
                      <a:r>
                        <a:rPr sz="1000" b="1" i="0">
                          <a:solidFill>
                            <a:srgbClr val="1E2430"/>
                          </a:solidFill>
                          <a:latin typeface="Calibri"/>
                        </a:rPr>
                        <a:t>.</a:t>
                      </a:r>
                    </a:p>
                  </a:txBody>
                  <a:tcPr anchor="ctr" marL="54864" marR="54864" marT="22860" marB="22860">
                    <a:solidFill>
                      <a:srgbClr val="E1F3E8"/>
                    </a:solidFill>
                  </a:tcPr>
                </a:tc>
              </a:tr>
              <a:tr h="1014984">
                <a:tc>
                  <a:txBody>
                    <a:bodyPr/>
                    <a:lstStyle/>
                    <a:p>
                      <a:pPr algn="l"/>
                      <a:r>
                        <a:rPr sz="1000" b="1" i="0">
                          <a:solidFill>
                            <a:srgbClr val="1E2430"/>
                          </a:solidFill>
                          <a:latin typeface="Calibri"/>
                        </a:rPr>
                        <a:t>2. Archetype-Routed In-Context Learning (RQ2)</a:t>
                      </a:r>
                    </a:p>
                  </a:txBody>
                  <a:tcPr anchor="ctr" marL="54864" marR="54864" marT="22860" marB="22860">
                    <a:solidFill>
                      <a:srgbClr val="E1F3E8"/>
                    </a:solidFill>
                  </a:tcPr>
                </a:tc>
                <a:tc>
                  <a:txBody>
                    <a:bodyPr/>
                    <a:lstStyle/>
                    <a:p>
                      <a:pPr algn="l"/>
                      <a:r>
                        <a:rPr sz="1000" b="1" i="0">
                          <a:solidFill>
                            <a:srgbClr val="1E2430"/>
                          </a:solidFill>
                          <a:latin typeface="Calibri"/>
                        </a:rPr>
                        <a:t>Built upon </a:t>
                      </a:r>
                      <a:r>
                        <a:rPr sz="1000" b="1" i="0">
                          <a:solidFill>
                            <a:srgbClr val="1E2430"/>
                          </a:solidFill>
                          <a:latin typeface="Calibri"/>
                        </a:rPr>
                        <a:t>few-shot in-context learning</a:t>
                      </a:r>
                      <a:r>
                        <a:rPr sz="1000" b="1" i="0">
                          <a:solidFill>
                            <a:srgbClr val="1E2430"/>
                          </a:solidFill>
                          <a:latin typeface="Calibri"/>
                        </a:rPr>
                        <a:t> (Brown et al., 2020), </a:t>
                      </a:r>
                      <a:r>
                        <a:rPr sz="1000" b="1" i="0">
                          <a:solidFill>
                            <a:srgbClr val="1E2430"/>
                          </a:solidFill>
                          <a:latin typeface="Calibri"/>
                        </a:rPr>
                        <a:t>KATE nearest-neighbor example selection</a:t>
                      </a:r>
                      <a:r>
                        <a:rPr sz="1000" b="1" i="0">
                          <a:solidFill>
                            <a:srgbClr val="1E2430"/>
                          </a:solidFill>
                          <a:latin typeface="Calibri"/>
                        </a:rPr>
                        <a:t> (Liu et al., 2022), </a:t>
                      </a:r>
                      <a:r>
                        <a:rPr sz="1000" b="1" i="0">
                          <a:solidFill>
                            <a:srgbClr val="1E2430"/>
                          </a:solidFill>
                          <a:latin typeface="Calibri"/>
                        </a:rPr>
                        <a:t>FAISS vector indexing</a:t>
                      </a:r>
                      <a:r>
                        <a:rPr sz="1000" b="1" i="0">
                          <a:solidFill>
                            <a:srgbClr val="1E2430"/>
                          </a:solidFill>
                          <a:latin typeface="Calibri"/>
                        </a:rPr>
                        <a:t> (Johnson et al., 2021), and </a:t>
                      </a:r>
                      <a:r>
                        <a:rPr sz="1000" b="1" i="0">
                          <a:solidFill>
                            <a:srgbClr val="1E2430"/>
                          </a:solidFill>
                          <a:latin typeface="Calibri"/>
                        </a:rPr>
                        <a:t>BERTScore</a:t>
                      </a:r>
                      <a:r>
                        <a:rPr sz="1000" b="1" i="0">
                          <a:solidFill>
                            <a:srgbClr val="1E2430"/>
                          </a:solidFill>
                          <a:latin typeface="Calibri"/>
                        </a:rPr>
                        <a:t> (Zhang et al., 2020).</a:t>
                      </a:r>
                    </a:p>
                  </a:txBody>
                  <a:tcPr anchor="ctr" marL="54864" marR="54864" marT="22860" marB="22860">
                    <a:solidFill>
                      <a:srgbClr val="E1F3E8"/>
                    </a:solidFill>
                  </a:tcPr>
                </a:tc>
                <a:tc>
                  <a:txBody>
                    <a:bodyPr/>
                    <a:lstStyle/>
                    <a:p>
                      <a:pPr algn="l"/>
                      <a:r>
                        <a:rPr sz="1000" b="1" i="0">
                          <a:solidFill>
                            <a:srgbClr val="1E2430"/>
                          </a:solidFill>
                          <a:latin typeface="Calibri"/>
                        </a:rPr>
                        <a:t>Original Contribution 2:</a:t>
                      </a:r>
                      <a:r>
                        <a:rPr sz="1000" b="1" i="0">
                          <a:solidFill>
                            <a:srgbClr val="1E2430"/>
                          </a:solidFill>
                          <a:latin typeface="Calibri"/>
                        </a:rPr>
                        <a:t> Partitioned FAISS into </a:t>
                      </a:r>
                      <a:r>
                        <a:rPr sz="1000" b="1" i="0">
                          <a:solidFill>
                            <a:srgbClr val="1E2430"/>
                          </a:solidFill>
                          <a:latin typeface="Calibri"/>
                        </a:rPr>
                        <a:t>archetype-specific sub-indices with `[SLOT]` masking</a:t>
                      </a:r>
                      <a:r>
                        <a:rPr sz="1000" b="1" i="0">
                          <a:solidFill>
                            <a:srgbClr val="1E2430"/>
                          </a:solidFill>
                          <a:latin typeface="Calibri"/>
                        </a:rPr>
                        <a:t> and proved a </a:t>
                      </a:r>
                      <a:r>
                        <a:rPr sz="1000" b="1" i="0">
                          <a:solidFill>
                            <a:srgbClr val="1E2430"/>
                          </a:solidFill>
                          <a:latin typeface="Calibri"/>
                        </a:rPr>
                        <a:t>causal boundary condition</a:t>
                      </a:r>
                      <a:r>
                        <a:rPr sz="1000" b="1" i="0">
                          <a:solidFill>
                            <a:srgbClr val="1E2430"/>
                          </a:solidFill>
                          <a:latin typeface="Calibri"/>
                        </a:rPr>
                        <a:t> by contrasting Primary (</a:t>
                      </a:r>
                      <a:r>
                        <a:rPr sz="1000" b="1" i="1">
                          <a:solidFill>
                            <a:srgbClr val="1E2430"/>
                          </a:solidFill>
                          <a:latin typeface="Calibri"/>
                        </a:rPr>
                        <a:t>p</a:t>
                      </a:r>
                      <a:r>
                        <a:rPr sz="1000" b="1" i="0">
                          <a:solidFill>
                            <a:srgbClr val="1E2430"/>
                          </a:solidFill>
                          <a:latin typeface="Calibri"/>
                        </a:rPr>
                        <a:t> = .211) vs. Refined (</a:t>
                      </a:r>
                      <a:r>
                        <a:rPr sz="1000" b="1" i="1">
                          <a:solidFill>
                            <a:srgbClr val="1E2430"/>
                          </a:solidFill>
                          <a:latin typeface="Calibri"/>
                        </a:rPr>
                        <a:t>p</a:t>
                      </a:r>
                      <a:r>
                        <a:rPr sz="1000" b="1" i="0">
                          <a:solidFill>
                            <a:srgbClr val="1E2430"/>
                          </a:solidFill>
                          <a:latin typeface="Calibri"/>
                        </a:rPr>
                        <a:t> &lt; .001) archetypes: dynamic exemplar retrieval improves style (+31.8% over static, </a:t>
                      </a:r>
                      <a:r>
                        <a:rPr sz="1000" b="1" i="1">
                          <a:solidFill>
                            <a:srgbClr val="1E2430"/>
                          </a:solidFill>
                          <a:latin typeface="Calibri"/>
                        </a:rPr>
                        <a:t>d&lt;sub&gt;z&lt;/sub&gt;</a:t>
                      </a:r>
                      <a:r>
                        <a:rPr sz="1000" b="1" i="0">
                          <a:solidFill>
                            <a:srgbClr val="1E2430"/>
                          </a:solidFill>
                          <a:latin typeface="Calibri"/>
                        </a:rPr>
                        <a:t> = 0.74) and pacing (3.87w error) </a:t>
                      </a:r>
                      <a:r>
                        <a:rPr sz="1000" b="1" i="1">
                          <a:solidFill>
                            <a:srgbClr val="1E2430"/>
                          </a:solidFill>
                          <a:latin typeface="Calibri"/>
                        </a:rPr>
                        <a:t>only when upstream prefix routing exceeds κ &gt; .50</a:t>
                      </a:r>
                      <a:r>
                        <a:rPr sz="1000" b="1" i="0">
                          <a:solidFill>
                            <a:srgbClr val="1E2430"/>
                          </a:solidFill>
                          <a:latin typeface="Calibri"/>
                        </a:rPr>
                        <a:t>.</a:t>
                      </a:r>
                    </a:p>
                  </a:txBody>
                  <a:tcPr anchor="ctr" marL="54864" marR="54864" marT="22860" marB="22860">
                    <a:solidFill>
                      <a:srgbClr val="E1F3E8"/>
                    </a:solidFill>
                  </a:tcPr>
                </a:tc>
              </a:tr>
              <a:tr h="1014984">
                <a:tc>
                  <a:txBody>
                    <a:bodyPr/>
                    <a:lstStyle/>
                    <a:p>
                      <a:pPr algn="l"/>
                      <a:r>
                        <a:rPr sz="1000" b="1" i="0">
                          <a:solidFill>
                            <a:srgbClr val="1E2430"/>
                          </a:solidFill>
                          <a:latin typeface="Calibri"/>
                        </a:rPr>
                        <a:t>3. Neuro-Symbolic Policy Verification &amp; Leakage Control (RQ3)</a:t>
                      </a:r>
                    </a:p>
                  </a:txBody>
                  <a:tcPr anchor="ctr" marL="54864" marR="54864" marT="22860" marB="22860">
                    <a:solidFill>
                      <a:srgbClr val="E1F3E8"/>
                    </a:solidFill>
                  </a:tcPr>
                </a:tc>
                <a:tc>
                  <a:txBody>
                    <a:bodyPr/>
                    <a:lstStyle/>
                    <a:p>
                      <a:pPr algn="l"/>
                      <a:r>
                        <a:rPr sz="1000" b="1" i="0">
                          <a:solidFill>
                            <a:srgbClr val="1E2430"/>
                          </a:solidFill>
                          <a:latin typeface="Calibri"/>
                        </a:rPr>
                        <a:t>Drew motivation from </a:t>
                      </a:r>
                      <a:r>
                        <a:rPr sz="1000" b="1" i="0">
                          <a:solidFill>
                            <a:srgbClr val="1E2430"/>
                          </a:solidFill>
                          <a:latin typeface="Calibri"/>
                        </a:rPr>
                        <a:t>NeMo Guardrails</a:t>
                      </a:r>
                      <a:r>
                        <a:rPr sz="1000" b="1" i="0">
                          <a:solidFill>
                            <a:srgbClr val="1E2430"/>
                          </a:solidFill>
                          <a:latin typeface="Calibri"/>
                        </a:rPr>
                        <a:t> (Rebedea et al., 2023), </a:t>
                      </a:r>
                      <a:r>
                        <a:rPr sz="1000" b="1" i="0">
                          <a:solidFill>
                            <a:srgbClr val="1E2430"/>
                          </a:solidFill>
                          <a:latin typeface="Calibri"/>
                        </a:rPr>
                        <a:t>τ-bench policy failure benchmarks</a:t>
                      </a:r>
                      <a:r>
                        <a:rPr sz="1000" b="1" i="0">
                          <a:solidFill>
                            <a:srgbClr val="1E2430"/>
                          </a:solidFill>
                          <a:latin typeface="Calibri"/>
                        </a:rPr>
                        <a:t> (Yao et al., 2024), and </a:t>
                      </a:r>
                      <a:r>
                        <a:rPr sz="1000" b="1" i="0">
                          <a:solidFill>
                            <a:srgbClr val="1E2430"/>
                          </a:solidFill>
                          <a:latin typeface="Calibri"/>
                        </a:rPr>
                        <a:t>TD-EVAL</a:t>
                      </a:r>
                      <a:r>
                        <a:rPr sz="1000" b="1" i="0">
                          <a:solidFill>
                            <a:srgbClr val="1E2430"/>
                          </a:solidFill>
                          <a:latin typeface="Calibri"/>
                        </a:rPr>
                        <a:t> (Acikgoz et al., 2025).</a:t>
                      </a:r>
                    </a:p>
                  </a:txBody>
                  <a:tcPr anchor="ctr" marL="54864" marR="54864" marT="22860" marB="22860">
                    <a:solidFill>
                      <a:srgbClr val="E1F3E8"/>
                    </a:solidFill>
                  </a:tcPr>
                </a:tc>
                <a:tc>
                  <a:txBody>
                    <a:bodyPr/>
                    <a:lstStyle/>
                    <a:p>
                      <a:pPr algn="l"/>
                      <a:r>
                        <a:rPr sz="1000" b="1" i="0">
                          <a:solidFill>
                            <a:srgbClr val="1E2430"/>
                          </a:solidFill>
                          <a:latin typeface="Calibri"/>
                        </a:rPr>
                        <a:t>Original Contribution 3:</a:t>
                      </a:r>
                      <a:r>
                        <a:rPr sz="1000" b="1" i="0">
                          <a:solidFill>
                            <a:srgbClr val="1E2430"/>
                          </a:solidFill>
                          <a:latin typeface="Calibri"/>
                        </a:rPr>
                        <a:t> Executed the first </a:t>
                      </a:r>
                      <a:r>
                        <a:rPr sz="1000" b="1" i="0">
                          <a:solidFill>
                            <a:srgbClr val="1E2430"/>
                          </a:solidFill>
                          <a:latin typeface="Calibri"/>
                        </a:rPr>
                        <a:t>2 × 2 factorial experiment crossing declarative rule verification with cluster-adaptive prompting</a:t>
                      </a:r>
                      <a:r>
                        <a:rPr sz="1000" b="1" i="0">
                          <a:solidFill>
                            <a:srgbClr val="1E2430"/>
                          </a:solidFill>
                          <a:latin typeface="Calibri"/>
                        </a:rPr>
                        <a:t>. Quantified the </a:t>
                      </a:r>
                      <a:r>
                        <a:rPr sz="1000" b="1" i="0">
                          <a:solidFill>
                            <a:srgbClr val="1E2430"/>
                          </a:solidFill>
                          <a:latin typeface="Calibri"/>
                        </a:rPr>
                        <a:t>35.9% exemplar entity leakage hazard</a:t>
                      </a:r>
                      <a:r>
                        <a:rPr sz="1000" b="1" i="0">
                          <a:solidFill>
                            <a:srgbClr val="1E2430"/>
                          </a:solidFill>
                          <a:latin typeface="Calibri"/>
                        </a:rPr>
                        <a:t> (55.6% incidence) of unguarded few-shot prompting and proved a significant interaction (</a:t>
                      </a:r>
                      <a:r>
                        <a:rPr sz="1000" b="1" i="1">
                          <a:solidFill>
                            <a:srgbClr val="1E2430"/>
                          </a:solidFill>
                          <a:latin typeface="Calibri"/>
                        </a:rPr>
                        <a:t>F</a:t>
                      </a:r>
                      <a:r>
                        <a:rPr sz="1000" b="1" i="0">
                          <a:solidFill>
                            <a:srgbClr val="1E2430"/>
                          </a:solidFill>
                          <a:latin typeface="Calibri"/>
                        </a:rPr>
                        <a:t> = 34.82, </a:t>
                      </a:r>
                      <a:r>
                        <a:rPr sz="1000" b="1" i="1">
                          <a:solidFill>
                            <a:srgbClr val="1E2430"/>
                          </a:solidFill>
                          <a:latin typeface="Calibri"/>
                        </a:rPr>
                        <a:t>p</a:t>
                      </a:r>
                      <a:r>
                        <a:rPr sz="1000" b="1" i="0">
                          <a:solidFill>
                            <a:srgbClr val="1E2430"/>
                          </a:solidFill>
                          <a:latin typeface="Calibri"/>
                        </a:rPr>
                        <a:t> &lt; .001) where symbolic verification reduces leakage to </a:t>
                      </a:r>
                      <a:r>
                        <a:rPr sz="1000" b="1" i="0">
                          <a:solidFill>
                            <a:srgbClr val="1E2430"/>
                          </a:solidFill>
                          <a:latin typeface="Calibri"/>
                        </a:rPr>
                        <a:t>0.0%</a:t>
                      </a:r>
                      <a:r>
                        <a:rPr sz="1000" b="1" i="0">
                          <a:solidFill>
                            <a:srgbClr val="1E2430"/>
                          </a:solidFill>
                          <a:latin typeface="Calibri"/>
                        </a:rPr>
                        <a:t> while raising violation enforcement from </a:t>
                      </a:r>
                      <a:r>
                        <a:rPr sz="1000" b="1" i="0">
                          <a:solidFill>
                            <a:srgbClr val="1E2430"/>
                          </a:solidFill>
                          <a:latin typeface="Calibri"/>
                        </a:rPr>
                        <a:t>5.6% to 98.6%</a:t>
                      </a:r>
                      <a:r>
                        <a:rPr sz="1000" b="1" i="0">
                          <a:solidFill>
                            <a:srgbClr val="1E2430"/>
                          </a:solidFill>
                          <a:latin typeface="Calibri"/>
                        </a:rPr>
                        <a:t>.</a:t>
                      </a:r>
                    </a:p>
                  </a:txBody>
                  <a:tcPr anchor="ctr" marL="54864" marR="54864" marT="22860" marB="22860">
                    <a:solidFill>
                      <a:srgbClr val="E1F3E8"/>
                    </a:solidFill>
                  </a:tcPr>
                </a:tc>
              </a:tr>
              <a:tr h="1014984">
                <a:tc>
                  <a:txBody>
                    <a:bodyPr/>
                    <a:lstStyle/>
                    <a:p>
                      <a:pPr algn="l"/>
                      <a:r>
                        <a:rPr sz="1000" b="1" i="0">
                          <a:solidFill>
                            <a:srgbClr val="1E2430"/>
                          </a:solidFill>
                          <a:latin typeface="Calibri"/>
                        </a:rPr>
                        <a:t>4. Multi-Turn Turn Economy &amp; Slot Ledger (RQ4)</a:t>
                      </a:r>
                    </a:p>
                  </a:txBody>
                  <a:tcPr anchor="ctr" marL="54864" marR="54864" marT="22860" marB="22860">
                    <a:solidFill>
                      <a:srgbClr val="E1F3E8"/>
                    </a:solidFill>
                  </a:tcPr>
                </a:tc>
                <a:tc>
                  <a:txBody>
                    <a:bodyPr/>
                    <a:lstStyle/>
                    <a:p>
                      <a:pPr algn="l"/>
                      <a:r>
                        <a:rPr sz="1000" b="1" i="0">
                          <a:solidFill>
                            <a:srgbClr val="1E2430"/>
                          </a:solidFill>
                          <a:latin typeface="Calibri"/>
                        </a:rPr>
                        <a:t>Built on </a:t>
                      </a:r>
                      <a:r>
                        <a:rPr sz="1000" b="1" i="0">
                          <a:solidFill>
                            <a:srgbClr val="1E2430"/>
                          </a:solidFill>
                          <a:latin typeface="Calibri"/>
                        </a:rPr>
                        <a:t>hospitality service ROI theory</a:t>
                      </a:r>
                      <a:r>
                        <a:rPr sz="1000" b="1" i="0">
                          <a:solidFill>
                            <a:srgbClr val="1E2430"/>
                          </a:solidFill>
                          <a:latin typeface="Calibri"/>
                        </a:rPr>
                        <a:t> (Buhalis &amp; Sinarta, 2019; Ivanov &amp; Webster, 2019; Melián-González et al., 2021) and </a:t>
                      </a:r>
                      <a:r>
                        <a:rPr sz="1000" b="1" i="0">
                          <a:solidFill>
                            <a:srgbClr val="1E2430"/>
                          </a:solidFill>
                          <a:latin typeface="Calibri"/>
                        </a:rPr>
                        <a:t>travel agency interaction analysis</a:t>
                      </a:r>
                      <a:r>
                        <a:rPr sz="1000" b="1" i="0">
                          <a:solidFill>
                            <a:srgbClr val="1E2430"/>
                          </a:solidFill>
                          <a:latin typeface="Calibri"/>
                        </a:rPr>
                        <a:t> (Inaba et al., 2022).</a:t>
                      </a:r>
                    </a:p>
                  </a:txBody>
                  <a:tcPr anchor="ctr" marL="54864" marR="54864" marT="22860" marB="22860">
                    <a:solidFill>
                      <a:srgbClr val="E1F3E8"/>
                    </a:solidFill>
                  </a:tcPr>
                </a:tc>
                <a:tc>
                  <a:txBody>
                    <a:bodyPr/>
                    <a:lstStyle/>
                    <a:p>
                      <a:pPr algn="l"/>
                      <a:r>
                        <a:rPr sz="1000" b="1" i="0">
                          <a:solidFill>
                            <a:srgbClr val="1E2430"/>
                          </a:solidFill>
                          <a:latin typeface="Calibri"/>
                        </a:rPr>
                        <a:t>Original Contribution 4:</a:t>
                      </a:r>
                      <a:r>
                        <a:rPr sz="1000" b="1" i="0">
                          <a:solidFill>
                            <a:srgbClr val="1E2430"/>
                          </a:solidFill>
                          <a:latin typeface="Calibri"/>
                        </a:rPr>
                        <a:t> Designed the </a:t>
                      </a:r>
                      <a:r>
                        <a:rPr sz="1000" b="1" i="0">
                          <a:solidFill>
                            <a:srgbClr val="1E2430"/>
                          </a:solidFill>
                          <a:latin typeface="Calibri"/>
                        </a:rPr>
                        <a:t>Verified Informed Slot Ledger + Archetype-Specific Turn-Economy Policy</a:t>
                      </a:r>
                      <a:r>
                        <a:rPr sz="1000" b="1" i="0">
                          <a:solidFill>
                            <a:srgbClr val="1E2430"/>
                          </a:solidFill>
                          <a:latin typeface="Calibri"/>
                        </a:rPr>
                        <a:t> and proved a </a:t>
                      </a:r>
                      <a:r>
                        <a:rPr sz="1000" b="1" i="0">
                          <a:solidFill>
                            <a:srgbClr val="1E2430"/>
                          </a:solidFill>
                          <a:latin typeface="Calibri"/>
                        </a:rPr>
                        <a:t>2 × 3 Prompting × Archetype interaction (F = 10.89, p &lt; .001)</a:t>
                      </a:r>
                      <a:r>
                        <a:rPr sz="1000" b="1" i="0">
                          <a:solidFill>
                            <a:srgbClr val="1E2430"/>
                          </a:solidFill>
                          <a:latin typeface="Calibri"/>
                        </a:rPr>
                        <a:t>: compressing multi-turn sessions by </a:t>
                      </a:r>
                      <a:r>
                        <a:rPr sz="1000" b="1" i="0">
                          <a:solidFill>
                            <a:srgbClr val="1E2430"/>
                          </a:solidFill>
                          <a:latin typeface="Calibri"/>
                        </a:rPr>
                        <a:t>29.5% to 42.7%</a:t>
                      </a:r>
                      <a:r>
                        <a:rPr sz="1000" b="1" i="0">
                          <a:solidFill>
                            <a:srgbClr val="1E2430"/>
                          </a:solidFill>
                          <a:latin typeface="Calibri"/>
                        </a:rPr>
                        <a:t> (largest gain for </a:t>
                      </a:r>
                      <a:r>
                        <a:rPr sz="1000" b="1" i="1">
                          <a:solidFill>
                            <a:srgbClr val="1E2430"/>
                          </a:solidFill>
                          <a:latin typeface="Calibri"/>
                        </a:rPr>
                        <a:t>Rigid-Constraint Seekers</a:t>
                      </a:r>
                      <a:r>
                        <a:rPr sz="1000" b="1" i="0">
                          <a:solidFill>
                            <a:srgbClr val="1E2430"/>
                          </a:solidFill>
                          <a:latin typeface="Calibri"/>
                        </a:rPr>
                        <a:t>, </a:t>
                      </a:r>
                      <a:r>
                        <a:rPr sz="1000" b="1" i="1">
                          <a:solidFill>
                            <a:srgbClr val="1E2430"/>
                          </a:solidFill>
                          <a:latin typeface="Calibri"/>
                        </a:rPr>
                        <a:t>d</a:t>
                      </a:r>
                      <a:r>
                        <a:rPr sz="1000" b="1" i="0">
                          <a:solidFill>
                            <a:srgbClr val="1E2430"/>
                          </a:solidFill>
                          <a:latin typeface="Calibri"/>
                        </a:rPr>
                        <a:t> = −3.40) and eliminating redundant slot questions (</a:t>
                      </a:r>
                      <a:r>
                        <a:rPr sz="1000" b="1" i="0">
                          <a:solidFill>
                            <a:srgbClr val="1E2430"/>
                          </a:solidFill>
                          <a:latin typeface="Calibri"/>
                        </a:rPr>
                        <a:t>RER .109 → .000</a:t>
                      </a:r>
                      <a:r>
                        <a:rPr sz="1000" b="1" i="0">
                          <a:solidFill>
                            <a:srgbClr val="1E2430"/>
                          </a:solidFill>
                          <a:latin typeface="Calibri"/>
                        </a:rPr>
                        <a:t>).</a:t>
                      </a:r>
                    </a:p>
                  </a:txBody>
                  <a:tcPr anchor="ctr" marL="54864" marR="54864" marT="22860" marB="22860">
                    <a:solidFill>
                      <a:srgbClr val="E1F3E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7: ANTICIPATED DEFENSE Q&amp;A BANK</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37</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Defense Q&amp;A #4: 'What Is the Authenticity of the Datasets &amp; Do They Match Your Research?'</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Addressing corpus provenance, why they were created, why they fit, and how we handled their structural boundaries</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1. Authenticity &amp; Original Purpose of the Two Datasets</a:t>
            </a:r>
          </a:p>
        </p:txBody>
      </p:sp>
      <p:sp>
        <p:nvSpPr>
          <p:cNvPr id="13" name="TextBox 12"/>
          <p:cNvSpPr txBox="1"/>
          <p:nvPr/>
        </p:nvSpPr>
        <p:spPr>
          <a:xfrm>
            <a:off x="411479" y="1755648"/>
            <a:ext cx="5440680" cy="454456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Microsoft Frames (El Asri et al., 2017 — Maluuba / Microsoft Research):</a:t>
            </a:r>
          </a:p>
          <a:p>
            <a:pPr>
              <a:spcAft>
                <a:spcPts val="400"/>
              </a:spcAft>
            </a:pPr>
            <a:r>
              <a:rPr sz="1000" b="0" i="0">
                <a:solidFill>
                  <a:srgbClr val="1E2430"/>
                </a:solidFill>
                <a:latin typeface="Calibri"/>
              </a:rPr>
              <a:t>    ▪ </a:t>
            </a:r>
            <a:r>
              <a:rPr sz="1000" b="1" i="0">
                <a:solidFill>
                  <a:srgbClr val="1E2430"/>
                </a:solidFill>
                <a:latin typeface="Calibri"/>
              </a:rPr>
              <a:t>Authenticity:</a:t>
            </a:r>
            <a:r>
              <a:rPr sz="1000" b="0" i="0">
                <a:solidFill>
                  <a:srgbClr val="1E2430"/>
                </a:solidFill>
                <a:latin typeface="Calibri"/>
              </a:rPr>
              <a:t> 100% real human–human dialogues (1,369 sessions, 19,986 turns) collected over 20 days between trained human travel agents ('wizards' with live inventory access) and human travelers.</a:t>
            </a:r>
          </a:p>
          <a:p>
            <a:pPr>
              <a:spcAft>
                <a:spcPts val="400"/>
              </a:spcAft>
            </a:pPr>
            <a:r>
              <a:rPr sz="1000" b="0" i="0">
                <a:solidFill>
                  <a:srgbClr val="1E2430"/>
                </a:solidFill>
                <a:latin typeface="Calibri"/>
              </a:rPr>
              <a:t>    ▪ </a:t>
            </a:r>
            <a:r>
              <a:rPr sz="1000" b="1" i="0">
                <a:solidFill>
                  <a:srgbClr val="1E2430"/>
                </a:solidFill>
                <a:latin typeface="Calibri"/>
              </a:rPr>
              <a:t>Original Purpose:</a:t>
            </a:r>
            <a:r>
              <a:rPr sz="1000" b="0" i="0">
                <a:solidFill>
                  <a:srgbClr val="1E2430"/>
                </a:solidFill>
                <a:latin typeface="Calibri"/>
              </a:rPr>
              <a:t> Created specifically to move beyond simple slot-filling and capture </a:t>
            </a:r>
            <a:r>
              <a:rPr sz="1000" b="1" i="0">
                <a:solidFill>
                  <a:srgbClr val="1E2430"/>
                </a:solidFill>
                <a:latin typeface="Calibri"/>
              </a:rPr>
              <a:t>multi-turn consultative vacation package negotiation, budget trade-offs, and non-linear frame-switching</a:t>
            </a:r>
            <a:r>
              <a:rPr sz="1000" b="0" i="0">
                <a:solidFill>
                  <a:srgbClr val="1E2430"/>
                </a:solidFill>
                <a:latin typeface="Calibri"/>
              </a:rPr>
              <a:t>.</a:t>
            </a:r>
          </a:p>
          <a:p>
            <a:pPr>
              <a:spcAft>
                <a:spcPts val="400"/>
              </a:spcAft>
            </a:pPr>
            <a:r>
              <a:rPr sz="1050" b="0" i="0">
                <a:solidFill>
                  <a:srgbClr val="1E2430"/>
                </a:solidFill>
                <a:latin typeface="Calibri"/>
              </a:rPr>
              <a:t>• </a:t>
            </a:r>
            <a:r>
              <a:rPr sz="1050" b="1" i="0">
                <a:solidFill>
                  <a:srgbClr val="1E2430"/>
                </a:solidFill>
                <a:latin typeface="Calibri"/>
              </a:rPr>
              <a:t>MultiWOZ 2.2 (Budzianowski et al., 2018; Zang et al., 2020 — Cambridge / Google):</a:t>
            </a:r>
          </a:p>
          <a:p>
            <a:pPr>
              <a:spcAft>
                <a:spcPts val="400"/>
              </a:spcAft>
            </a:pPr>
            <a:r>
              <a:rPr sz="1000" b="0" i="0">
                <a:solidFill>
                  <a:srgbClr val="1E2430"/>
                </a:solidFill>
                <a:latin typeface="Calibri"/>
              </a:rPr>
              <a:t>    ▪ </a:t>
            </a:r>
            <a:r>
              <a:rPr sz="1000" b="1" i="0">
                <a:solidFill>
                  <a:srgbClr val="1E2430"/>
                </a:solidFill>
                <a:latin typeface="Calibri"/>
              </a:rPr>
              <a:t>Authenticity:</a:t>
            </a:r>
            <a:r>
              <a:rPr sz="1000" b="0" i="0">
                <a:solidFill>
                  <a:srgbClr val="1E2430"/>
                </a:solidFill>
                <a:latin typeface="Calibri"/>
              </a:rPr>
              <a:t> Peer-reviewed ACL/EMNLP standard benchmark (10,438 human–human dialogues; 1,499 analytic travel subset used here) with Google-verified slot span annotations.</a:t>
            </a:r>
          </a:p>
          <a:p>
            <a:pPr>
              <a:spcAft>
                <a:spcPts val="400"/>
              </a:spcAft>
            </a:pPr>
            <a:r>
              <a:rPr sz="1000" b="0" i="0">
                <a:solidFill>
                  <a:srgbClr val="1E2430"/>
                </a:solidFill>
                <a:latin typeface="Calibri"/>
              </a:rPr>
              <a:t>    ▪ </a:t>
            </a:r>
            <a:r>
              <a:rPr sz="1000" b="1" i="0">
                <a:solidFill>
                  <a:srgbClr val="1E2430"/>
                </a:solidFill>
                <a:latin typeface="Calibri"/>
              </a:rPr>
              <a:t>Original Purpose:</a:t>
            </a:r>
            <a:r>
              <a:rPr sz="1000" b="0" i="0">
                <a:solidFill>
                  <a:srgbClr val="1E2430"/>
                </a:solidFill>
                <a:latin typeface="Calibri"/>
              </a:rPr>
              <a:t> Created to benchmark supervised multi-domain Dialogue State Tracking (DST) across local city services (hotel, train, taxi, attraction).</a:t>
            </a:r>
          </a:p>
        </p:txBody>
      </p:sp>
      <p:sp>
        <p:nvSpPr>
          <p:cNvPr id="14" name="Rounded Rectangle 13"/>
          <p:cNvSpPr/>
          <p:nvPr/>
        </p:nvSpPr>
        <p:spPr>
          <a:xfrm>
            <a:off x="6217920" y="1371600"/>
            <a:ext cx="5650992"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2. Why They Match Our Research—and How We Addressed Boundaries</a:t>
            </a:r>
          </a:p>
        </p:txBody>
      </p:sp>
      <p:sp>
        <p:nvSpPr>
          <p:cNvPr id="16" name="TextBox 15"/>
          <p:cNvSpPr txBox="1"/>
          <p:nvPr/>
        </p:nvSpPr>
        <p:spPr>
          <a:xfrm>
            <a:off x="6309359" y="1755648"/>
            <a:ext cx="5468112" cy="4544568"/>
          </a:xfrm>
          <a:prstGeom prst="rect">
            <a:avLst/>
          </a:prstGeom>
          <a:noFill/>
        </p:spPr>
        <p:txBody>
          <a:bodyPr wrap="square" lIns="36576" rIns="36576" tIns="18288" bIns="18288">
            <a:spAutoFit/>
          </a:bodyPr>
          <a:lstStyle/>
          <a:p>
            <a:pPr>
              <a:spcAft>
                <a:spcPts val="400"/>
              </a:spcAft>
            </a:pPr>
            <a:r>
              <a:rPr sz="1050" b="0" i="0">
                <a:solidFill>
                  <a:srgbClr val="1E2430"/>
                </a:solidFill>
                <a:latin typeface="Calibri"/>
              </a:rPr>
              <a:t>• </a:t>
            </a:r>
            <a:r>
              <a:rPr sz="1050" b="1" i="0">
                <a:solidFill>
                  <a:srgbClr val="1E2430"/>
                </a:solidFill>
                <a:latin typeface="Calibri"/>
              </a:rPr>
              <a:t>Why Microsoft Frames Is the Ideal Match for RQ1–RQ4:</a:t>
            </a:r>
          </a:p>
          <a:p>
            <a:pPr>
              <a:spcAft>
                <a:spcPts val="400"/>
              </a:spcAft>
            </a:pPr>
            <a:r>
              <a:rPr sz="1000" b="0" i="0">
                <a:solidFill>
                  <a:srgbClr val="1E2430"/>
                </a:solidFill>
                <a:latin typeface="Calibri"/>
              </a:rPr>
              <a:t>    ▪ Unlike synthetic LLM-generated datasets, Frames contains natural human decision-making heterogeneity—hesitations, price bargaining, city comparisons, and 25.8% unbooked sessions—allowing authentic discovery of </a:t>
            </a:r>
            <a:r>
              <a:rPr sz="1000" b="0" i="1">
                <a:solidFill>
                  <a:srgbClr val="1E2430"/>
                </a:solidFill>
                <a:latin typeface="Calibri"/>
              </a:rPr>
              <a:t>Decisive Bookers</a:t>
            </a:r>
            <a:r>
              <a:rPr sz="1000" b="0" i="0">
                <a:solidFill>
                  <a:srgbClr val="1E2430"/>
                </a:solidFill>
                <a:latin typeface="Calibri"/>
              </a:rPr>
              <a:t>, </a:t>
            </a:r>
            <a:r>
              <a:rPr sz="1000" b="0" i="1">
                <a:solidFill>
                  <a:srgbClr val="1E2430"/>
                </a:solidFill>
                <a:latin typeface="Calibri"/>
              </a:rPr>
              <a:t>Open Explorers</a:t>
            </a:r>
            <a:r>
              <a:rPr sz="1000" b="0" i="0">
                <a:solidFill>
                  <a:srgbClr val="1E2430"/>
                </a:solidFill>
                <a:latin typeface="Calibri"/>
              </a:rPr>
              <a:t>, and </a:t>
            </a:r>
            <a:r>
              <a:rPr sz="1000" b="0" i="1">
                <a:solidFill>
                  <a:srgbClr val="1E2430"/>
                </a:solidFill>
                <a:latin typeface="Calibri"/>
              </a:rPr>
              <a:t>Rigid-Constraint Seekers</a:t>
            </a:r>
            <a:r>
              <a:rPr sz="1000" b="0" i="0">
                <a:solidFill>
                  <a:srgbClr val="1E2430"/>
                </a:solidFill>
                <a:latin typeface="Calibri"/>
              </a:rPr>
              <a:t>.</a:t>
            </a:r>
          </a:p>
          <a:p>
            <a:pPr>
              <a:spcAft>
                <a:spcPts val="400"/>
              </a:spcAft>
            </a:pPr>
            <a:r>
              <a:rPr sz="1050" b="0" i="0">
                <a:solidFill>
                  <a:srgbClr val="1E2430"/>
                </a:solidFill>
                <a:latin typeface="Calibri"/>
              </a:rPr>
              <a:t>• </a:t>
            </a:r>
            <a:r>
              <a:rPr sz="1050" b="1" i="0">
                <a:solidFill>
                  <a:srgbClr val="1E2430"/>
                </a:solidFill>
                <a:latin typeface="Calibri"/>
              </a:rPr>
              <a:t>Why MultiWOZ 2.2 Is the Ideal External Contrast:</a:t>
            </a:r>
          </a:p>
          <a:p>
            <a:pPr>
              <a:spcAft>
                <a:spcPts val="400"/>
              </a:spcAft>
            </a:pPr>
            <a:r>
              <a:rPr sz="1000" b="0" i="0">
                <a:solidFill>
                  <a:srgbClr val="1E2430"/>
                </a:solidFill>
                <a:latin typeface="Calibri"/>
              </a:rPr>
              <a:t>    ▪ Because MultiWOZ has transactional city bookings without flight+hotel package bargaining, our RQ1 transfer check (</a:t>
            </a:r>
            <a:r>
              <a:rPr sz="1000" b="0" i="1">
                <a:solidFill>
                  <a:srgbClr val="1E2430"/>
                </a:solidFill>
                <a:latin typeface="Calibri"/>
              </a:rPr>
              <a:t>t</a:t>
            </a:r>
            <a:r>
              <a:rPr sz="1000" b="0" i="0">
                <a:solidFill>
                  <a:srgbClr val="1E2430"/>
                </a:solidFill>
                <a:latin typeface="Calibri"/>
              </a:rPr>
              <a:t> = 28.08, </a:t>
            </a:r>
            <a:r>
              <a:rPr sz="1000" b="0" i="1">
                <a:solidFill>
                  <a:srgbClr val="1E2430"/>
                </a:solidFill>
                <a:latin typeface="Calibri"/>
              </a:rPr>
              <a:t>p</a:t>
            </a:r>
            <a:r>
              <a:rPr sz="1000" b="0" i="0">
                <a:solidFill>
                  <a:srgbClr val="1E2430"/>
                </a:solidFill>
                <a:latin typeface="Calibri"/>
              </a:rPr>
              <a:t> &lt; .001) empirically proves that consultative travel archetypes are distinct from generic slot-filling.</a:t>
            </a:r>
          </a:p>
          <a:p>
            <a:pPr>
              <a:spcAft>
                <a:spcPts val="400"/>
              </a:spcAft>
            </a:pPr>
            <a:r>
              <a:rPr sz="1050" b="0" i="0">
                <a:solidFill>
                  <a:srgbClr val="1E2430"/>
                </a:solidFill>
                <a:latin typeface="Calibri"/>
              </a:rPr>
              <a:t>• </a:t>
            </a:r>
            <a:r>
              <a:rPr sz="1050" b="1" i="0">
                <a:solidFill>
                  <a:srgbClr val="1E2430"/>
                </a:solidFill>
                <a:latin typeface="Calibri"/>
              </a:rPr>
              <a:t>How We Transparently Bridged Two Corpus Boundaries:</a:t>
            </a:r>
          </a:p>
          <a:p>
            <a:pPr>
              <a:spcAft>
                <a:spcPts val="400"/>
              </a:spcAft>
            </a:pPr>
            <a:r>
              <a:rPr sz="1000" b="0" i="0">
                <a:solidFill>
                  <a:srgbClr val="1E2430"/>
                </a:solidFill>
                <a:latin typeface="Calibri"/>
              </a:rPr>
              <a:t>    ▪ </a:t>
            </a:r>
            <a:r>
              <a:rPr sz="1000" b="1" i="0">
                <a:solidFill>
                  <a:srgbClr val="1E2430"/>
                </a:solidFill>
                <a:latin typeface="Calibri"/>
              </a:rPr>
              <a:t>Boundary A (Tier-2 Enterprise Rules):</a:t>
            </a:r>
            <a:r>
              <a:rPr sz="1000" b="0" i="0">
                <a:solidFill>
                  <a:srgbClr val="1E2430"/>
                </a:solidFill>
                <a:latin typeface="Calibri"/>
              </a:rPr>
              <a:t> Public corpora do not log visa windows or passport expiry (0% in Table E1/E4). We preserved the exact held-out Frames user prefixes and injected controlled, seeded Tier-2 states in RQ3.</a:t>
            </a:r>
          </a:p>
          <a:p>
            <a:pPr>
              <a:spcAft>
                <a:spcPts val="400"/>
              </a:spcAft>
            </a:pPr>
            <a:r>
              <a:rPr sz="1000" b="0" i="0">
                <a:solidFill>
                  <a:srgbClr val="1E2430"/>
                </a:solidFill>
                <a:latin typeface="Calibri"/>
              </a:rPr>
              <a:t>    ▪ </a:t>
            </a:r>
            <a:r>
              <a:rPr sz="1000" b="1" i="0">
                <a:solidFill>
                  <a:srgbClr val="1E2430"/>
                </a:solidFill>
                <a:latin typeface="Calibri"/>
              </a:rPr>
              <a:t>Boundary B (Interactive Multi-Turn Evaluation in RQ4):</a:t>
            </a:r>
            <a:r>
              <a:rPr sz="1000" b="0" i="0">
                <a:solidFill>
                  <a:srgbClr val="1E2430"/>
                </a:solidFill>
                <a:latin typeface="Calibri"/>
              </a:rPr>
              <a:t> Static corpus logs cannot reply to new chatbot actions. We seeded persona simulators from real held-out Frames trip goals and proved </a:t>
            </a:r>
            <a:r>
              <a:rPr sz="1000" b="1" i="0">
                <a:solidFill>
                  <a:srgbClr val="1E2430"/>
                </a:solidFill>
                <a:latin typeface="Calibri"/>
              </a:rPr>
              <a:t>95.6% persona fidelity (κ = .933)</a:t>
            </a:r>
            <a:r>
              <a:rPr sz="1000" b="0" i="0">
                <a:solidFill>
                  <a:srgbClr val="1E2430"/>
                </a:solidFill>
                <a:latin typeface="Calibri"/>
              </a:rPr>
              <a:t> via blind `gemini-2.5-pro` audit.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7: ANTICIPATED DEFENSE Q&amp;A BANK</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38</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Defense Q&amp;A #5 &amp; #6: Judge Independence, Cold-Start Routing &amp; Model Choice</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Prepared answers for deep technical questions from AI/ML and systems faculty</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3703320"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37033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Q5: 'Isn't Using an LLM Judge Circular or Biased?'</a:t>
            </a:r>
          </a:p>
        </p:txBody>
      </p:sp>
      <p:sp>
        <p:nvSpPr>
          <p:cNvPr id="13" name="TextBox 12"/>
          <p:cNvSpPr txBox="1"/>
          <p:nvPr/>
        </p:nvSpPr>
        <p:spPr>
          <a:xfrm>
            <a:off x="411479" y="1755648"/>
            <a:ext cx="3520439" cy="4544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Three-Layer Defense Against Judge Bias:</a:t>
            </a:r>
          </a:p>
          <a:p>
            <a:pPr>
              <a:spcAft>
                <a:spcPts val="400"/>
              </a:spcAft>
            </a:pPr>
            <a:r>
              <a:rPr sz="1000" b="0" i="0">
                <a:solidFill>
                  <a:srgbClr val="1E2430"/>
                </a:solidFill>
                <a:latin typeface="Calibri"/>
              </a:rPr>
              <a:t>• </a:t>
            </a:r>
            <a:r>
              <a:rPr sz="1000" b="1" i="0">
                <a:solidFill>
                  <a:srgbClr val="1E2430"/>
                </a:solidFill>
                <a:latin typeface="Calibri"/>
              </a:rPr>
              <a:t>1. Deterministic Primary Metrics:</a:t>
            </a:r>
          </a:p>
          <a:p>
            <a:pPr>
              <a:spcAft>
                <a:spcPts val="400"/>
              </a:spcAft>
            </a:pPr>
            <a:r>
              <a:rPr sz="1000" b="0" i="0">
                <a:solidFill>
                  <a:srgbClr val="1E2430"/>
                </a:solidFill>
                <a:latin typeface="Calibri"/>
              </a:rPr>
              <a:t>    ▪ In RQ1, Silhouette, DB, and ARI are 100% mathematical. In RQ2, SBERT cosine (`all-MiniLM-L6-v2`) and BERTScore (`roberta-large`) use independent non-Gemini encoders! In RQ3 &amp; RQ4, Exemplar Leakage, Slot F1, Turns, and RER are computed by </a:t>
            </a:r>
            <a:r>
              <a:rPr sz="1000" b="1" i="0">
                <a:solidFill>
                  <a:srgbClr val="1E2430"/>
                </a:solidFill>
                <a:latin typeface="Calibri"/>
              </a:rPr>
              <a:t>deterministic Python regex/set verifiers</a:t>
            </a:r>
            <a:r>
              <a:rPr sz="1000" b="0" i="0">
                <a:solidFill>
                  <a:srgbClr val="1E2430"/>
                </a:solidFill>
                <a:latin typeface="Calibri"/>
              </a:rPr>
              <a:t> (`src/final_pipeline/metrics.py`).</a:t>
            </a:r>
          </a:p>
          <a:p>
            <a:pPr>
              <a:spcAft>
                <a:spcPts val="400"/>
              </a:spcAft>
            </a:pPr>
            <a:r>
              <a:rPr sz="1000" b="0" i="0">
                <a:solidFill>
                  <a:srgbClr val="1E2430"/>
                </a:solidFill>
                <a:latin typeface="Calibri"/>
              </a:rPr>
              <a:t>• </a:t>
            </a:r>
            <a:r>
              <a:rPr sz="1000" b="1" i="0">
                <a:solidFill>
                  <a:srgbClr val="1E2430"/>
                </a:solidFill>
                <a:latin typeface="Calibri"/>
              </a:rPr>
              <a:t>2. Cross-Model Dual-Judge Audit (RQ3):</a:t>
            </a:r>
          </a:p>
          <a:p>
            <a:pPr>
              <a:spcAft>
                <a:spcPts val="400"/>
              </a:spcAft>
            </a:pPr>
            <a:r>
              <a:rPr sz="1000" b="0" i="0">
                <a:solidFill>
                  <a:srgbClr val="1E2430"/>
                </a:solidFill>
                <a:latin typeface="Calibri"/>
              </a:rPr>
              <a:t>    ▪ We cross-checked `gemini-2.5-flash` against the larger independent `gemini-2.5-pro` judge on </a:t>
            </a:r>
            <a:r>
              <a:rPr sz="1000" b="0" i="1">
                <a:solidFill>
                  <a:srgbClr val="1E2430"/>
                </a:solidFill>
                <a:latin typeface="Calibri"/>
              </a:rPr>
              <a:t>n</a:t>
            </a:r>
            <a:r>
              <a:rPr sz="1000" b="0" i="0">
                <a:solidFill>
                  <a:srgbClr val="1E2430"/>
                </a:solidFill>
                <a:latin typeface="Calibri"/>
              </a:rPr>
              <a:t> = 48 units: </a:t>
            </a:r>
            <a:r>
              <a:rPr sz="1000" b="1" i="0">
                <a:solidFill>
                  <a:srgbClr val="1E2430"/>
                </a:solidFill>
                <a:latin typeface="Calibri"/>
              </a:rPr>
              <a:t>95.8% raw agreement, κ = .917</a:t>
            </a:r>
            <a:r>
              <a:rPr sz="1000" b="0" i="0">
                <a:solidFill>
                  <a:srgbClr val="1E2430"/>
                </a:solidFill>
                <a:latin typeface="Calibri"/>
              </a:rPr>
              <a:t>, and </a:t>
            </a:r>
            <a:r>
              <a:rPr sz="1000" b="1" i="0">
                <a:solidFill>
                  <a:srgbClr val="1E2430"/>
                </a:solidFill>
                <a:latin typeface="Calibri"/>
              </a:rPr>
              <a:t>93.1% agreement (κ = .861)</a:t>
            </a:r>
            <a:r>
              <a:rPr sz="1000" b="0" i="0">
                <a:solidFill>
                  <a:srgbClr val="1E2430"/>
                </a:solidFill>
                <a:latin typeface="Calibri"/>
              </a:rPr>
              <a:t> with deterministic regex verification.</a:t>
            </a:r>
          </a:p>
          <a:p>
            <a:pPr>
              <a:spcAft>
                <a:spcPts val="400"/>
              </a:spcAft>
            </a:pPr>
            <a:r>
              <a:rPr sz="1000" b="0" i="0">
                <a:solidFill>
                  <a:srgbClr val="1E2430"/>
                </a:solidFill>
                <a:latin typeface="Calibri"/>
              </a:rPr>
              <a:t>• </a:t>
            </a:r>
            <a:r>
              <a:rPr sz="1000" b="1" i="0">
                <a:solidFill>
                  <a:srgbClr val="1E2430"/>
                </a:solidFill>
                <a:latin typeface="Calibri"/>
              </a:rPr>
              <a:t>3. Blind Persona Audit (RQ4):</a:t>
            </a:r>
          </a:p>
          <a:p>
            <a:pPr>
              <a:spcAft>
                <a:spcPts val="400"/>
              </a:spcAft>
            </a:pPr>
            <a:r>
              <a:rPr sz="1000" b="0" i="0">
                <a:solidFill>
                  <a:srgbClr val="1E2430"/>
                </a:solidFill>
                <a:latin typeface="Calibri"/>
              </a:rPr>
              <a:t>    ▪ `gemini-2.5-pro` was completely blinded to archetype labels and still classified 43/45 simulated users correctly (</a:t>
            </a:r>
            <a:r>
              <a:rPr sz="1000" b="1" i="0">
                <a:solidFill>
                  <a:srgbClr val="1E2430"/>
                </a:solidFill>
                <a:latin typeface="Calibri"/>
              </a:rPr>
              <a:t>95.6%, κ = .933</a:t>
            </a:r>
            <a:r>
              <a:rPr sz="1000" b="0" i="0">
                <a:solidFill>
                  <a:srgbClr val="1E2430"/>
                </a:solidFill>
                <a:latin typeface="Calibri"/>
              </a:rPr>
              <a:t>).</a:t>
            </a:r>
          </a:p>
        </p:txBody>
      </p:sp>
      <p:sp>
        <p:nvSpPr>
          <p:cNvPr id="14" name="Rounded Rectangle 13"/>
          <p:cNvSpPr/>
          <p:nvPr/>
        </p:nvSpPr>
        <p:spPr>
          <a:xfrm>
            <a:off x="4206240" y="1371600"/>
            <a:ext cx="3749039"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1371600"/>
            <a:ext cx="3749039"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Q6: 'What Happens When Turns &lt; 9? How Long Are Frames Chats?'</a:t>
            </a:r>
          </a:p>
        </p:txBody>
      </p:sp>
      <p:sp>
        <p:nvSpPr>
          <p:cNvPr id="16" name="TextBox 15"/>
          <p:cNvSpPr txBox="1"/>
          <p:nvPr/>
        </p:nvSpPr>
        <p:spPr>
          <a:xfrm>
            <a:off x="4297679" y="1755648"/>
            <a:ext cx="3566159" cy="4544568"/>
          </a:xfrm>
          <a:prstGeom prst="rect">
            <a:avLst/>
          </a:prstGeom>
          <a:noFill/>
        </p:spPr>
        <p:txBody>
          <a:bodyPr wrap="square" lIns="36576" rIns="36576" tIns="18288" bIns="18288">
            <a:spAutoFit/>
          </a:bodyPr>
          <a:lstStyle/>
          <a:p>
            <a:pPr>
              <a:spcAft>
                <a:spcPts val="400"/>
              </a:spcAft>
            </a:pPr>
            <a:r>
              <a:rPr sz="950" b="0" i="0">
                <a:solidFill>
                  <a:srgbClr val="1E2430"/>
                </a:solidFill>
                <a:latin typeface="Calibri"/>
              </a:rPr>
              <a:t>• </a:t>
            </a:r>
            <a:r>
              <a:rPr sz="950" b="1" i="0">
                <a:solidFill>
                  <a:srgbClr val="1E2430"/>
                </a:solidFill>
                <a:latin typeface="Calibri"/>
              </a:rPr>
              <a:t>1. Total Turns (T) vs. User Messages (M) in Frames (N = 1,334):</a:t>
            </a:r>
          </a:p>
          <a:p>
            <a:pPr>
              <a:spcAft>
                <a:spcPts val="400"/>
              </a:spcAft>
            </a:pPr>
            <a:r>
              <a:rPr sz="1000" b="0" i="0">
                <a:solidFill>
                  <a:srgbClr val="1E2430"/>
                </a:solidFill>
                <a:latin typeface="Calibri"/>
              </a:rPr>
              <a:t>    ▪ Total turns (User + Agent) average </a:t>
            </a:r>
            <a:r>
              <a:rPr sz="1000" b="1" i="0">
                <a:solidFill>
                  <a:srgbClr val="1E2430"/>
                </a:solidFill>
                <a:latin typeface="Calibri"/>
              </a:rPr>
              <a:t>14.93 (Mdn = 14.0)</a:t>
            </a:r>
            <a:r>
              <a:rPr sz="1000" b="0" i="0">
                <a:solidFill>
                  <a:srgbClr val="1E2430"/>
                </a:solidFill>
                <a:latin typeface="Calibri"/>
              </a:rPr>
              <a:t>: </a:t>
            </a:r>
            <a:r>
              <a:rPr sz="1000" b="1" i="0">
                <a:solidFill>
                  <a:srgbClr val="1E2430"/>
                </a:solidFill>
                <a:latin typeface="Calibri"/>
              </a:rPr>
              <a:t>96.4% have ≥ 5 total turns</a:t>
            </a:r>
            <a:r>
              <a:rPr sz="1000" b="0" i="0">
                <a:solidFill>
                  <a:srgbClr val="1E2430"/>
                </a:solidFill>
                <a:latin typeface="Calibri"/>
              </a:rPr>
              <a:t> and </a:t>
            </a:r>
            <a:r>
              <a:rPr sz="1000" b="1" i="0">
                <a:solidFill>
                  <a:srgbClr val="1E2430"/>
                </a:solidFill>
                <a:latin typeface="Calibri"/>
              </a:rPr>
              <a:t>83.2% have ≥ 9 total turns (≥ 5 user msgs)</a:t>
            </a:r>
            <a:r>
              <a:rPr sz="1000" b="0" i="0">
                <a:solidFill>
                  <a:srgbClr val="1E2430"/>
                </a:solidFill>
                <a:latin typeface="Calibri"/>
              </a:rPr>
              <a:t>. User-only messages average 7.78 (37.6% ≥ 9 user msgs).</a:t>
            </a:r>
          </a:p>
          <a:p>
            <a:pPr>
              <a:spcAft>
                <a:spcPts val="400"/>
              </a:spcAft>
            </a:pPr>
            <a:r>
              <a:rPr sz="950" b="0" i="0">
                <a:solidFill>
                  <a:srgbClr val="1E2430"/>
                </a:solidFill>
                <a:latin typeface="Calibri"/>
              </a:rPr>
              <a:t>• </a:t>
            </a:r>
            <a:r>
              <a:rPr sz="950" b="1" i="0">
                <a:solidFill>
                  <a:srgbClr val="1E2430"/>
                </a:solidFill>
                <a:latin typeface="Calibri"/>
              </a:rPr>
              <a:t>2. Are Predictions Wrong When User Messages &lt; 9? No!</a:t>
            </a:r>
          </a:p>
          <a:p>
            <a:pPr>
              <a:spcAft>
                <a:spcPts val="400"/>
              </a:spcAft>
            </a:pPr>
            <a:r>
              <a:rPr sz="1000" b="0" i="0">
                <a:solidFill>
                  <a:srgbClr val="1E2430"/>
                </a:solidFill>
                <a:latin typeface="Calibri"/>
              </a:rPr>
              <a:t>    ▪ • </a:t>
            </a:r>
            <a:r>
              <a:rPr sz="1000" b="1" i="0">
                <a:solidFill>
                  <a:srgbClr val="1E2430"/>
                </a:solidFill>
                <a:latin typeface="Calibri"/>
              </a:rPr>
              <a:t>M = 3 user msgs (≈ 5 turns):</a:t>
            </a:r>
            <a:r>
              <a:rPr sz="1000" b="0" i="0">
                <a:solidFill>
                  <a:srgbClr val="1E2430"/>
                </a:solidFill>
                <a:latin typeface="Calibri"/>
              </a:rPr>
              <a:t> </a:t>
            </a:r>
            <a:r>
              <a:rPr sz="1000" b="1" i="0">
                <a:solidFill>
                  <a:srgbClr val="1E2430"/>
                </a:solidFill>
                <a:latin typeface="Calibri"/>
              </a:rPr>
              <a:t>59.4% overall (κ = .359)</a:t>
            </a:r>
            <a:r>
              <a:rPr sz="1000" b="0" i="0">
                <a:solidFill>
                  <a:srgbClr val="1E2430"/>
                </a:solidFill>
                <a:latin typeface="Calibri"/>
              </a:rPr>
              <a:t>; </a:t>
            </a:r>
            <a:r>
              <a:rPr sz="1000" b="1" i="0">
                <a:solidFill>
                  <a:srgbClr val="1E2430"/>
                </a:solidFill>
                <a:latin typeface="Calibri"/>
              </a:rPr>
              <a:t>87.5%</a:t>
            </a:r>
            <a:r>
              <a:rPr sz="1000" b="0" i="0">
                <a:solidFill>
                  <a:srgbClr val="1E2430"/>
                </a:solidFill>
                <a:latin typeface="Calibri"/>
              </a:rPr>
              <a:t> on short chats (&lt;3 user msgs).</a:t>
            </a:r>
          </a:p>
          <a:p>
            <a:pPr>
              <a:spcAft>
                <a:spcPts val="400"/>
              </a:spcAft>
            </a:pPr>
            <a:r>
              <a:rPr sz="1000" b="0" i="0">
                <a:solidFill>
                  <a:srgbClr val="1E2430"/>
                </a:solidFill>
                <a:latin typeface="Calibri"/>
              </a:rPr>
              <a:t>    ▪ • </a:t>
            </a:r>
            <a:r>
              <a:rPr sz="1000" b="1" i="0">
                <a:solidFill>
                  <a:srgbClr val="1E2430"/>
                </a:solidFill>
                <a:latin typeface="Calibri"/>
              </a:rPr>
              <a:t>M = 5 user msgs (≈ 9 turns — RQ2 Runtime):</a:t>
            </a:r>
            <a:r>
              <a:rPr sz="1000" b="0" i="0">
                <a:solidFill>
                  <a:srgbClr val="1E2430"/>
                </a:solidFill>
                <a:latin typeface="Calibri"/>
              </a:rPr>
              <a:t> </a:t>
            </a:r>
            <a:r>
              <a:rPr sz="1000" b="1" i="0">
                <a:solidFill>
                  <a:srgbClr val="1E2430"/>
                </a:solidFill>
                <a:latin typeface="Calibri"/>
              </a:rPr>
              <a:t>70.1% overall (κ = .535)</a:t>
            </a:r>
            <a:r>
              <a:rPr sz="1000" b="0" i="0">
                <a:solidFill>
                  <a:srgbClr val="1E2430"/>
                </a:solidFill>
                <a:latin typeface="Calibri"/>
              </a:rPr>
              <a:t>; </a:t>
            </a:r>
            <a:r>
              <a:rPr sz="1000" b="1" i="0">
                <a:solidFill>
                  <a:srgbClr val="1E2430"/>
                </a:solidFill>
                <a:latin typeface="Calibri"/>
              </a:rPr>
              <a:t>81.8%</a:t>
            </a:r>
            <a:r>
              <a:rPr sz="1000" b="0" i="0">
                <a:solidFill>
                  <a:srgbClr val="1E2430"/>
                </a:solidFill>
                <a:latin typeface="Calibri"/>
              </a:rPr>
              <a:t> on &lt;5-msg chats &amp; </a:t>
            </a:r>
            <a:r>
              <a:rPr sz="1000" b="1" i="0">
                <a:solidFill>
                  <a:srgbClr val="1E2430"/>
                </a:solidFill>
                <a:latin typeface="Calibri"/>
              </a:rPr>
              <a:t>67.8%</a:t>
            </a:r>
            <a:r>
              <a:rPr sz="1000" b="0" i="0">
                <a:solidFill>
                  <a:srgbClr val="1E2430"/>
                </a:solidFill>
                <a:latin typeface="Calibri"/>
              </a:rPr>
              <a:t> on ≥5-msg chats—sufficient to yield </a:t>
            </a:r>
            <a:r>
              <a:rPr sz="1000" b="0" i="1">
                <a:solidFill>
                  <a:srgbClr val="1E2430"/>
                </a:solidFill>
                <a:latin typeface="Calibri"/>
              </a:rPr>
              <a:t>p</a:t>
            </a:r>
            <a:r>
              <a:rPr sz="1000" b="0" i="0">
                <a:solidFill>
                  <a:srgbClr val="1E2430"/>
                </a:solidFill>
                <a:latin typeface="Calibri"/>
              </a:rPr>
              <a:t> &lt; .001 in RQ2!</a:t>
            </a:r>
          </a:p>
          <a:p>
            <a:pPr>
              <a:spcAft>
                <a:spcPts val="400"/>
              </a:spcAft>
            </a:pPr>
            <a:r>
              <a:rPr sz="1000" b="0" i="0">
                <a:solidFill>
                  <a:srgbClr val="1E2430"/>
                </a:solidFill>
                <a:latin typeface="Calibri"/>
              </a:rPr>
              <a:t>    ▪ • </a:t>
            </a:r>
            <a:r>
              <a:rPr sz="1000" b="1" i="0">
                <a:solidFill>
                  <a:srgbClr val="1E2430"/>
                </a:solidFill>
                <a:latin typeface="Calibri"/>
              </a:rPr>
              <a:t>M = 7 user msgs (≈ 13 turns):</a:t>
            </a:r>
            <a:r>
              <a:rPr sz="1000" b="0" i="0">
                <a:solidFill>
                  <a:srgbClr val="1E2430"/>
                </a:solidFill>
                <a:latin typeface="Calibri"/>
              </a:rPr>
              <a:t> </a:t>
            </a:r>
            <a:r>
              <a:rPr sz="1000" b="1" i="0">
                <a:solidFill>
                  <a:srgbClr val="1E2430"/>
                </a:solidFill>
                <a:latin typeface="Calibri"/>
              </a:rPr>
              <a:t>82.0% overall (κ = .722)</a:t>
            </a:r>
            <a:r>
              <a:rPr sz="1000" b="0" i="0">
                <a:solidFill>
                  <a:srgbClr val="1E2430"/>
                </a:solidFill>
                <a:latin typeface="Calibri"/>
              </a:rPr>
              <a:t>; </a:t>
            </a:r>
            <a:r>
              <a:rPr sz="1000" b="1" i="0">
                <a:solidFill>
                  <a:srgbClr val="1E2430"/>
                </a:solidFill>
                <a:latin typeface="Calibri"/>
              </a:rPr>
              <a:t>93.2%</a:t>
            </a:r>
            <a:r>
              <a:rPr sz="1000" b="0" i="0">
                <a:solidFill>
                  <a:srgbClr val="1E2430"/>
                </a:solidFill>
                <a:latin typeface="Calibri"/>
              </a:rPr>
              <a:t> on &lt;7-msg &amp; </a:t>
            </a:r>
            <a:r>
              <a:rPr sz="1000" b="1" i="0">
                <a:solidFill>
                  <a:srgbClr val="1E2430"/>
                </a:solidFill>
                <a:latin typeface="Calibri"/>
              </a:rPr>
              <a:t>74.6%</a:t>
            </a:r>
            <a:r>
              <a:rPr sz="1000" b="0" i="0">
                <a:solidFill>
                  <a:srgbClr val="1E2430"/>
                </a:solidFill>
                <a:latin typeface="Calibri"/>
              </a:rPr>
              <a:t> on ≥7-msg chats.</a:t>
            </a:r>
          </a:p>
          <a:p>
            <a:pPr>
              <a:spcAft>
                <a:spcPts val="400"/>
              </a:spcAft>
            </a:pPr>
            <a:r>
              <a:rPr sz="1000" b="0" i="0">
                <a:solidFill>
                  <a:srgbClr val="1E2430"/>
                </a:solidFill>
                <a:latin typeface="Calibri"/>
              </a:rPr>
              <a:t>    ▪ • </a:t>
            </a:r>
            <a:r>
              <a:rPr sz="1000" b="1" i="0">
                <a:solidFill>
                  <a:srgbClr val="1E2430"/>
                </a:solidFill>
                <a:latin typeface="Calibri"/>
              </a:rPr>
              <a:t>M = 9 user msgs (≈ 17 turns — Offline Cap `min(M,9)`):</a:t>
            </a:r>
            <a:r>
              <a:rPr sz="1000" b="0" i="0">
                <a:solidFill>
                  <a:srgbClr val="1E2430"/>
                </a:solidFill>
                <a:latin typeface="Calibri"/>
              </a:rPr>
              <a:t> </a:t>
            </a:r>
            <a:r>
              <a:rPr sz="1000" b="1" i="0">
                <a:solidFill>
                  <a:srgbClr val="1E2430"/>
                </a:solidFill>
                <a:latin typeface="Calibri"/>
              </a:rPr>
              <a:t>97.3% overall (κ = .958)</a:t>
            </a:r>
            <a:r>
              <a:rPr sz="1000" b="0" i="0">
                <a:solidFill>
                  <a:srgbClr val="1E2430"/>
                </a:solidFill>
                <a:latin typeface="Calibri"/>
              </a:rPr>
              <a:t>; </a:t>
            </a:r>
            <a:r>
              <a:rPr sz="1000" b="1" i="0">
                <a:solidFill>
                  <a:srgbClr val="1E2430"/>
                </a:solidFill>
                <a:latin typeface="Calibri"/>
              </a:rPr>
              <a:t>96.0%</a:t>
            </a:r>
            <a:r>
              <a:rPr sz="1000" b="0" i="0">
                <a:solidFill>
                  <a:srgbClr val="1E2430"/>
                </a:solidFill>
                <a:latin typeface="Calibri"/>
              </a:rPr>
              <a:t> on ≤9-msg chats (full user history seen) &amp; </a:t>
            </a:r>
            <a:r>
              <a:rPr sz="1000" b="1" i="0">
                <a:solidFill>
                  <a:srgbClr val="1E2430"/>
                </a:solidFill>
                <a:latin typeface="Calibri"/>
              </a:rPr>
              <a:t>99.3%</a:t>
            </a:r>
            <a:r>
              <a:rPr sz="1000" b="0" i="0">
                <a:solidFill>
                  <a:srgbClr val="1E2430"/>
                </a:solidFill>
                <a:latin typeface="Calibri"/>
              </a:rPr>
              <a:t> on long ≥9-msg chats!</a:t>
            </a:r>
          </a:p>
        </p:txBody>
      </p:sp>
      <p:sp>
        <p:nvSpPr>
          <p:cNvPr id="17" name="Rounded Rectangle 16"/>
          <p:cNvSpPr/>
          <p:nvPr/>
        </p:nvSpPr>
        <p:spPr>
          <a:xfrm>
            <a:off x="8138160" y="1371600"/>
            <a:ext cx="3730752" cy="4983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1371600"/>
            <a:ext cx="3730752"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Q7: 'Why Not Fine-Tune a Model Instead of Using FAISS + Rules?'</a:t>
            </a:r>
          </a:p>
        </p:txBody>
      </p:sp>
      <p:sp>
        <p:nvSpPr>
          <p:cNvPr id="19" name="TextBox 18"/>
          <p:cNvSpPr txBox="1"/>
          <p:nvPr/>
        </p:nvSpPr>
        <p:spPr>
          <a:xfrm>
            <a:off x="8229600" y="1755648"/>
            <a:ext cx="3547872" cy="4544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Three Enterprise Reasons Why Neuro-Symbolic ICL Beats Fine-Tuning:</a:t>
            </a:r>
          </a:p>
          <a:p>
            <a:pPr>
              <a:spcAft>
                <a:spcPts val="400"/>
              </a:spcAft>
            </a:pPr>
            <a:r>
              <a:rPr sz="1000" b="0" i="0">
                <a:solidFill>
                  <a:srgbClr val="1E2430"/>
                </a:solidFill>
                <a:latin typeface="Calibri"/>
              </a:rPr>
              <a:t>• </a:t>
            </a:r>
            <a:r>
              <a:rPr sz="1000" b="1" i="0">
                <a:solidFill>
                  <a:srgbClr val="1E2430"/>
                </a:solidFill>
                <a:latin typeface="Calibri"/>
              </a:rPr>
              <a:t>1. Instant Policy Updates (&lt; 1 ms):</a:t>
            </a:r>
          </a:p>
          <a:p>
            <a:pPr>
              <a:spcAft>
                <a:spcPts val="400"/>
              </a:spcAft>
            </a:pPr>
            <a:r>
              <a:rPr sz="1000" b="0" i="0">
                <a:solidFill>
                  <a:srgbClr val="1E2430"/>
                </a:solidFill>
                <a:latin typeface="Calibri"/>
              </a:rPr>
              <a:t>    ▪ When visa lead times or promo discount caps change at an OTA, updating `rules_enterprise.yaml` takes 1 second with 100% deterministic enforcement—whereas fine-tuning an LLM takes hours and still hallucinates rules.</a:t>
            </a:r>
          </a:p>
          <a:p>
            <a:pPr>
              <a:spcAft>
                <a:spcPts val="400"/>
              </a:spcAft>
            </a:pPr>
            <a:r>
              <a:rPr sz="1000" b="0" i="0">
                <a:solidFill>
                  <a:srgbClr val="1E2430"/>
                </a:solidFill>
                <a:latin typeface="Calibri"/>
              </a:rPr>
              <a:t>• </a:t>
            </a:r>
            <a:r>
              <a:rPr sz="1000" b="1" i="0">
                <a:solidFill>
                  <a:srgbClr val="1E2430"/>
                </a:solidFill>
                <a:latin typeface="Calibri"/>
              </a:rPr>
              <a:t>2. Zero Catastrophic Forgetting:</a:t>
            </a:r>
          </a:p>
          <a:p>
            <a:pPr>
              <a:spcAft>
                <a:spcPts val="400"/>
              </a:spcAft>
            </a:pPr>
            <a:r>
              <a:rPr sz="1000" b="0" i="0">
                <a:solidFill>
                  <a:srgbClr val="1E2430"/>
                </a:solidFill>
                <a:latin typeface="Calibri"/>
              </a:rPr>
              <a:t>    ▪ Adding new exemplary human dialogues to the three FAISS sub-indices requires zero gradient updates.</a:t>
            </a:r>
          </a:p>
          <a:p>
            <a:pPr>
              <a:spcAft>
                <a:spcPts val="400"/>
              </a:spcAft>
            </a:pPr>
            <a:r>
              <a:rPr sz="1000" b="0" i="0">
                <a:solidFill>
                  <a:srgbClr val="1E2430"/>
                </a:solidFill>
                <a:latin typeface="Calibri"/>
              </a:rPr>
              <a:t>• </a:t>
            </a:r>
            <a:r>
              <a:rPr sz="1000" b="1" i="0">
                <a:solidFill>
                  <a:srgbClr val="1E2430"/>
                </a:solidFill>
                <a:latin typeface="Calibri"/>
              </a:rPr>
              <a:t>3. Explainability &amp; Auditability:</a:t>
            </a:r>
          </a:p>
          <a:p>
            <a:pPr>
              <a:spcAft>
                <a:spcPts val="400"/>
              </a:spcAft>
            </a:pPr>
            <a:r>
              <a:rPr sz="1000" b="0" i="0">
                <a:solidFill>
                  <a:srgbClr val="1E2430"/>
                </a:solidFill>
                <a:latin typeface="Calibri"/>
              </a:rPr>
              <a:t>    ▪ Every turn logs the exact predicted archetype, the 3 retrieved FAISS dialogue IDs, and the exact YAML rule IDs triggered—providing a complete compliance audit trail.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8: CONCLUSIVE STORY &amp; DOCTORAL DISSERTATION ROADMAP</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39</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The Conclusive Story: How RQ1–RQ4 Transform Conversational Travel AI</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#5a: Integrating all four empirical findings into one cohesive scientific and business conclusion</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2788920" cy="3840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278892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Chapter 1 of Our Story (RQ1)
Discover Who Is Talking</a:t>
            </a:r>
          </a:p>
        </p:txBody>
      </p:sp>
      <p:sp>
        <p:nvSpPr>
          <p:cNvPr id="13" name="TextBox 12"/>
          <p:cNvSpPr txBox="1"/>
          <p:nvPr/>
        </p:nvSpPr>
        <p:spPr>
          <a:xfrm>
            <a:off x="411479" y="1755648"/>
            <a:ext cx="2606039" cy="3401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The Question:</a:t>
            </a:r>
            <a:r>
              <a:rPr sz="1000" b="0" i="0">
                <a:solidFill>
                  <a:srgbClr val="1E2430"/>
                </a:solidFill>
                <a:latin typeface="Calibri"/>
              </a:rPr>
              <a:t> Can we discover stable traveler archetypes and route them early?</a:t>
            </a:r>
          </a:p>
          <a:p>
            <a:pPr>
              <a:spcAft>
                <a:spcPts val="400"/>
              </a:spcAft>
            </a:pPr>
            <a:r>
              <a:rPr sz="1000" b="0" i="0">
                <a:solidFill>
                  <a:srgbClr val="1E2430"/>
                </a:solidFill>
                <a:latin typeface="Calibri"/>
              </a:rPr>
              <a:t>• </a:t>
            </a:r>
            <a:r>
              <a:rPr sz="1000" b="1" i="0">
                <a:solidFill>
                  <a:srgbClr val="1E2430"/>
                </a:solidFill>
                <a:latin typeface="Calibri"/>
              </a:rPr>
              <a:t>What We Proved:</a:t>
            </a:r>
          </a:p>
          <a:p>
            <a:pPr>
              <a:spcAft>
                <a:spcPts val="400"/>
              </a:spcAft>
            </a:pPr>
            <a:r>
              <a:rPr sz="1000" b="0" i="0">
                <a:solidFill>
                  <a:srgbClr val="1E2430"/>
                </a:solidFill>
                <a:latin typeface="Calibri"/>
              </a:rPr>
              <a:t>    ▪ Whole-dialogue clustering fails early routing (κ = .24) due to outcome confounding.</a:t>
            </a:r>
          </a:p>
          <a:p>
            <a:pPr>
              <a:spcAft>
                <a:spcPts val="400"/>
              </a:spcAft>
            </a:pPr>
            <a:r>
              <a:rPr sz="1000" b="0" i="0">
                <a:solidFill>
                  <a:srgbClr val="1E2430"/>
                </a:solidFill>
                <a:latin typeface="Calibri"/>
              </a:rPr>
              <a:t>    ▪ Combining </a:t>
            </a:r>
            <a:r>
              <a:rPr sz="1000" b="1" i="0">
                <a:solidFill>
                  <a:srgbClr val="1E2430"/>
                </a:solidFill>
                <a:latin typeface="Calibri"/>
              </a:rPr>
              <a:t>PCA-20 Gemini user prefixes + 16 LLM behavioral ratings (`Blocks`)</a:t>
            </a:r>
            <a:r>
              <a:rPr sz="1000" b="0" i="0">
                <a:solidFill>
                  <a:srgbClr val="1E2430"/>
                </a:solidFill>
                <a:latin typeface="Calibri"/>
              </a:rPr>
              <a:t> on the first 9 messages yields 3 stable personas (</a:t>
            </a:r>
            <a:r>
              <a:rPr sz="1000" b="1" i="0">
                <a:solidFill>
                  <a:srgbClr val="1E2430"/>
                </a:solidFill>
                <a:latin typeface="Calibri"/>
              </a:rPr>
              <a:t>ARI = .76</a:t>
            </a:r>
            <a:r>
              <a:rPr sz="1000" b="0" i="0">
                <a:solidFill>
                  <a:srgbClr val="1E2430"/>
                </a:solidFill>
                <a:latin typeface="Calibri"/>
              </a:rPr>
              <a:t>): </a:t>
            </a:r>
            <a:r>
              <a:rPr sz="1000" b="0" i="1">
                <a:solidFill>
                  <a:srgbClr val="1E2430"/>
                </a:solidFill>
                <a:latin typeface="Calibri"/>
              </a:rPr>
              <a:t>Decisive Booker</a:t>
            </a:r>
            <a:r>
              <a:rPr sz="1000" b="0" i="0">
                <a:solidFill>
                  <a:srgbClr val="1E2430"/>
                </a:solidFill>
                <a:latin typeface="Calibri"/>
              </a:rPr>
              <a:t>, </a:t>
            </a:r>
            <a:r>
              <a:rPr sz="1000" b="0" i="1">
                <a:solidFill>
                  <a:srgbClr val="1E2430"/>
                </a:solidFill>
                <a:latin typeface="Calibri"/>
              </a:rPr>
              <a:t>Open Explorer</a:t>
            </a:r>
            <a:r>
              <a:rPr sz="1000" b="0" i="0">
                <a:solidFill>
                  <a:srgbClr val="1E2430"/>
                </a:solidFill>
                <a:latin typeface="Calibri"/>
              </a:rPr>
              <a:t>, and </a:t>
            </a:r>
            <a:r>
              <a:rPr sz="1000" b="0" i="1">
                <a:solidFill>
                  <a:srgbClr val="1E2430"/>
                </a:solidFill>
                <a:latin typeface="Calibri"/>
              </a:rPr>
              <a:t>Rigid-Constraint Seeker</a:t>
            </a:r>
            <a:r>
              <a:rPr sz="1000" b="0" i="0">
                <a:solidFill>
                  <a:srgbClr val="1E2430"/>
                </a:solidFill>
                <a:latin typeface="Calibri"/>
              </a:rPr>
              <a:t>.</a:t>
            </a:r>
          </a:p>
          <a:p>
            <a:pPr>
              <a:spcAft>
                <a:spcPts val="400"/>
              </a:spcAft>
            </a:pPr>
            <a:r>
              <a:rPr sz="1000" b="0" i="0">
                <a:solidFill>
                  <a:srgbClr val="1E2430"/>
                </a:solidFill>
                <a:latin typeface="Calibri"/>
              </a:rPr>
              <a:t>    ▪ Out-of-sample routing reaches </a:t>
            </a:r>
            <a:r>
              <a:rPr sz="1000" b="1" i="0">
                <a:solidFill>
                  <a:srgbClr val="1E2430"/>
                </a:solidFill>
                <a:latin typeface="Calibri"/>
              </a:rPr>
              <a:t>70.1% (M=5) to 97.3% (M=9)</a:t>
            </a:r>
            <a:r>
              <a:rPr sz="1000" b="0" i="0">
                <a:solidFill>
                  <a:srgbClr val="1E2430"/>
                </a:solidFill>
                <a:latin typeface="Calibri"/>
              </a:rPr>
              <a:t>.</a:t>
            </a:r>
          </a:p>
        </p:txBody>
      </p:sp>
      <p:sp>
        <p:nvSpPr>
          <p:cNvPr id="14" name="Rounded Rectangle 13"/>
          <p:cNvSpPr/>
          <p:nvPr/>
        </p:nvSpPr>
        <p:spPr>
          <a:xfrm>
            <a:off x="3246120" y="1371600"/>
            <a:ext cx="2788920" cy="3840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46120" y="1371600"/>
            <a:ext cx="2788920"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Chapter 2 of Our Story (RQ2)
Adapt How the Agent Speaks</a:t>
            </a:r>
          </a:p>
        </p:txBody>
      </p:sp>
      <p:sp>
        <p:nvSpPr>
          <p:cNvPr id="16" name="TextBox 15"/>
          <p:cNvSpPr txBox="1"/>
          <p:nvPr/>
        </p:nvSpPr>
        <p:spPr>
          <a:xfrm>
            <a:off x="3337560" y="1755648"/>
            <a:ext cx="2606039" cy="3401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The Question:</a:t>
            </a:r>
            <a:r>
              <a:rPr sz="1000" b="0" i="0">
                <a:solidFill>
                  <a:srgbClr val="1E2430"/>
                </a:solidFill>
                <a:latin typeface="Calibri"/>
              </a:rPr>
              <a:t> Does archetype-matched few-shot retrieval improve style and pacing?</a:t>
            </a:r>
          </a:p>
          <a:p>
            <a:pPr>
              <a:spcAft>
                <a:spcPts val="400"/>
              </a:spcAft>
            </a:pPr>
            <a:r>
              <a:rPr sz="1000" b="0" i="0">
                <a:solidFill>
                  <a:srgbClr val="1E2430"/>
                </a:solidFill>
                <a:latin typeface="Calibri"/>
              </a:rPr>
              <a:t>• </a:t>
            </a:r>
            <a:r>
              <a:rPr sz="1000" b="1" i="0">
                <a:solidFill>
                  <a:srgbClr val="1E2430"/>
                </a:solidFill>
                <a:latin typeface="Calibri"/>
              </a:rPr>
              <a:t>What We Proved:</a:t>
            </a:r>
          </a:p>
          <a:p>
            <a:pPr>
              <a:spcAft>
                <a:spcPts val="400"/>
              </a:spcAft>
            </a:pPr>
            <a:r>
              <a:rPr sz="1000" b="0" i="0">
                <a:solidFill>
                  <a:srgbClr val="1E2430"/>
                </a:solidFill>
                <a:latin typeface="Calibri"/>
              </a:rPr>
              <a:t>    ▪ Coarse routing (κ = .24) yields null style adaptation (</a:t>
            </a:r>
            <a:r>
              <a:rPr sz="1000" b="0" i="1">
                <a:solidFill>
                  <a:srgbClr val="1E2430"/>
                </a:solidFill>
                <a:latin typeface="Calibri"/>
              </a:rPr>
              <a:t>p</a:t>
            </a:r>
            <a:r>
              <a:rPr sz="1000" b="0" i="0">
                <a:solidFill>
                  <a:srgbClr val="1E2430"/>
                </a:solidFill>
                <a:latin typeface="Calibri"/>
              </a:rPr>
              <a:t> = .211).</a:t>
            </a:r>
          </a:p>
          <a:p>
            <a:pPr>
              <a:spcAft>
                <a:spcPts val="400"/>
              </a:spcAft>
            </a:pPr>
            <a:r>
              <a:rPr sz="1000" b="0" i="0">
                <a:solidFill>
                  <a:srgbClr val="1E2430"/>
                </a:solidFill>
                <a:latin typeface="Calibri"/>
              </a:rPr>
              <a:t>    ▪ Accurate `Blocks` routing (κ = .535) unlocks highly significant style convergence (</a:t>
            </a:r>
            <a:r>
              <a:rPr sz="1000" b="1" i="0">
                <a:solidFill>
                  <a:srgbClr val="1E2430"/>
                </a:solidFill>
                <a:latin typeface="Calibri"/>
              </a:rPr>
              <a:t>F = 9.79, p &lt; .001, ηp² = .234</a:t>
            </a:r>
            <a:r>
              <a:rPr sz="1000" b="0" i="0">
                <a:solidFill>
                  <a:srgbClr val="1E2430"/>
                </a:solidFill>
                <a:latin typeface="Calibri"/>
              </a:rPr>
              <a:t>) and cuts pacing error from 10.12w to </a:t>
            </a:r>
            <a:r>
              <a:rPr sz="1000" b="1" i="0">
                <a:solidFill>
                  <a:srgbClr val="1E2430"/>
                </a:solidFill>
                <a:latin typeface="Calibri"/>
              </a:rPr>
              <a:t>3.87 words (p = .007)</a:t>
            </a:r>
            <a:r>
              <a:rPr sz="1000" b="0" i="0">
                <a:solidFill>
                  <a:srgbClr val="1E2430"/>
                </a:solidFill>
                <a:latin typeface="Calibri"/>
              </a:rPr>
              <a:t>.</a:t>
            </a:r>
          </a:p>
          <a:p>
            <a:pPr>
              <a:spcAft>
                <a:spcPts val="400"/>
              </a:spcAft>
            </a:pPr>
            <a:r>
              <a:rPr sz="1000" b="0" i="0">
                <a:solidFill>
                  <a:srgbClr val="1E2430"/>
                </a:solidFill>
                <a:latin typeface="Calibri"/>
              </a:rPr>
              <a:t>    ▪ </a:t>
            </a:r>
            <a:r>
              <a:rPr sz="1000" b="1" i="0">
                <a:solidFill>
                  <a:srgbClr val="1E2430"/>
                </a:solidFill>
                <a:latin typeface="Calibri"/>
              </a:rPr>
              <a:t>Lesson:</a:t>
            </a:r>
            <a:r>
              <a:rPr sz="1000" b="0" i="0">
                <a:solidFill>
                  <a:srgbClr val="1E2430"/>
                </a:solidFill>
                <a:latin typeface="Calibri"/>
              </a:rPr>
              <a:t> Dynamic ICL is bounded by upstream routing fidelity.</a:t>
            </a:r>
          </a:p>
        </p:txBody>
      </p:sp>
      <p:sp>
        <p:nvSpPr>
          <p:cNvPr id="17" name="Rounded Rectangle 16"/>
          <p:cNvSpPr/>
          <p:nvPr/>
        </p:nvSpPr>
        <p:spPr>
          <a:xfrm>
            <a:off x="6172200" y="1371600"/>
            <a:ext cx="2788920" cy="3840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371600"/>
            <a:ext cx="2788920" cy="329184"/>
          </a:xfrm>
          <a:prstGeom prst="roundRect">
            <a:avLst>
              <a:gd name="adj" fmla="val 2000"/>
            </a:avLst>
          </a:prstGeom>
          <a:solidFill>
            <a:srgbClr val="B833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Chapter 3 of Our Story (RQ3)
Guard Against Leakage &amp; Policy Drift</a:t>
            </a:r>
          </a:p>
        </p:txBody>
      </p:sp>
      <p:sp>
        <p:nvSpPr>
          <p:cNvPr id="19" name="TextBox 18"/>
          <p:cNvSpPr txBox="1"/>
          <p:nvPr/>
        </p:nvSpPr>
        <p:spPr>
          <a:xfrm>
            <a:off x="6263640" y="1755648"/>
            <a:ext cx="2606039" cy="3401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The Question:</a:t>
            </a:r>
            <a:r>
              <a:rPr sz="1000" b="0" i="0">
                <a:solidFill>
                  <a:srgbClr val="1E2430"/>
                </a:solidFill>
                <a:latin typeface="Calibri"/>
              </a:rPr>
              <a:t> How do symbolic rules and adaptive prompts interact?</a:t>
            </a:r>
          </a:p>
          <a:p>
            <a:pPr>
              <a:spcAft>
                <a:spcPts val="400"/>
              </a:spcAft>
            </a:pPr>
            <a:r>
              <a:rPr sz="1000" b="0" i="0">
                <a:solidFill>
                  <a:srgbClr val="1E2430"/>
                </a:solidFill>
                <a:latin typeface="Calibri"/>
              </a:rPr>
              <a:t>• </a:t>
            </a:r>
            <a:r>
              <a:rPr sz="1000" b="1" i="0">
                <a:solidFill>
                  <a:srgbClr val="1E2430"/>
                </a:solidFill>
                <a:latin typeface="Calibri"/>
              </a:rPr>
              <a:t>What We Proved:</a:t>
            </a:r>
          </a:p>
          <a:p>
            <a:pPr>
              <a:spcAft>
                <a:spcPts val="400"/>
              </a:spcAft>
            </a:pPr>
            <a:r>
              <a:rPr sz="1000" b="0" i="0">
                <a:solidFill>
                  <a:srgbClr val="1E2430"/>
                </a:solidFill>
                <a:latin typeface="Calibri"/>
              </a:rPr>
              <a:t>    ▪ Unguarded few-shot prompting leaks stale exemplar entities in </a:t>
            </a:r>
            <a:r>
              <a:rPr sz="1000" b="1" i="0">
                <a:solidFill>
                  <a:srgbClr val="1E2430"/>
                </a:solidFill>
                <a:latin typeface="Calibri"/>
              </a:rPr>
              <a:t>55.6% of replies (ELR = .359)</a:t>
            </a:r>
            <a:r>
              <a:rPr sz="1000" b="0" i="0">
                <a:solidFill>
                  <a:srgbClr val="1E2430"/>
                </a:solidFill>
                <a:latin typeface="Calibri"/>
              </a:rPr>
              <a:t> and misses </a:t>
            </a:r>
            <a:r>
              <a:rPr sz="1000" b="1" i="0">
                <a:solidFill>
                  <a:srgbClr val="1E2430"/>
                </a:solidFill>
                <a:latin typeface="Calibri"/>
              </a:rPr>
              <a:t>94.4%</a:t>
            </a:r>
            <a:r>
              <a:rPr sz="1000" b="0" i="0">
                <a:solidFill>
                  <a:srgbClr val="1E2430"/>
                </a:solidFill>
                <a:latin typeface="Calibri"/>
              </a:rPr>
              <a:t> of policy violations.</a:t>
            </a:r>
          </a:p>
          <a:p>
            <a:pPr>
              <a:spcAft>
                <a:spcPts val="400"/>
              </a:spcAft>
            </a:pPr>
            <a:r>
              <a:rPr sz="1000" b="0" i="0">
                <a:solidFill>
                  <a:srgbClr val="1E2430"/>
                </a:solidFill>
                <a:latin typeface="Calibri"/>
              </a:rPr>
              <a:t>    ▪ Pairing `Cluster-Adaptive` with our declarative `RuleEngine` eliminates leakage to </a:t>
            </a:r>
            <a:r>
              <a:rPr sz="1000" b="1" i="0">
                <a:solidFill>
                  <a:srgbClr val="1E2430"/>
                </a:solidFill>
                <a:latin typeface="Calibri"/>
              </a:rPr>
              <a:t>0.0% (Interaction F = 34.82, p &lt; .001)</a:t>
            </a:r>
            <a:r>
              <a:rPr sz="1000" b="0" i="0">
                <a:solidFill>
                  <a:srgbClr val="1E2430"/>
                </a:solidFill>
                <a:latin typeface="Calibri"/>
              </a:rPr>
              <a:t>, raises violation enforcement to </a:t>
            </a:r>
            <a:r>
              <a:rPr sz="1000" b="1" i="0">
                <a:solidFill>
                  <a:srgbClr val="1E2430"/>
                </a:solidFill>
                <a:latin typeface="Calibri"/>
              </a:rPr>
              <a:t>97.2%</a:t>
            </a:r>
            <a:r>
              <a:rPr sz="1000" b="0" i="0">
                <a:solidFill>
                  <a:srgbClr val="1E2430"/>
                </a:solidFill>
                <a:latin typeface="Calibri"/>
              </a:rPr>
              <a:t>, and boosts Slot F1 to </a:t>
            </a:r>
            <a:r>
              <a:rPr sz="1000" b="1" i="0">
                <a:solidFill>
                  <a:srgbClr val="1E2430"/>
                </a:solidFill>
                <a:latin typeface="Calibri"/>
              </a:rPr>
              <a:t>.952</a:t>
            </a:r>
            <a:r>
              <a:rPr sz="1000" b="0" i="0">
                <a:solidFill>
                  <a:srgbClr val="1E2430"/>
                </a:solidFill>
                <a:latin typeface="Calibri"/>
              </a:rPr>
              <a:t>.</a:t>
            </a:r>
          </a:p>
        </p:txBody>
      </p:sp>
      <p:sp>
        <p:nvSpPr>
          <p:cNvPr id="20" name="Rounded Rectangle 19"/>
          <p:cNvSpPr/>
          <p:nvPr/>
        </p:nvSpPr>
        <p:spPr>
          <a:xfrm>
            <a:off x="9098280" y="1371600"/>
            <a:ext cx="2770632" cy="384048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98280" y="1371600"/>
            <a:ext cx="2770632" cy="329184"/>
          </a:xfrm>
          <a:prstGeom prst="roundRect">
            <a:avLst>
              <a:gd name="adj" fmla="val 2000"/>
            </a:avLst>
          </a:prstGeom>
          <a:solidFill>
            <a:srgbClr val="1B73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Chapter 4 of Our Story (RQ4)
Compress Multi-Turn Negotiations</a:t>
            </a:r>
          </a:p>
        </p:txBody>
      </p:sp>
      <p:sp>
        <p:nvSpPr>
          <p:cNvPr id="22" name="TextBox 21"/>
          <p:cNvSpPr txBox="1"/>
          <p:nvPr/>
        </p:nvSpPr>
        <p:spPr>
          <a:xfrm>
            <a:off x="9189719" y="1755648"/>
            <a:ext cx="2587751" cy="340156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The Question:</a:t>
            </a:r>
            <a:r>
              <a:rPr sz="1000" b="0" i="0">
                <a:solidFill>
                  <a:srgbClr val="1E2430"/>
                </a:solidFill>
                <a:latin typeface="Calibri"/>
              </a:rPr>
              <a:t> Does our full architecture improve multi-turn turn economy?</a:t>
            </a:r>
          </a:p>
          <a:p>
            <a:pPr>
              <a:spcAft>
                <a:spcPts val="400"/>
              </a:spcAft>
            </a:pPr>
            <a:r>
              <a:rPr sz="1000" b="0" i="0">
                <a:solidFill>
                  <a:srgbClr val="1E2430"/>
                </a:solidFill>
                <a:latin typeface="Calibri"/>
              </a:rPr>
              <a:t>• </a:t>
            </a:r>
            <a:r>
              <a:rPr sz="1000" b="1" i="0">
                <a:solidFill>
                  <a:srgbClr val="1E2430"/>
                </a:solidFill>
                <a:latin typeface="Calibri"/>
              </a:rPr>
              <a:t>What We Proved:</a:t>
            </a:r>
          </a:p>
          <a:p>
            <a:pPr>
              <a:spcAft>
                <a:spcPts val="400"/>
              </a:spcAft>
            </a:pPr>
            <a:r>
              <a:rPr sz="1000" b="0" i="0">
                <a:solidFill>
                  <a:srgbClr val="1E2430"/>
                </a:solidFill>
                <a:latin typeface="Calibri"/>
              </a:rPr>
              <a:t>    ▪ Across 180 simulations (persona κ = .933), `Cluster-Adaptive` + Informed Slot Ledger cuts turns by </a:t>
            </a:r>
            <a:r>
              <a:rPr sz="1000" b="1" i="0">
                <a:solidFill>
                  <a:srgbClr val="1E2430"/>
                </a:solidFill>
                <a:latin typeface="Calibri"/>
              </a:rPr>
              <a:t>−42.7% for Rigid Seekers</a:t>
            </a:r>
            <a:r>
              <a:rPr sz="1000" b="0" i="0">
                <a:solidFill>
                  <a:srgbClr val="1E2430"/>
                </a:solidFill>
                <a:latin typeface="Calibri"/>
              </a:rPr>
              <a:t>, </a:t>
            </a:r>
            <a:r>
              <a:rPr sz="1000" b="1" i="0">
                <a:solidFill>
                  <a:srgbClr val="1E2430"/>
                </a:solidFill>
                <a:latin typeface="Calibri"/>
              </a:rPr>
              <a:t>−34.2% for Decisive Bookers</a:t>
            </a:r>
            <a:r>
              <a:rPr sz="1000" b="0" i="0">
                <a:solidFill>
                  <a:srgbClr val="1E2430"/>
                </a:solidFill>
                <a:latin typeface="Calibri"/>
              </a:rPr>
              <a:t>, and </a:t>
            </a:r>
            <a:r>
              <a:rPr sz="1000" b="1" i="0">
                <a:solidFill>
                  <a:srgbClr val="1E2430"/>
                </a:solidFill>
                <a:latin typeface="Calibri"/>
              </a:rPr>
              <a:t>−29.5% for Open Explorers</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664.43, Interaction </a:t>
            </a:r>
            <a:r>
              <a:rPr sz="1000" b="0" i="1">
                <a:solidFill>
                  <a:srgbClr val="1E2430"/>
                </a:solidFill>
                <a:latin typeface="Calibri"/>
              </a:rPr>
              <a:t>F</a:t>
            </a:r>
            <a:r>
              <a:rPr sz="1000" b="0" i="0">
                <a:solidFill>
                  <a:srgbClr val="1E2430"/>
                </a:solidFill>
                <a:latin typeface="Calibri"/>
              </a:rPr>
              <a:t> = 10.89, </a:t>
            </a:r>
            <a:r>
              <a:rPr sz="1000" b="0" i="1">
                <a:solidFill>
                  <a:srgbClr val="1E2430"/>
                </a:solidFill>
                <a:latin typeface="Calibri"/>
              </a:rPr>
              <a:t>p</a:t>
            </a:r>
            <a:r>
              <a:rPr sz="1000" b="0" i="0">
                <a:solidFill>
                  <a:srgbClr val="1E2430"/>
                </a:solidFill>
                <a:latin typeface="Calibri"/>
              </a:rPr>
              <a:t> &lt; .001).</a:t>
            </a:r>
          </a:p>
          <a:p>
            <a:pPr>
              <a:spcAft>
                <a:spcPts val="400"/>
              </a:spcAft>
            </a:pPr>
            <a:r>
              <a:rPr sz="1000" b="0" i="0">
                <a:solidFill>
                  <a:srgbClr val="1E2430"/>
                </a:solidFill>
                <a:latin typeface="Calibri"/>
              </a:rPr>
              <a:t>    ▪ Redundant slot questions drop from </a:t>
            </a:r>
            <a:r>
              <a:rPr sz="1000" b="1" i="0">
                <a:solidFill>
                  <a:srgbClr val="1E2430"/>
                </a:solidFill>
                <a:latin typeface="Calibri"/>
              </a:rPr>
              <a:t>10.9% to 0.0%</a:t>
            </a:r>
            <a:r>
              <a:rPr sz="1000" b="0" i="0">
                <a:solidFill>
                  <a:srgbClr val="1E2430"/>
                </a:solidFill>
                <a:latin typeface="Calibri"/>
              </a:rPr>
              <a:t>.</a:t>
            </a:r>
          </a:p>
        </p:txBody>
      </p:sp>
      <p:sp>
        <p:nvSpPr>
          <p:cNvPr id="23" name="Rounded Rectangle 22"/>
          <p:cNvSpPr/>
          <p:nvPr/>
        </p:nvSpPr>
        <p:spPr>
          <a:xfrm>
            <a:off x="320040" y="5349240"/>
            <a:ext cx="11548872" cy="1097280"/>
          </a:xfrm>
          <a:prstGeom prst="roundRect">
            <a:avLst>
              <a:gd name="adj" fmla="val 4000"/>
            </a:avLst>
          </a:prstGeom>
          <a:solidFill>
            <a:srgbClr val="EBF7F0"/>
          </a:solidFill>
          <a:ln w="19050">
            <a:solidFill>
              <a:srgbClr val="1B734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Master Conclusion of the Paper:</a:t>
            </a:r>
            <a:r>
              <a:rPr sz="1100" b="0" i="0">
                <a:solidFill>
                  <a:srgbClr val="1E2430"/>
                </a:solidFill>
                <a:latin typeface="Calibri"/>
              </a:rPr>
              <a:t>
Improving enterprise conversational AI is not a matter of choosing between 'better prompts' OR 'strict rules'. It requires a </a:t>
            </a:r>
            <a:r>
              <a:rPr sz="1100" b="1" i="0">
                <a:solidFill>
                  <a:srgbClr val="1E2430"/>
                </a:solidFill>
                <a:latin typeface="Calibri"/>
              </a:rPr>
              <a:t>three-part neuro-symbolic synergy</a:t>
            </a:r>
            <a:r>
              <a:rPr sz="1100" b="0" i="0">
                <a:solidFill>
                  <a:srgbClr val="1E2430"/>
                </a:solidFill>
                <a:latin typeface="Calibri"/>
              </a:rPr>
              <a:t>: (1) </a:t>
            </a:r>
            <a:r>
              <a:rPr sz="1100" b="1" i="0">
                <a:solidFill>
                  <a:srgbClr val="1E2430"/>
                </a:solidFill>
                <a:latin typeface="Calibri"/>
              </a:rPr>
              <a:t>Early Behavioral-Semantic Routing</a:t>
            </a:r>
            <a:r>
              <a:rPr sz="1100" b="0" i="0">
                <a:solidFill>
                  <a:srgbClr val="1E2430"/>
                </a:solidFill>
                <a:latin typeface="Calibri"/>
              </a:rPr>
              <a:t> (`Blocks`) to know </a:t>
            </a:r>
            <a:r>
              <a:rPr sz="1100" b="0" i="1">
                <a:solidFill>
                  <a:srgbClr val="1E2430"/>
                </a:solidFill>
                <a:latin typeface="Calibri"/>
              </a:rPr>
              <a:t>who</a:t>
            </a:r>
            <a:r>
              <a:rPr sz="1100" b="0" i="0">
                <a:solidFill>
                  <a:srgbClr val="1E2430"/>
                </a:solidFill>
                <a:latin typeface="Calibri"/>
              </a:rPr>
              <a:t> the user is; (2) </a:t>
            </a:r>
            <a:r>
              <a:rPr sz="1100" b="1" i="0">
                <a:solidFill>
                  <a:srgbClr val="1E2430"/>
                </a:solidFill>
                <a:latin typeface="Calibri"/>
              </a:rPr>
              <a:t>Slot-Masked Archetype Exemplar Retrieval</a:t>
            </a:r>
            <a:r>
              <a:rPr sz="1100" b="0" i="0">
                <a:solidFill>
                  <a:srgbClr val="1E2430"/>
                </a:solidFill>
                <a:latin typeface="Calibri"/>
              </a:rPr>
              <a:t> to adapt </a:t>
            </a:r>
            <a:r>
              <a:rPr sz="1100" b="0" i="1">
                <a:solidFill>
                  <a:srgbClr val="1E2430"/>
                </a:solidFill>
                <a:latin typeface="Calibri"/>
              </a:rPr>
              <a:t>how</a:t>
            </a:r>
            <a:r>
              <a:rPr sz="1100" b="0" i="0">
                <a:solidFill>
                  <a:srgbClr val="1E2430"/>
                </a:solidFill>
                <a:latin typeface="Calibri"/>
              </a:rPr>
              <a:t> the assistant communicates and frames trade-offs; and (3) </a:t>
            </a:r>
            <a:r>
              <a:rPr sz="1100" b="1" i="0">
                <a:solidFill>
                  <a:srgbClr val="1E2430"/>
                </a:solidFill>
                <a:latin typeface="Calibri"/>
              </a:rPr>
              <a:t>Declarative Symbolic Verification &amp; Slot Ledgers</a:t>
            </a:r>
            <a:r>
              <a:rPr sz="1100" b="0" i="0">
                <a:solidFill>
                  <a:srgbClr val="1E2430"/>
                </a:solidFill>
                <a:latin typeface="Calibri"/>
              </a:rPr>
              <a:t> to guarantee </a:t>
            </a:r>
            <a:r>
              <a:rPr sz="1100" b="0" i="1">
                <a:solidFill>
                  <a:srgbClr val="1E2430"/>
                </a:solidFill>
                <a:latin typeface="Calibri"/>
              </a:rPr>
              <a:t>what</a:t>
            </a:r>
            <a:r>
              <a:rPr sz="1100" b="0" i="0">
                <a:solidFill>
                  <a:srgbClr val="1E2430"/>
                </a:solidFill>
                <a:latin typeface="Calibri"/>
              </a:rPr>
              <a:t> the assistant says is 100% policy-compliant, grounded, and non-repetitive.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8: CONCLUSIVE STORY &amp; DOCTORAL DISSERTATION ROADMAP</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40</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Where This Capstone Ends: Four Scientific Frontiers Opened by Our Findings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#5b: Identifying the fundamental boundaries discovered in RQ1–RQ4 that motivate a full Doctoral Dissertation</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24231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Frontier 1: Continuous Manifold vs. Hard K-Means Clusters</a:t>
            </a:r>
          </a:p>
        </p:txBody>
      </p:sp>
      <p:sp>
        <p:nvSpPr>
          <p:cNvPr id="13" name="TextBox 12"/>
          <p:cNvSpPr txBox="1"/>
          <p:nvPr/>
        </p:nvSpPr>
        <p:spPr>
          <a:xfrm>
            <a:off x="411479" y="1755648"/>
            <a:ext cx="5440680" cy="19842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What Our Capstone Data Revealed (RQ1):</a:t>
            </a:r>
          </a:p>
          <a:p>
            <a:pPr>
              <a:spcAft>
                <a:spcPts val="400"/>
              </a:spcAft>
            </a:pPr>
            <a:r>
              <a:rPr sz="1000" b="0" i="0">
                <a:solidFill>
                  <a:srgbClr val="1E2430"/>
                </a:solidFill>
                <a:latin typeface="Calibri"/>
              </a:rPr>
              <a:t>    ▪ While </a:t>
            </a:r>
            <a:r>
              <a:rPr sz="1000" b="0" i="1">
                <a:solidFill>
                  <a:srgbClr val="1E2430"/>
                </a:solidFill>
                <a:latin typeface="Calibri"/>
              </a:rPr>
              <a:t>K</a:t>
            </a:r>
            <a:r>
              <a:rPr sz="1000" b="0" i="0">
                <a:solidFill>
                  <a:srgbClr val="1E2430"/>
                </a:solidFill>
                <a:latin typeface="Calibri"/>
              </a:rPr>
              <a:t>-Means (</a:t>
            </a:r>
            <a:r>
              <a:rPr sz="1000" b="0" i="1">
                <a:solidFill>
                  <a:srgbClr val="1E2430"/>
                </a:solidFill>
                <a:latin typeface="Calibri"/>
              </a:rPr>
              <a:t>k</a:t>
            </a:r>
            <a:r>
              <a:rPr sz="1000" b="0" i="0">
                <a:solidFill>
                  <a:srgbClr val="1E2430"/>
                </a:solidFill>
                <a:latin typeface="Calibri"/>
              </a:rPr>
              <a:t> = 3) achieved high bootstrap stability (ARI = .76), raw cosine Silhouette scores (.099–.268) and our Multivariate PCA Biplot (Figure 3) proved that human conversational styles form a </a:t>
            </a:r>
            <a:r>
              <a:rPr sz="1000" b="1" i="0">
                <a:solidFill>
                  <a:srgbClr val="1E2430"/>
                </a:solidFill>
                <a:latin typeface="Calibri"/>
              </a:rPr>
              <a:t>continuous behavioral manifold</a:t>
            </a:r>
            <a:r>
              <a:rPr sz="1000" b="0" i="0">
                <a:solidFill>
                  <a:srgbClr val="1E2430"/>
                </a:solidFill>
                <a:latin typeface="Calibri"/>
              </a:rPr>
              <a:t> rather than isolated islands.</a:t>
            </a:r>
          </a:p>
          <a:p>
            <a:pPr>
              <a:spcAft>
                <a:spcPts val="400"/>
              </a:spcAft>
            </a:pPr>
            <a:r>
              <a:rPr sz="1000" b="0" i="0">
                <a:solidFill>
                  <a:srgbClr val="1E2430"/>
                </a:solidFill>
                <a:latin typeface="Calibri"/>
              </a:rPr>
              <a:t>• </a:t>
            </a:r>
            <a:r>
              <a:rPr sz="1000" b="1" i="0">
                <a:solidFill>
                  <a:srgbClr val="1E2430"/>
                </a:solidFill>
                <a:latin typeface="Calibri"/>
              </a:rPr>
              <a:t>What Remains Unsolved for the Dissertation:</a:t>
            </a:r>
          </a:p>
          <a:p>
            <a:pPr>
              <a:spcAft>
                <a:spcPts val="400"/>
              </a:spcAft>
            </a:pPr>
            <a:r>
              <a:rPr sz="1000" b="0" i="0">
                <a:solidFill>
                  <a:srgbClr val="1E2430"/>
                </a:solidFill>
                <a:latin typeface="Calibri"/>
              </a:rPr>
              <a:t>    ▪ 25.2% of speakers sit near cluster boundaries (e.g., a traveler who is 55% </a:t>
            </a:r>
            <a:r>
              <a:rPr sz="1000" b="0" i="1">
                <a:solidFill>
                  <a:srgbClr val="1E2430"/>
                </a:solidFill>
                <a:latin typeface="Calibri"/>
              </a:rPr>
              <a:t>Open Explorer</a:t>
            </a:r>
            <a:r>
              <a:rPr sz="1000" b="0" i="0">
                <a:solidFill>
                  <a:srgbClr val="1E2430"/>
                </a:solidFill>
                <a:latin typeface="Calibri"/>
              </a:rPr>
              <a:t> and 45% </a:t>
            </a:r>
            <a:r>
              <a:rPr sz="1000" b="0" i="1">
                <a:solidFill>
                  <a:srgbClr val="1E2430"/>
                </a:solidFill>
                <a:latin typeface="Calibri"/>
              </a:rPr>
              <a:t>Rigid-Constraint Seeker</a:t>
            </a:r>
            <a:r>
              <a:rPr sz="1000" b="0" i="0">
                <a:solidFill>
                  <a:srgbClr val="1E2430"/>
                </a:solidFill>
                <a:latin typeface="Calibri"/>
              </a:rPr>
              <a:t>). Hard argmax routing forces a binary choice rather than blending styles smoothly.</a:t>
            </a:r>
          </a:p>
        </p:txBody>
      </p:sp>
      <p:sp>
        <p:nvSpPr>
          <p:cNvPr id="14" name="Rounded Rectangle 13"/>
          <p:cNvSpPr/>
          <p:nvPr/>
        </p:nvSpPr>
        <p:spPr>
          <a:xfrm>
            <a:off x="6217920" y="1371600"/>
            <a:ext cx="5650992" cy="242316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Frontier 2: Dynamic Mid-Session Persona Drift (Non-Stationarity)</a:t>
            </a:r>
          </a:p>
        </p:txBody>
      </p:sp>
      <p:sp>
        <p:nvSpPr>
          <p:cNvPr id="16" name="TextBox 15"/>
          <p:cNvSpPr txBox="1"/>
          <p:nvPr/>
        </p:nvSpPr>
        <p:spPr>
          <a:xfrm>
            <a:off x="6309359" y="1755648"/>
            <a:ext cx="5468112" cy="198424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What Our Capstone Data Revealed (RQ1 &amp; RQ4):</a:t>
            </a:r>
          </a:p>
          <a:p>
            <a:pPr>
              <a:spcAft>
                <a:spcPts val="400"/>
              </a:spcAft>
            </a:pPr>
            <a:r>
              <a:rPr sz="1000" b="0" i="0">
                <a:solidFill>
                  <a:srgbClr val="1E2430"/>
                </a:solidFill>
                <a:latin typeface="Calibri"/>
              </a:rPr>
              <a:t>    ▪ Our prefix router assigns a static archetype after </a:t>
            </a:r>
            <a:r>
              <a:rPr sz="1000" b="0" i="1">
                <a:solidFill>
                  <a:srgbClr val="1E2430"/>
                </a:solidFill>
                <a:latin typeface="Calibri"/>
              </a:rPr>
              <a:t>M</a:t>
            </a:r>
            <a:r>
              <a:rPr sz="1000" b="0" i="0">
                <a:solidFill>
                  <a:srgbClr val="1E2430"/>
                </a:solidFill>
                <a:latin typeface="Calibri"/>
              </a:rPr>
              <a:t> = 5 to 9 messages. However, real humans </a:t>
            </a:r>
            <a:r>
              <a:rPr sz="1000" b="1" i="0">
                <a:solidFill>
                  <a:srgbClr val="1E2430"/>
                </a:solidFill>
                <a:latin typeface="Calibri"/>
              </a:rPr>
              <a:t>shift personas mid-conversation</a:t>
            </a:r>
            <a:r>
              <a:rPr sz="1000" b="0" i="0">
                <a:solidFill>
                  <a:srgbClr val="1E2430"/>
                </a:solidFill>
                <a:latin typeface="Calibri"/>
              </a:rPr>
              <a:t>: an </a:t>
            </a:r>
            <a:r>
              <a:rPr sz="1000" b="0" i="1">
                <a:solidFill>
                  <a:srgbClr val="1E2430"/>
                </a:solidFill>
                <a:latin typeface="Calibri"/>
              </a:rPr>
              <a:t>Open Explorer</a:t>
            </a:r>
            <a:r>
              <a:rPr sz="1000" b="0" i="0">
                <a:solidFill>
                  <a:srgbClr val="1E2430"/>
                </a:solidFill>
                <a:latin typeface="Calibri"/>
              </a:rPr>
              <a:t> in Turns 1–5 often becomes a </a:t>
            </a:r>
            <a:r>
              <a:rPr sz="1000" b="0" i="1">
                <a:solidFill>
                  <a:srgbClr val="1E2430"/>
                </a:solidFill>
                <a:latin typeface="Calibri"/>
              </a:rPr>
              <a:t>Rigid-Constraint Seeker</a:t>
            </a:r>
            <a:r>
              <a:rPr sz="1000" b="0" i="0">
                <a:solidFill>
                  <a:srgbClr val="1E2430"/>
                </a:solidFill>
                <a:latin typeface="Calibri"/>
              </a:rPr>
              <a:t> in Turn 7 once they experience sticker shock!</a:t>
            </a:r>
          </a:p>
          <a:p>
            <a:pPr>
              <a:spcAft>
                <a:spcPts val="400"/>
              </a:spcAft>
            </a:pPr>
            <a:r>
              <a:rPr sz="1000" b="0" i="0">
                <a:solidFill>
                  <a:srgbClr val="1E2430"/>
                </a:solidFill>
                <a:latin typeface="Calibri"/>
              </a:rPr>
              <a:t>• </a:t>
            </a:r>
            <a:r>
              <a:rPr sz="1000" b="1" i="0">
                <a:solidFill>
                  <a:srgbClr val="1E2430"/>
                </a:solidFill>
                <a:latin typeface="Calibri"/>
              </a:rPr>
              <a:t>What Remains Unsolved for the Dissertation:</a:t>
            </a:r>
          </a:p>
          <a:p>
            <a:pPr>
              <a:spcAft>
                <a:spcPts val="400"/>
              </a:spcAft>
            </a:pPr>
            <a:r>
              <a:rPr sz="1000" b="0" i="0">
                <a:solidFill>
                  <a:srgbClr val="1E2430"/>
                </a:solidFill>
                <a:latin typeface="Calibri"/>
              </a:rPr>
              <a:t>    ▪ How to model a user's conversational style as a </a:t>
            </a:r>
            <a:r>
              <a:rPr sz="1000" b="1" i="0">
                <a:solidFill>
                  <a:srgbClr val="1E2430"/>
                </a:solidFill>
                <a:latin typeface="Calibri"/>
              </a:rPr>
              <a:t>non-stationary stochastic trajectory</a:t>
            </a:r>
            <a:r>
              <a:rPr sz="1000" b="0" i="0">
                <a:solidFill>
                  <a:srgbClr val="1E2430"/>
                </a:solidFill>
                <a:latin typeface="Calibri"/>
              </a:rPr>
              <a:t> </a:t>
            </a:r>
            <a:r>
              <a:rPr sz="1000" b="1" i="0">
                <a:solidFill>
                  <a:srgbClr val="1E2430"/>
                </a:solidFill>
                <a:latin typeface="Calibri"/>
              </a:rPr>
              <a:t>z</a:t>
            </a:r>
            <a:r>
              <a:rPr sz="1000" b="0" i="0">
                <a:solidFill>
                  <a:srgbClr val="1E2430"/>
                </a:solidFill>
                <a:latin typeface="Calibri"/>
              </a:rPr>
              <a:t>&lt;sub&gt;</a:t>
            </a:r>
            <a:r>
              <a:rPr sz="1000" b="0" i="1">
                <a:solidFill>
                  <a:srgbClr val="1E2430"/>
                </a:solidFill>
                <a:latin typeface="Calibri"/>
              </a:rPr>
              <a:t>t</a:t>
            </a:r>
            <a:r>
              <a:rPr sz="1000" b="0" i="0">
                <a:solidFill>
                  <a:srgbClr val="1E2430"/>
                </a:solidFill>
                <a:latin typeface="Calibri"/>
              </a:rPr>
              <a:t>&lt;/sub&gt; that updates turn-by-turn from Turn 1 onward via Bayesian belief tracking.</a:t>
            </a:r>
          </a:p>
        </p:txBody>
      </p:sp>
      <p:sp>
        <p:nvSpPr>
          <p:cNvPr id="17" name="Rounded Rectangle 16"/>
          <p:cNvSpPr/>
          <p:nvPr/>
        </p:nvSpPr>
        <p:spPr>
          <a:xfrm>
            <a:off x="320040" y="3931920"/>
            <a:ext cx="5623560" cy="251460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3931920"/>
            <a:ext cx="5623560" cy="329184"/>
          </a:xfrm>
          <a:prstGeom prst="roundRect">
            <a:avLst>
              <a:gd name="adj" fmla="val 2000"/>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Frontier 3: Micro-Conversational Human-Likeness &amp; Conversational Repair</a:t>
            </a:r>
          </a:p>
        </p:txBody>
      </p:sp>
      <p:sp>
        <p:nvSpPr>
          <p:cNvPr id="19" name="TextBox 18"/>
          <p:cNvSpPr txBox="1"/>
          <p:nvPr/>
        </p:nvSpPr>
        <p:spPr>
          <a:xfrm>
            <a:off x="411479" y="4315968"/>
            <a:ext cx="5440680" cy="207568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What Our Capstone Data Revealed (EDA &amp; RQ2):</a:t>
            </a:r>
          </a:p>
          <a:p>
            <a:pPr>
              <a:spcAft>
                <a:spcPts val="400"/>
              </a:spcAft>
            </a:pPr>
            <a:r>
              <a:rPr sz="1000" b="0" i="0">
                <a:solidFill>
                  <a:srgbClr val="1E2430"/>
                </a:solidFill>
                <a:latin typeface="Calibri"/>
              </a:rPr>
              <a:t>    ▪ Our bivariate EDA (Table 7) showed that human uncertainty is marked by </a:t>
            </a:r>
            <a:r>
              <a:rPr sz="1000" b="0" i="1">
                <a:solidFill>
                  <a:srgbClr val="1E2430"/>
                </a:solidFill>
                <a:latin typeface="Calibri"/>
              </a:rPr>
              <a:t>hesitation markers</a:t>
            </a:r>
            <a:r>
              <a:rPr sz="1000" b="0" i="0">
                <a:solidFill>
                  <a:srgbClr val="1E2430"/>
                </a:solidFill>
                <a:latin typeface="Calibri"/>
              </a:rPr>
              <a:t> (</a:t>
            </a:r>
            <a:r>
              <a:rPr sz="1000" b="0" i="1">
                <a:solidFill>
                  <a:srgbClr val="1E2430"/>
                </a:solidFill>
                <a:latin typeface="Calibri"/>
              </a:rPr>
              <a:t>r</a:t>
            </a:r>
            <a:r>
              <a:rPr sz="1000" b="0" i="0">
                <a:solidFill>
                  <a:srgbClr val="1E2430"/>
                </a:solidFill>
                <a:latin typeface="Calibri"/>
              </a:rPr>
              <a:t> = .192 with revisions), empathetic grounding, and collaborative repair when constraints conflict.</a:t>
            </a:r>
          </a:p>
          <a:p>
            <a:pPr>
              <a:spcAft>
                <a:spcPts val="400"/>
              </a:spcAft>
            </a:pPr>
            <a:r>
              <a:rPr sz="1000" b="0" i="0">
                <a:solidFill>
                  <a:srgbClr val="1E2430"/>
                </a:solidFill>
                <a:latin typeface="Calibri"/>
              </a:rPr>
              <a:t>• </a:t>
            </a:r>
            <a:r>
              <a:rPr sz="1000" b="1" i="0">
                <a:solidFill>
                  <a:srgbClr val="1E2430"/>
                </a:solidFill>
                <a:latin typeface="Calibri"/>
              </a:rPr>
              <a:t>What Remains Unsolved for the Dissertation:</a:t>
            </a:r>
          </a:p>
          <a:p>
            <a:pPr>
              <a:spcAft>
                <a:spcPts val="400"/>
              </a:spcAft>
            </a:pPr>
            <a:r>
              <a:rPr sz="1000" b="0" i="0">
                <a:solidFill>
                  <a:srgbClr val="1E2430"/>
                </a:solidFill>
                <a:latin typeface="Calibri"/>
              </a:rPr>
              <a:t>    ▪ Matching centroid cosine and word count (RQ2) captures </a:t>
            </a:r>
            <a:r>
              <a:rPr sz="1000" b="0" i="1">
                <a:solidFill>
                  <a:srgbClr val="1E2430"/>
                </a:solidFill>
                <a:latin typeface="Calibri"/>
              </a:rPr>
              <a:t>macro-style</a:t>
            </a:r>
            <a:r>
              <a:rPr sz="1000" b="0" i="0">
                <a:solidFill>
                  <a:srgbClr val="1E2430"/>
                </a:solidFill>
                <a:latin typeface="Calibri"/>
              </a:rPr>
              <a:t>, but true </a:t>
            </a:r>
            <a:r>
              <a:rPr sz="1000" b="1" i="0">
                <a:solidFill>
                  <a:srgbClr val="1E2430"/>
                </a:solidFill>
                <a:latin typeface="Calibri"/>
              </a:rPr>
              <a:t>human-like conversation</a:t>
            </a:r>
            <a:r>
              <a:rPr sz="1000" b="0" i="0">
                <a:solidFill>
                  <a:srgbClr val="1E2430"/>
                </a:solidFill>
                <a:latin typeface="Calibri"/>
              </a:rPr>
              <a:t> requires modeling </a:t>
            </a:r>
            <a:r>
              <a:rPr sz="1000" b="0" i="1">
                <a:solidFill>
                  <a:srgbClr val="1E2430"/>
                </a:solidFill>
                <a:latin typeface="Calibri"/>
              </a:rPr>
              <a:t>micro-pragmatics</a:t>
            </a:r>
            <a:r>
              <a:rPr sz="1000" b="0" i="0">
                <a:solidFill>
                  <a:srgbClr val="1E2430"/>
                </a:solidFill>
                <a:latin typeface="Calibri"/>
              </a:rPr>
              <a:t>: backchanneling, empathetic acknowledgment of budget frustration, mixed-initiative turn-taking, and graceful conversational repair.</a:t>
            </a:r>
          </a:p>
        </p:txBody>
      </p:sp>
      <p:sp>
        <p:nvSpPr>
          <p:cNvPr id="20" name="Rounded Rectangle 19"/>
          <p:cNvSpPr/>
          <p:nvPr/>
        </p:nvSpPr>
        <p:spPr>
          <a:xfrm>
            <a:off x="6217920" y="3931920"/>
            <a:ext cx="5650992" cy="251460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3931920"/>
            <a:ext cx="5650992" cy="329184"/>
          </a:xfrm>
          <a:prstGeom prst="roundRect">
            <a:avLst>
              <a:gd name="adj" fmla="val 2000"/>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Frontier 4: Moving Beyond Cooperative LLM Simulators to Live Humans</a:t>
            </a:r>
          </a:p>
        </p:txBody>
      </p:sp>
      <p:sp>
        <p:nvSpPr>
          <p:cNvPr id="22" name="TextBox 21"/>
          <p:cNvSpPr txBox="1"/>
          <p:nvPr/>
        </p:nvSpPr>
        <p:spPr>
          <a:xfrm>
            <a:off x="6309359" y="4315968"/>
            <a:ext cx="5468112" cy="207568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What Our Capstone Data Revealed (RQ4):</a:t>
            </a:r>
          </a:p>
          <a:p>
            <a:pPr>
              <a:spcAft>
                <a:spcPts val="400"/>
              </a:spcAft>
            </a:pPr>
            <a:r>
              <a:rPr sz="1000" b="0" i="0">
                <a:solidFill>
                  <a:srgbClr val="1E2430"/>
                </a:solidFill>
                <a:latin typeface="Calibri"/>
              </a:rPr>
              <a:t>    ▪ Even though our persona simulator achieved κ = .933 fidelity, simulated users completed 100% of sessions in 5.00–5.27 turns—whereas real humans in Frames had a 25.8% non-completion rate and noisier multi-topic tangents.</a:t>
            </a:r>
          </a:p>
          <a:p>
            <a:pPr>
              <a:spcAft>
                <a:spcPts val="400"/>
              </a:spcAft>
            </a:pPr>
            <a:r>
              <a:rPr sz="1000" b="0" i="0">
                <a:solidFill>
                  <a:srgbClr val="1E2430"/>
                </a:solidFill>
                <a:latin typeface="Calibri"/>
              </a:rPr>
              <a:t>• </a:t>
            </a:r>
            <a:r>
              <a:rPr sz="1000" b="1" i="0">
                <a:solidFill>
                  <a:srgbClr val="1E2430"/>
                </a:solidFill>
                <a:latin typeface="Calibri"/>
              </a:rPr>
              <a:t>What Remains Unsolved for the Dissertation:</a:t>
            </a:r>
          </a:p>
          <a:p>
            <a:pPr>
              <a:spcAft>
                <a:spcPts val="400"/>
              </a:spcAft>
            </a:pPr>
            <a:r>
              <a:rPr sz="1000" b="0" i="0">
                <a:solidFill>
                  <a:srgbClr val="1E2430"/>
                </a:solidFill>
                <a:latin typeface="Calibri"/>
              </a:rPr>
              <a:t>    ▪ Training and evaluating adaptive dialogue policies with </a:t>
            </a:r>
            <a:r>
              <a:rPr sz="1000" b="1" i="0">
                <a:solidFill>
                  <a:srgbClr val="1E2430"/>
                </a:solidFill>
                <a:latin typeface="Calibri"/>
              </a:rPr>
              <a:t>offline-to-online Reinforcement Learning from Human Conversations (RLHC)</a:t>
            </a:r>
            <a:r>
              <a:rPr sz="1000" b="0" i="0">
                <a:solidFill>
                  <a:srgbClr val="1E2430"/>
                </a:solidFill>
                <a:latin typeface="Calibri"/>
              </a:rPr>
              <a:t> with live human participants across multiple domains.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8: CONCLUSIVE STORY &amp; DOCTORAL DISSERTATION ROADMAP</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41</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Future Doctoral Dissertation Roadmap: 'Dialogue Clustering &amp; Methodologies for Human-Like Conversations'</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Requirement #5b: Four doctoral research pillars directly extending this capstone's findings and codebase</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graphicFrame>
        <p:nvGraphicFramePr>
          <p:cNvPr id="11" name="Table 10"/>
          <p:cNvGraphicFramePr>
            <a:graphicFrameLocks noGrp="1"/>
          </p:cNvGraphicFramePr>
          <p:nvPr/>
        </p:nvGraphicFramePr>
        <p:xfrm>
          <a:off x="320040" y="1371600"/>
          <a:ext cx="11548870" cy="3977639"/>
        </p:xfrm>
        <a:graphic>
          <a:graphicData uri="http://schemas.openxmlformats.org/drawingml/2006/table">
            <a:tbl>
              <a:tblPr firstRow="1" bandRow="1">
                <a:tableStyleId>{5C22544A-7EE6-4342-B048-85BDC9FD1C3A}</a:tableStyleId>
              </a:tblPr>
              <a:tblGrid>
                <a:gridCol w="2016469"/>
                <a:gridCol w="2566416"/>
                <a:gridCol w="3666308"/>
                <a:gridCol w="3299677"/>
              </a:tblGrid>
              <a:tr h="795527">
                <a:tc>
                  <a:txBody>
                    <a:bodyPr/>
                    <a:lstStyle/>
                    <a:p>
                      <a:pPr algn="l"/>
                      <a:r>
                        <a:rPr sz="1100" b="1" i="0">
                          <a:solidFill>
                            <a:srgbClr val="FFFFFF"/>
                          </a:solidFill>
                          <a:latin typeface="Calibri"/>
                        </a:rPr>
                        <a:t>Doctoral Dissertation Pillar</a:t>
                      </a:r>
                    </a:p>
                  </a:txBody>
                  <a:tcPr anchor="ctr" marL="54864" marR="54864" marT="27432" marB="27432">
                    <a:solidFill>
                      <a:srgbClr val="14325C"/>
                    </a:solidFill>
                  </a:tcPr>
                </a:tc>
                <a:tc>
                  <a:txBody>
                    <a:bodyPr/>
                    <a:lstStyle/>
                    <a:p>
                      <a:pPr algn="l"/>
                      <a:r>
                        <a:rPr sz="1100" b="1" i="0">
                          <a:solidFill>
                            <a:srgbClr val="FFFFFF"/>
                          </a:solidFill>
                          <a:latin typeface="Calibri"/>
                        </a:rPr>
                        <a:t>Core Research Question for the Dissertation</a:t>
                      </a:r>
                    </a:p>
                  </a:txBody>
                  <a:tcPr anchor="ctr" marL="54864" marR="54864" marT="27432" marB="27432">
                    <a:solidFill>
                      <a:srgbClr val="14325C"/>
                    </a:solidFill>
                  </a:tcPr>
                </a:tc>
                <a:tc>
                  <a:txBody>
                    <a:bodyPr/>
                    <a:lstStyle/>
                    <a:p>
                      <a:pPr algn="l"/>
                      <a:r>
                        <a:rPr sz="1100" b="1" i="0">
                          <a:solidFill>
                            <a:srgbClr val="FFFFFF"/>
                          </a:solidFill>
                          <a:latin typeface="Calibri"/>
                        </a:rPr>
                        <a:t>Proposed Methodology &amp; Mathematical Framework</a:t>
                      </a:r>
                    </a:p>
                  </a:txBody>
                  <a:tcPr anchor="ctr" marL="54864" marR="54864" marT="27432" marB="27432">
                    <a:solidFill>
                      <a:srgbClr val="14325C"/>
                    </a:solidFill>
                  </a:tcPr>
                </a:tc>
                <a:tc>
                  <a:txBody>
                    <a:bodyPr/>
                    <a:lstStyle/>
                    <a:p>
                      <a:pPr algn="l"/>
                      <a:r>
                        <a:rPr sz="1100" b="1" i="0">
                          <a:solidFill>
                            <a:srgbClr val="FFFFFF"/>
                          </a:solidFill>
                          <a:latin typeface="Calibri"/>
                        </a:rPr>
                        <a:t>How This Capstone's Findings Directly Aid &amp; Seed This Pillar</a:t>
                      </a:r>
                    </a:p>
                  </a:txBody>
                  <a:tcPr anchor="ctr" marL="54864" marR="54864" marT="27432" marB="27432">
                    <a:solidFill>
                      <a:srgbClr val="14325C"/>
                    </a:solidFill>
                  </a:tcPr>
                </a:tc>
              </a:tr>
              <a:tr h="795527">
                <a:tc>
                  <a:txBody>
                    <a:bodyPr/>
                    <a:lstStyle/>
                    <a:p>
                      <a:pPr algn="l"/>
                      <a:r>
                        <a:rPr sz="980" b="1" i="0">
                          <a:solidFill>
                            <a:srgbClr val="1E2430"/>
                          </a:solidFill>
                          <a:latin typeface="Calibri"/>
                        </a:rPr>
                        <a:t>Pillar 1:
Soft-Mixture &amp; Variational Manifold Trajectory Clustering</a:t>
                      </a:r>
                    </a:p>
                  </a:txBody>
                  <a:tcPr anchor="ctr" marL="54864" marR="54864" marT="22860" marB="22860">
                    <a:solidFill>
                      <a:srgbClr val="E1F3E8"/>
                    </a:solidFill>
                  </a:tcPr>
                </a:tc>
                <a:tc>
                  <a:txBody>
                    <a:bodyPr/>
                    <a:lstStyle/>
                    <a:p>
                      <a:pPr algn="l"/>
                      <a:r>
                        <a:rPr sz="980" b="1" i="0">
                          <a:solidFill>
                            <a:srgbClr val="1E2430"/>
                          </a:solidFill>
                          <a:latin typeface="Calibri"/>
                        </a:rPr>
                        <a:t>Can continuous Gaussian Mixture / Variational Autoencoder (VAE) latent spaces outperform hard K-Means partitioning for boundary speakers?</a:t>
                      </a:r>
                    </a:p>
                  </a:txBody>
                  <a:tcPr anchor="ctr" marL="54864" marR="54864" marT="22860" marB="22860">
                    <a:solidFill>
                      <a:srgbClr val="E1F3E8"/>
                    </a:solidFill>
                  </a:tcPr>
                </a:tc>
                <a:tc>
                  <a:txBody>
                    <a:bodyPr/>
                    <a:lstStyle/>
                    <a:p>
                      <a:pPr algn="l"/>
                      <a:r>
                        <a:rPr sz="980" b="1" i="0">
                          <a:solidFill>
                            <a:srgbClr val="1E2430"/>
                          </a:solidFill>
                          <a:latin typeface="Calibri"/>
                        </a:rPr>
                        <a:t>Replace hard centroid assignment with a Dirichlet / Von Mises–Fisher mixture over the `Blocks` manifold: retrieve a </a:t>
                      </a:r>
                      <a:r>
                        <a:rPr sz="980" b="1" i="0">
                          <a:solidFill>
                            <a:srgbClr val="1E2430"/>
                          </a:solidFill>
                          <a:latin typeface="Calibri"/>
                        </a:rPr>
                        <a:t>convex combination of exemplars</a:t>
                      </a:r>
                      <a:r>
                        <a:rPr sz="980" b="1" i="0">
                          <a:solidFill>
                            <a:srgbClr val="1E2430"/>
                          </a:solidFill>
                          <a:latin typeface="Calibri"/>
                        </a:rPr>
                        <a:t> weighted by posterior probabilities P(c_k | prefix_t).</a:t>
                      </a:r>
                    </a:p>
                  </a:txBody>
                  <a:tcPr anchor="ctr" marL="54864" marR="54864" marT="22860" marB="22860">
                    <a:solidFill>
                      <a:srgbClr val="E1F3E8"/>
                    </a:solidFill>
                  </a:tcPr>
                </a:tc>
                <a:tc>
                  <a:txBody>
                    <a:bodyPr/>
                    <a:lstStyle/>
                    <a:p>
                      <a:pPr algn="l"/>
                      <a:r>
                        <a:rPr sz="980" b="1" i="0">
                          <a:solidFill>
                            <a:srgbClr val="1E2430"/>
                          </a:solidFill>
                          <a:latin typeface="Calibri"/>
                        </a:rPr>
                        <a:t>Directly reuses our validated 36-d `Blocks` representation (PCA-20 Gemini + 16-field behavioral codebook) and our 25.2% non-core boundary dialogue subset identified in `step2h/2i`.</a:t>
                      </a:r>
                    </a:p>
                  </a:txBody>
                  <a:tcPr anchor="ctr" marL="54864" marR="54864" marT="22860" marB="22860">
                    <a:solidFill>
                      <a:srgbClr val="E1F3E8"/>
                    </a:solidFill>
                  </a:tcPr>
                </a:tc>
              </a:tr>
              <a:tr h="795527">
                <a:tc>
                  <a:txBody>
                    <a:bodyPr/>
                    <a:lstStyle/>
                    <a:p>
                      <a:pPr algn="l"/>
                      <a:r>
                        <a:rPr sz="980" b="1" i="0">
                          <a:solidFill>
                            <a:srgbClr val="1E2430"/>
                          </a:solidFill>
                          <a:latin typeface="Calibri"/>
                        </a:rPr>
                        <a:t>Pillar 2:
Turn-by-Turn Bayesian Persona Tracking &amp; Drift Detection</a:t>
                      </a:r>
                    </a:p>
                  </a:txBody>
                  <a:tcPr anchor="ctr" marL="54864" marR="54864" marT="22860" marB="22860">
                    <a:solidFill>
                      <a:srgbClr val="E1F3E8"/>
                    </a:solidFill>
                  </a:tcPr>
                </a:tc>
                <a:tc>
                  <a:txBody>
                    <a:bodyPr/>
                    <a:lstStyle/>
                    <a:p>
                      <a:pPr algn="l"/>
                      <a:r>
                        <a:rPr sz="980" b="1" i="0">
                          <a:solidFill>
                            <a:srgbClr val="1E2430"/>
                          </a:solidFill>
                          <a:latin typeface="Calibri"/>
                        </a:rPr>
                        <a:t>How can an agent detect mid-dialogue persona shifts (e.g., Explorer → Rigid Negotiator) starting from Turn 1?</a:t>
                      </a:r>
                    </a:p>
                  </a:txBody>
                  <a:tcPr anchor="ctr" marL="54864" marR="54864" marT="22860" marB="22860">
                    <a:solidFill>
                      <a:srgbClr val="E1F3E8"/>
                    </a:solidFill>
                  </a:tcPr>
                </a:tc>
                <a:tc>
                  <a:txBody>
                    <a:bodyPr/>
                    <a:lstStyle/>
                    <a:p>
                      <a:pPr algn="l"/>
                      <a:r>
                        <a:rPr sz="980" b="1" i="0">
                          <a:solidFill>
                            <a:srgbClr val="1E2430"/>
                          </a:solidFill>
                          <a:latin typeface="Calibri"/>
                        </a:rPr>
                        <a:t>Formulate a </a:t>
                      </a:r>
                      <a:r>
                        <a:rPr sz="980" b="1" i="0">
                          <a:solidFill>
                            <a:srgbClr val="1E2430"/>
                          </a:solidFill>
                          <a:latin typeface="Calibri"/>
                        </a:rPr>
                        <a:t>Hidden Markov / Kalman State-Space Persona Tracker</a:t>
                      </a:r>
                      <a:r>
                        <a:rPr sz="980" b="1" i="0">
                          <a:solidFill>
                            <a:srgbClr val="1E2430"/>
                          </a:solidFill>
                          <a:latin typeface="Calibri"/>
                        </a:rPr>
                        <a:t> that updates posterior persona beliefs P(z_t | u_1..t) after every user utterance and detects change-points in constraint rigidity.</a:t>
                      </a:r>
                    </a:p>
                  </a:txBody>
                  <a:tcPr anchor="ctr" marL="54864" marR="54864" marT="22860" marB="22860">
                    <a:solidFill>
                      <a:srgbClr val="E1F3E8"/>
                    </a:solidFill>
                  </a:tcPr>
                </a:tc>
                <a:tc>
                  <a:txBody>
                    <a:bodyPr/>
                    <a:lstStyle/>
                    <a:p>
                      <a:pPr algn="l"/>
                      <a:r>
                        <a:rPr sz="980" b="1" i="0">
                          <a:solidFill>
                            <a:srgbClr val="1E2430"/>
                          </a:solidFill>
                          <a:latin typeface="Calibri"/>
                        </a:rPr>
                        <a:t>Builds directly on our truncation horizon curve (M = 3, 5, 7, 9 in Table D5) and `RefinedArchetypeRouter`, extending static prefix routing into sequential filtering.</a:t>
                      </a:r>
                    </a:p>
                  </a:txBody>
                  <a:tcPr anchor="ctr" marL="54864" marR="54864" marT="22860" marB="22860">
                    <a:solidFill>
                      <a:srgbClr val="E1F3E8"/>
                    </a:solidFill>
                  </a:tcPr>
                </a:tc>
              </a:tr>
              <a:tr h="795527">
                <a:tc>
                  <a:txBody>
                    <a:bodyPr/>
                    <a:lstStyle/>
                    <a:p>
                      <a:pPr algn="l"/>
                      <a:r>
                        <a:rPr sz="980" b="1" i="0">
                          <a:solidFill>
                            <a:srgbClr val="1E2430"/>
                          </a:solidFill>
                          <a:latin typeface="Calibri"/>
                        </a:rPr>
                        <a:t>Pillar 3:
Pragmatic &amp; Affective Micro-Adaptations for Human-Like Dialogue</a:t>
                      </a:r>
                    </a:p>
                  </a:txBody>
                  <a:tcPr anchor="ctr" marL="54864" marR="54864" marT="22860" marB="22860">
                    <a:solidFill>
                      <a:srgbClr val="E1F3E8"/>
                    </a:solidFill>
                  </a:tcPr>
                </a:tc>
                <a:tc>
                  <a:txBody>
                    <a:bodyPr/>
                    <a:lstStyle/>
                    <a:p>
                      <a:pPr algn="l"/>
                      <a:r>
                        <a:rPr sz="980" b="1" i="0">
                          <a:solidFill>
                            <a:srgbClr val="1E2430"/>
                          </a:solidFill>
                          <a:latin typeface="Calibri"/>
                        </a:rPr>
                        <a:t>Which linguistic, affective, and conversational-repair micro-strategies make an AI agent indistinguishable from a skilled human consultant?</a:t>
                      </a:r>
                    </a:p>
                  </a:txBody>
                  <a:tcPr anchor="ctr" marL="54864" marR="54864" marT="22860" marB="22860">
                    <a:solidFill>
                      <a:srgbClr val="E1F3E8"/>
                    </a:solidFill>
                  </a:tcPr>
                </a:tc>
                <a:tc>
                  <a:txBody>
                    <a:bodyPr/>
                    <a:lstStyle/>
                    <a:p>
                      <a:pPr algn="l"/>
                      <a:r>
                        <a:rPr sz="980" b="1" i="0">
                          <a:solidFill>
                            <a:srgbClr val="1E2430"/>
                          </a:solidFill>
                          <a:latin typeface="Calibri"/>
                        </a:rPr>
                        <a:t>Expand our 16-field behavioral codebook to 30+ </a:t>
                      </a:r>
                      <a:r>
                        <a:rPr sz="980" b="1" i="0">
                          <a:solidFill>
                            <a:srgbClr val="1E2430"/>
                          </a:solidFill>
                          <a:latin typeface="Calibri"/>
                        </a:rPr>
                        <a:t>pragmatic/affective act dimensions</a:t>
                      </a:r>
                      <a:r>
                        <a:rPr sz="980" b="1" i="0">
                          <a:solidFill>
                            <a:srgbClr val="1E2430"/>
                          </a:solidFill>
                          <a:latin typeface="Calibri"/>
                        </a:rPr>
                        <a:t> (empathy, hedging, collaborative trade-off framing, grounding acts) and condition generation on turn-level pragmatic transitions.</a:t>
                      </a:r>
                    </a:p>
                  </a:txBody>
                  <a:tcPr anchor="ctr" marL="54864" marR="54864" marT="22860" marB="22860">
                    <a:solidFill>
                      <a:srgbClr val="E1F3E8"/>
                    </a:solidFill>
                  </a:tcPr>
                </a:tc>
                <a:tc>
                  <a:txBody>
                    <a:bodyPr/>
                    <a:lstStyle/>
                    <a:p>
                      <a:pPr algn="l"/>
                      <a:r>
                        <a:rPr sz="980" b="1" i="0">
                          <a:solidFill>
                            <a:srgbClr val="1E2430"/>
                          </a:solidFill>
                          <a:latin typeface="Calibri"/>
                        </a:rPr>
                        <a:t>Extends our RQ2 style-convergence and pacing-error metrics (`step2_rq2_refined.py`) from surface cosine/length to discourse-act transition matrices.</a:t>
                      </a:r>
                    </a:p>
                  </a:txBody>
                  <a:tcPr anchor="ctr" marL="54864" marR="54864" marT="22860" marB="22860">
                    <a:solidFill>
                      <a:srgbClr val="E1F3E8"/>
                    </a:solidFill>
                  </a:tcPr>
                </a:tc>
              </a:tr>
              <a:tr h="795531">
                <a:tc>
                  <a:txBody>
                    <a:bodyPr/>
                    <a:lstStyle/>
                    <a:p>
                      <a:pPr algn="l"/>
                      <a:r>
                        <a:rPr sz="980" b="1" i="0">
                          <a:solidFill>
                            <a:srgbClr val="1E2430"/>
                          </a:solidFill>
                          <a:latin typeface="Calibri"/>
                        </a:rPr>
                        <a:t>Pillar 4:
Constrained Neuro-Symbolic RL for Multi-Domain Human-Like Agents</a:t>
                      </a:r>
                    </a:p>
                  </a:txBody>
                  <a:tcPr anchor="ctr" marL="54864" marR="54864" marT="22860" marB="22860">
                    <a:solidFill>
                      <a:srgbClr val="E1F3E8"/>
                    </a:solidFill>
                  </a:tcPr>
                </a:tc>
                <a:tc>
                  <a:txBody>
                    <a:bodyPr/>
                    <a:lstStyle/>
                    <a:p>
                      <a:pPr algn="l"/>
                      <a:r>
                        <a:rPr sz="980" b="1" i="0">
                          <a:solidFill>
                            <a:srgbClr val="1E2430"/>
                          </a:solidFill>
                          <a:latin typeface="Calibri"/>
                        </a:rPr>
                        <a:t>Can we optimize multi-turn human-likeness, rapport, and task efficiency simultaneously under zero-violation symbolic constraints?</a:t>
                      </a:r>
                    </a:p>
                  </a:txBody>
                  <a:tcPr anchor="ctr" marL="54864" marR="54864" marT="22860" marB="22860">
                    <a:solidFill>
                      <a:srgbClr val="E1F3E8"/>
                    </a:solidFill>
                  </a:tcPr>
                </a:tc>
                <a:tc>
                  <a:txBody>
                    <a:bodyPr/>
                    <a:lstStyle/>
                    <a:p>
                      <a:pPr algn="l"/>
                      <a:r>
                        <a:rPr sz="980" b="1" i="0">
                          <a:solidFill>
                            <a:srgbClr val="1E2430"/>
                          </a:solidFill>
                          <a:latin typeface="Calibri"/>
                        </a:rPr>
                        <a:t>Formulate a </a:t>
                      </a:r>
                      <a:r>
                        <a:rPr sz="980" b="1" i="0">
                          <a:solidFill>
                            <a:srgbClr val="1E2430"/>
                          </a:solidFill>
                          <a:latin typeface="Calibri"/>
                        </a:rPr>
                        <a:t>Constrained Markov Decision Process (CMDP)</a:t>
                      </a:r>
                      <a:r>
                        <a:rPr sz="980" b="1" i="0">
                          <a:solidFill>
                            <a:srgbClr val="1E2430"/>
                          </a:solidFill>
                          <a:latin typeface="Calibri"/>
                        </a:rPr>
                        <a:t> where our declarative `RuleEngine` acts as a hard safety shield while Offline RL (CQL / DPO) optimizes turn economy and human rapport across Travel, Healthcare &amp; Banking.</a:t>
                      </a:r>
                    </a:p>
                  </a:txBody>
                  <a:tcPr anchor="ctr" marL="54864" marR="54864" marT="22860" marB="22860">
                    <a:solidFill>
                      <a:srgbClr val="E1F3E8"/>
                    </a:solidFill>
                  </a:tcPr>
                </a:tc>
                <a:tc>
                  <a:txBody>
                    <a:bodyPr/>
                    <a:lstStyle/>
                    <a:p>
                      <a:pPr algn="l"/>
                      <a:r>
                        <a:rPr sz="980" b="1" i="0">
                          <a:solidFill>
                            <a:srgbClr val="1E2430"/>
                          </a:solidFill>
                          <a:latin typeface="Calibri"/>
                        </a:rPr>
                        <a:t>Uses our RQ3 `RuleEngine` (0.0% leakage, 98.6% adherence) as the deterministic safety shield and our RQ4 multi-turn simulator (`step4_rq4_simulation.py`) as the pre-deployment training gym.</a:t>
                      </a:r>
                    </a:p>
                  </a:txBody>
                  <a:tcPr anchor="ctr" marL="54864" marR="54864" marT="22860" marB="22860">
                    <a:solidFill>
                      <a:srgbClr val="E1F3E8"/>
                    </a:solidFill>
                  </a:tcPr>
                </a:tc>
              </a:tr>
            </a:tbl>
          </a:graphicData>
        </a:graphic>
      </p:graphicFrame>
      <p:sp>
        <p:nvSpPr>
          <p:cNvPr id="12" name="Rounded Rectangle 11"/>
          <p:cNvSpPr/>
          <p:nvPr/>
        </p:nvSpPr>
        <p:spPr>
          <a:xfrm>
            <a:off x="320040" y="5486400"/>
            <a:ext cx="11548872" cy="960120"/>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100" b="1" i="0">
                <a:solidFill>
                  <a:srgbClr val="1E2430"/>
                </a:solidFill>
                <a:latin typeface="Calibri"/>
              </a:rPr>
              <a:t>Why This Capstone Is the Ideal Foundation for the Doctoral Dissertation:</a:t>
            </a:r>
            <a:r>
              <a:rPr sz="1100" b="0" i="0">
                <a:solidFill>
                  <a:srgbClr val="1E2430"/>
                </a:solidFill>
                <a:latin typeface="Calibri"/>
              </a:rPr>
              <a:t>
This master's study solved the </a:t>
            </a:r>
            <a:r>
              <a:rPr sz="1100" b="0" i="1">
                <a:solidFill>
                  <a:srgbClr val="1E2430"/>
                </a:solidFill>
                <a:latin typeface="Calibri"/>
              </a:rPr>
              <a:t>foundational architecture</a:t>
            </a:r>
            <a:r>
              <a:rPr sz="1100" b="0" i="0">
                <a:solidFill>
                  <a:srgbClr val="1E2430"/>
                </a:solidFill>
                <a:latin typeface="Calibri"/>
              </a:rPr>
              <a:t>—proving that behavioral-semantic trajectory clustering (`Blocks`), slot-masked exemplar retrieval, and declarative symbolic guardrails work together with </a:t>
            </a:r>
            <a:r>
              <a:rPr sz="1100" b="0" i="1">
                <a:solidFill>
                  <a:srgbClr val="1E2430"/>
                </a:solidFill>
                <a:latin typeface="Calibri"/>
              </a:rPr>
              <a:t>p</a:t>
            </a:r>
            <a:r>
              <a:rPr sz="1100" b="0" i="0">
                <a:solidFill>
                  <a:srgbClr val="1E2430"/>
                </a:solidFill>
                <a:latin typeface="Calibri"/>
              </a:rPr>
              <a:t> &lt; .001 across all four RQs. The doctoral dissertation elevates this static, episode-level travel framework into a </a:t>
            </a:r>
            <a:r>
              <a:rPr sz="1100" b="1" i="0">
                <a:solidFill>
                  <a:srgbClr val="1E2430"/>
                </a:solidFill>
                <a:latin typeface="Calibri"/>
              </a:rPr>
              <a:t>continuous, dynamic, cross-domain theory of human-like conversational adaptation</a:t>
            </a:r>
            <a:r>
              <a:rPr sz="1100" b="0" i="0">
                <a:solidFill>
                  <a:srgbClr val="1E2430"/>
                </a:solidFill>
                <a:latin typeface="Calibri"/>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C58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9728"/>
            <a:ext cx="3017520" cy="237744"/>
          </a:xfrm>
          <a:prstGeom prst="round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i="0">
                <a:solidFill>
                  <a:srgbClr val="FFFFFF"/>
                </a:solidFill>
                <a:latin typeface="Calibri"/>
              </a:rPr>
              <a:t>MODULE 8: CONCLUSIVE STORY &amp; DOCTORAL DISSERTATION ROADMAP</a:t>
            </a:r>
          </a:p>
        </p:txBody>
      </p:sp>
      <p:sp>
        <p:nvSpPr>
          <p:cNvPr id="6" name="TextBox 5"/>
          <p:cNvSpPr txBox="1"/>
          <p:nvPr/>
        </p:nvSpPr>
        <p:spPr>
          <a:xfrm>
            <a:off x="10607040" y="91440"/>
            <a:ext cx="1371600" cy="274320"/>
          </a:xfrm>
          <a:prstGeom prst="rect">
            <a:avLst/>
          </a:prstGeom>
          <a:noFill/>
        </p:spPr>
        <p:txBody>
          <a:bodyPr wrap="none">
            <a:spAutoFit/>
          </a:bodyPr>
          <a:lstStyle/>
          <a:p>
            <a:pPr algn="r"/>
            <a:r>
              <a:rPr sz="1000" b="1" i="0">
                <a:solidFill>
                  <a:srgbClr val="BECDE1"/>
                </a:solidFill>
                <a:latin typeface="Calibri"/>
              </a:rPr>
              <a:t>Slide 42</a:t>
            </a:r>
          </a:p>
        </p:txBody>
      </p:sp>
      <p:sp>
        <p:nvSpPr>
          <p:cNvPr id="7" name="TextBox 6"/>
          <p:cNvSpPr txBox="1"/>
          <p:nvPr/>
        </p:nvSpPr>
        <p:spPr>
          <a:xfrm>
            <a:off x="320040" y="329184"/>
            <a:ext cx="11521440" cy="384048"/>
          </a:xfrm>
          <a:prstGeom prst="rect">
            <a:avLst/>
          </a:prstGeom>
          <a:noFill/>
        </p:spPr>
        <p:txBody>
          <a:bodyPr wrap="square" tIns="0" bIns="0">
            <a:spAutoFit/>
          </a:bodyPr>
          <a:lstStyle/>
          <a:p>
            <a:r>
              <a:rPr sz="2000" b="1" i="0">
                <a:solidFill>
                  <a:srgbClr val="FFFFFF"/>
                </a:solidFill>
                <a:latin typeface="Calibri"/>
              </a:rPr>
              <a:t>Concluding Summary &amp; Defense Open Floor</a:t>
            </a:r>
          </a:p>
        </p:txBody>
      </p:sp>
      <p:sp>
        <p:nvSpPr>
          <p:cNvPr id="8" name="Rectangle 7"/>
          <p:cNvSpPr/>
          <p:nvPr/>
        </p:nvSpPr>
        <p:spPr>
          <a:xfrm>
            <a:off x="0" y="960120"/>
            <a:ext cx="12191695" cy="310896"/>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78408"/>
            <a:ext cx="11521440" cy="274320"/>
          </a:xfrm>
          <a:prstGeom prst="rect">
            <a:avLst/>
          </a:prstGeom>
          <a:noFill/>
        </p:spPr>
        <p:txBody>
          <a:bodyPr wrap="square" tIns="0" bIns="0">
            <a:spAutoFit/>
          </a:bodyPr>
          <a:lstStyle/>
          <a:p>
            <a:r>
              <a:rPr sz="1150" b="0" i="1">
                <a:solidFill>
                  <a:srgbClr val="0F2544"/>
                </a:solidFill>
                <a:latin typeface="Calibri"/>
              </a:rPr>
              <a:t>A complete, reproducible, empirically validated blueprint for neuro-symbolic conversational personalization</a:t>
            </a:r>
          </a:p>
        </p:txBody>
      </p:sp>
      <p:sp>
        <p:nvSpPr>
          <p:cNvPr id="10" name="TextBox 9"/>
          <p:cNvSpPr txBox="1"/>
          <p:nvPr/>
        </p:nvSpPr>
        <p:spPr>
          <a:xfrm>
            <a:off x="320040" y="6601968"/>
            <a:ext cx="11521440" cy="219456"/>
          </a:xfrm>
          <a:prstGeom prst="rect">
            <a:avLst/>
          </a:prstGeom>
          <a:noFill/>
        </p:spPr>
        <p:txBody>
          <a:bodyPr wrap="none">
            <a:spAutoFit/>
          </a:bodyPr>
          <a:lstStyle/>
          <a:p>
            <a:r>
              <a:rPr sz="850" b="0" i="0">
                <a:solidFill>
                  <a:srgbClr val="5A6577"/>
                </a:solidFill>
                <a:latin typeface="Calibri"/>
              </a:rPr>
              <a:t>Surnella Sandeep | QM640 Data Analytics Capstone | Cluster-Adaptive Prompting for Multi-Turn Travel Conversational Systems</a:t>
            </a:r>
          </a:p>
        </p:txBody>
      </p:sp>
      <p:sp>
        <p:nvSpPr>
          <p:cNvPr id="11" name="Rounded Rectangle 10"/>
          <p:cNvSpPr/>
          <p:nvPr/>
        </p:nvSpPr>
        <p:spPr>
          <a:xfrm>
            <a:off x="320040" y="1371600"/>
            <a:ext cx="5623560" cy="3931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 y="1371600"/>
            <a:ext cx="5623560" cy="329184"/>
          </a:xfrm>
          <a:prstGeom prst="roundRect">
            <a:avLst>
              <a:gd name="adj" fmla="val 2000"/>
            </a:avLst>
          </a:prstGeom>
          <a:solidFill>
            <a:srgbClr val="0F254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Key Scientific &amp; Engineering Takeaways</a:t>
            </a:r>
          </a:p>
        </p:txBody>
      </p:sp>
      <p:sp>
        <p:nvSpPr>
          <p:cNvPr id="13" name="TextBox 12"/>
          <p:cNvSpPr txBox="1"/>
          <p:nvPr/>
        </p:nvSpPr>
        <p:spPr>
          <a:xfrm>
            <a:off x="411479" y="1755648"/>
            <a:ext cx="5440680" cy="349300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1. RQ1 (Discovery &amp; Routing):</a:t>
            </a:r>
            <a:r>
              <a:rPr sz="1000" b="0" i="0">
                <a:solidFill>
                  <a:srgbClr val="1E2430"/>
                </a:solidFill>
                <a:latin typeface="Calibri"/>
              </a:rPr>
              <a:t> Truncating to opening user behavior (`M = 9` messages) and combining Gemini embeddings with 16 validated LLM behavioral ratings (`Blocks`) yields 3 stable archetypes (</a:t>
            </a:r>
            <a:r>
              <a:rPr sz="1000" b="1" i="0">
                <a:solidFill>
                  <a:srgbClr val="1E2430"/>
                </a:solidFill>
                <a:latin typeface="Calibri"/>
              </a:rPr>
              <a:t>ARI = .76</a:t>
            </a:r>
            <a:r>
              <a:rPr sz="1000" b="0" i="0">
                <a:solidFill>
                  <a:srgbClr val="1E2430"/>
                </a:solidFill>
                <a:latin typeface="Calibri"/>
              </a:rPr>
              <a:t>) and raises held-out prefix routing to </a:t>
            </a:r>
            <a:r>
              <a:rPr sz="1000" b="1" i="0">
                <a:solidFill>
                  <a:srgbClr val="1E2430"/>
                </a:solidFill>
                <a:latin typeface="Calibri"/>
              </a:rPr>
              <a:t>70.1% (M=5) and 97.3% (M=9, κ = .958)</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2. RQ2 (Style &amp; Pacing):</a:t>
            </a:r>
            <a:r>
              <a:rPr sz="1000" b="0" i="0">
                <a:solidFill>
                  <a:srgbClr val="1E2430"/>
                </a:solidFill>
                <a:latin typeface="Calibri"/>
              </a:rPr>
              <a:t> Contrasting Primary (</a:t>
            </a:r>
            <a:r>
              <a:rPr sz="1000" b="0" i="1">
                <a:solidFill>
                  <a:srgbClr val="1E2430"/>
                </a:solidFill>
                <a:latin typeface="Calibri"/>
              </a:rPr>
              <a:t>p</a:t>
            </a:r>
            <a:r>
              <a:rPr sz="1000" b="0" i="0">
                <a:solidFill>
                  <a:srgbClr val="1E2430"/>
                </a:solidFill>
                <a:latin typeface="Calibri"/>
              </a:rPr>
              <a:t> = .211) vs. Refined (</a:t>
            </a:r>
            <a:r>
              <a:rPr sz="1000" b="1" i="0">
                <a:solidFill>
                  <a:srgbClr val="1E2430"/>
                </a:solidFill>
                <a:latin typeface="Calibri"/>
              </a:rPr>
              <a:t>p &lt; .001, ηp² = .234</a:t>
            </a:r>
            <a:r>
              <a:rPr sz="1000" b="0" i="0">
                <a:solidFill>
                  <a:srgbClr val="1E2430"/>
                </a:solidFill>
                <a:latin typeface="Calibri"/>
              </a:rPr>
              <a:t>) archetypes proves that in-context style convergence (+31.8% over static, </a:t>
            </a:r>
            <a:r>
              <a:rPr sz="1000" b="0" i="1">
                <a:solidFill>
                  <a:srgbClr val="1E2430"/>
                </a:solidFill>
                <a:latin typeface="Calibri"/>
              </a:rPr>
              <a:t>d&lt;sub&gt;z&lt;/sub&gt;</a:t>
            </a:r>
            <a:r>
              <a:rPr sz="1000" b="0" i="0">
                <a:solidFill>
                  <a:srgbClr val="1E2430"/>
                </a:solidFill>
                <a:latin typeface="Calibri"/>
              </a:rPr>
              <a:t> = 0.74) and pacing calibration (</a:t>
            </a:r>
            <a:r>
              <a:rPr sz="1000" b="1" i="0">
                <a:solidFill>
                  <a:srgbClr val="1E2430"/>
                </a:solidFill>
                <a:latin typeface="Calibri"/>
              </a:rPr>
              <a:t>3.87w error</a:t>
            </a:r>
            <a:r>
              <a:rPr sz="1000" b="0" i="0">
                <a:solidFill>
                  <a:srgbClr val="1E2430"/>
                </a:solidFill>
                <a:latin typeface="Calibri"/>
              </a:rPr>
              <a:t>) succeed once upstream routing is coherent.</a:t>
            </a:r>
          </a:p>
          <a:p>
            <a:pPr>
              <a:spcAft>
                <a:spcPts val="400"/>
              </a:spcAft>
            </a:pPr>
            <a:r>
              <a:rPr sz="1000" b="0" i="0">
                <a:solidFill>
                  <a:srgbClr val="1E2430"/>
                </a:solidFill>
                <a:latin typeface="Calibri"/>
              </a:rPr>
              <a:t>• </a:t>
            </a:r>
            <a:r>
              <a:rPr sz="1000" b="1" i="0">
                <a:solidFill>
                  <a:srgbClr val="1E2430"/>
                </a:solidFill>
                <a:latin typeface="Calibri"/>
              </a:rPr>
              <a:t>3. RQ3 (Safety &amp; Guardrails):</a:t>
            </a:r>
            <a:r>
              <a:rPr sz="1000" b="0" i="0">
                <a:solidFill>
                  <a:srgbClr val="1E2430"/>
                </a:solidFill>
                <a:latin typeface="Calibri"/>
              </a:rPr>
              <a:t> Declarative rule verification eliminates the </a:t>
            </a:r>
            <a:r>
              <a:rPr sz="1000" b="1" i="0">
                <a:solidFill>
                  <a:srgbClr val="1E2430"/>
                </a:solidFill>
                <a:latin typeface="Calibri"/>
              </a:rPr>
              <a:t>35.9% entity leakage</a:t>
            </a:r>
            <a:r>
              <a:rPr sz="1000" b="0" i="0">
                <a:solidFill>
                  <a:srgbClr val="1E2430"/>
                </a:solidFill>
                <a:latin typeface="Calibri"/>
              </a:rPr>
              <a:t> of unguarded few-shot prompting down to </a:t>
            </a:r>
            <a:r>
              <a:rPr sz="1000" b="1" i="0">
                <a:solidFill>
                  <a:srgbClr val="1E2430"/>
                </a:solidFill>
                <a:latin typeface="Calibri"/>
              </a:rPr>
              <a:t>0.0% (Interaction F = 34.82, p &lt; .001)</a:t>
            </a:r>
            <a:r>
              <a:rPr sz="1000" b="0" i="0">
                <a:solidFill>
                  <a:srgbClr val="1E2430"/>
                </a:solidFill>
                <a:latin typeface="Calibri"/>
              </a:rPr>
              <a:t> while raising policy violation enforcement from </a:t>
            </a:r>
            <a:r>
              <a:rPr sz="1000" b="1" i="0">
                <a:solidFill>
                  <a:srgbClr val="1E2430"/>
                </a:solidFill>
                <a:latin typeface="Calibri"/>
              </a:rPr>
              <a:t>5.6% to 98.6%</a:t>
            </a:r>
            <a:r>
              <a:rPr sz="1000" b="0" i="0">
                <a:solidFill>
                  <a:srgbClr val="1E2430"/>
                </a:solidFill>
                <a:latin typeface="Calibri"/>
              </a:rPr>
              <a:t> and Slot F1 to </a:t>
            </a:r>
            <a:r>
              <a:rPr sz="1000" b="1" i="0">
                <a:solidFill>
                  <a:srgbClr val="1E2430"/>
                </a:solidFill>
                <a:latin typeface="Calibri"/>
              </a:rPr>
              <a:t>.952</a:t>
            </a:r>
            <a:r>
              <a:rPr sz="1000" b="0" i="0">
                <a:solidFill>
                  <a:srgbClr val="1E2430"/>
                </a:solidFill>
                <a:latin typeface="Calibri"/>
              </a:rPr>
              <a:t> (Dual-judge </a:t>
            </a:r>
            <a:r>
              <a:rPr sz="1000" b="1" i="0">
                <a:solidFill>
                  <a:srgbClr val="1E2430"/>
                </a:solidFill>
                <a:latin typeface="Calibri"/>
              </a:rPr>
              <a:t>κ = .917</a:t>
            </a:r>
            <a:r>
              <a:rPr sz="1000" b="0" i="0">
                <a:solidFill>
                  <a:srgbClr val="1E2430"/>
                </a:solidFill>
                <a:latin typeface="Calibri"/>
              </a:rPr>
              <a:t>).</a:t>
            </a:r>
          </a:p>
          <a:p>
            <a:pPr>
              <a:spcAft>
                <a:spcPts val="400"/>
              </a:spcAft>
            </a:pPr>
            <a:r>
              <a:rPr sz="1000" b="0" i="0">
                <a:solidFill>
                  <a:srgbClr val="1E2430"/>
                </a:solidFill>
                <a:latin typeface="Calibri"/>
              </a:rPr>
              <a:t>• </a:t>
            </a:r>
            <a:r>
              <a:rPr sz="1000" b="1" i="0">
                <a:solidFill>
                  <a:srgbClr val="1E2430"/>
                </a:solidFill>
                <a:latin typeface="Calibri"/>
              </a:rPr>
              <a:t>4. RQ4 (Turn Economy):</a:t>
            </a:r>
            <a:r>
              <a:rPr sz="1000" b="0" i="0">
                <a:solidFill>
                  <a:srgbClr val="1E2430"/>
                </a:solidFill>
                <a:latin typeface="Calibri"/>
              </a:rPr>
              <a:t> Archetype-adaptive policies + Verified Informed Slot Ledger compress multi-turn sessions by </a:t>
            </a:r>
            <a:r>
              <a:rPr sz="1000" b="1" i="0">
                <a:solidFill>
                  <a:srgbClr val="1E2430"/>
                </a:solidFill>
                <a:latin typeface="Calibri"/>
              </a:rPr>
              <a:t>29.5% to 42.7%</a:t>
            </a:r>
            <a:r>
              <a:rPr sz="1000" b="0" i="0">
                <a:solidFill>
                  <a:srgbClr val="1E2430"/>
                </a:solidFill>
                <a:latin typeface="Calibri"/>
              </a:rPr>
              <a:t> (</a:t>
            </a:r>
            <a:r>
              <a:rPr sz="1000" b="0" i="1">
                <a:solidFill>
                  <a:srgbClr val="1E2430"/>
                </a:solidFill>
                <a:latin typeface="Calibri"/>
              </a:rPr>
              <a:t>F</a:t>
            </a:r>
            <a:r>
              <a:rPr sz="1000" b="0" i="0">
                <a:solidFill>
                  <a:srgbClr val="1E2430"/>
                </a:solidFill>
                <a:latin typeface="Calibri"/>
              </a:rPr>
              <a:t> = 664.43, Interaction </a:t>
            </a:r>
            <a:r>
              <a:rPr sz="1000" b="0" i="1">
                <a:solidFill>
                  <a:srgbClr val="1E2430"/>
                </a:solidFill>
                <a:latin typeface="Calibri"/>
              </a:rPr>
              <a:t>F</a:t>
            </a:r>
            <a:r>
              <a:rPr sz="1000" b="0" i="0">
                <a:solidFill>
                  <a:srgbClr val="1E2430"/>
                </a:solidFill>
                <a:latin typeface="Calibri"/>
              </a:rPr>
              <a:t> = 10.89, </a:t>
            </a:r>
            <a:r>
              <a:rPr sz="1000" b="0" i="1">
                <a:solidFill>
                  <a:srgbClr val="1E2430"/>
                </a:solidFill>
                <a:latin typeface="Calibri"/>
              </a:rPr>
              <a:t>p</a:t>
            </a:r>
            <a:r>
              <a:rPr sz="1000" b="0" i="0">
                <a:solidFill>
                  <a:srgbClr val="1E2430"/>
                </a:solidFill>
                <a:latin typeface="Calibri"/>
              </a:rPr>
              <a:t> &lt; .001) and eliminate redundant slot questions (</a:t>
            </a:r>
            <a:r>
              <a:rPr sz="1000" b="1" i="0">
                <a:solidFill>
                  <a:srgbClr val="1E2430"/>
                </a:solidFill>
                <a:latin typeface="Calibri"/>
              </a:rPr>
              <a:t>RER .109 → .000</a:t>
            </a:r>
            <a:r>
              <a:rPr sz="1000" b="0" i="0">
                <a:solidFill>
                  <a:srgbClr val="1E2430"/>
                </a:solidFill>
                <a:latin typeface="Calibri"/>
              </a:rPr>
              <a:t>; Persona </a:t>
            </a:r>
            <a:r>
              <a:rPr sz="1000" b="1" i="0">
                <a:solidFill>
                  <a:srgbClr val="1E2430"/>
                </a:solidFill>
                <a:latin typeface="Calibri"/>
              </a:rPr>
              <a:t>κ = .933</a:t>
            </a:r>
            <a:r>
              <a:rPr sz="1000" b="0" i="0">
                <a:solidFill>
                  <a:srgbClr val="1E2430"/>
                </a:solidFill>
                <a:latin typeface="Calibri"/>
              </a:rPr>
              <a:t>).</a:t>
            </a:r>
          </a:p>
        </p:txBody>
      </p:sp>
      <p:sp>
        <p:nvSpPr>
          <p:cNvPr id="14" name="Rounded Rectangle 13"/>
          <p:cNvSpPr/>
          <p:nvPr/>
        </p:nvSpPr>
        <p:spPr>
          <a:xfrm>
            <a:off x="6217920" y="1371600"/>
            <a:ext cx="5650992" cy="3931920"/>
          </a:xfrm>
          <a:prstGeom prst="roundRect">
            <a:avLst>
              <a:gd name="adj" fmla="val 2000"/>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371600"/>
            <a:ext cx="5650992" cy="329184"/>
          </a:xfrm>
          <a:prstGeom prst="roundRect">
            <a:avLst>
              <a:gd name="adj" fmla="val 2000"/>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300" b="1" i="0">
                <a:solidFill>
                  <a:srgbClr val="FFFFFF"/>
                </a:solidFill>
                <a:latin typeface="Calibri"/>
              </a:rPr>
              <a:t>Complete Reproducibility &amp; Artifact Inventory</a:t>
            </a:r>
          </a:p>
        </p:txBody>
      </p:sp>
      <p:sp>
        <p:nvSpPr>
          <p:cNvPr id="16" name="TextBox 15"/>
          <p:cNvSpPr txBox="1"/>
          <p:nvPr/>
        </p:nvSpPr>
        <p:spPr>
          <a:xfrm>
            <a:off x="6309359" y="1755648"/>
            <a:ext cx="5468112" cy="3493008"/>
          </a:xfrm>
          <a:prstGeom prst="rect">
            <a:avLst/>
          </a:prstGeom>
          <a:noFill/>
        </p:spPr>
        <p:txBody>
          <a:bodyPr wrap="square" lIns="36576" rIns="36576" tIns="18288" bIns="18288">
            <a:spAutoFit/>
          </a:bodyPr>
          <a:lstStyle/>
          <a:p>
            <a:pPr>
              <a:spcAft>
                <a:spcPts val="400"/>
              </a:spcAft>
            </a:pPr>
            <a:r>
              <a:rPr sz="1000" b="0" i="0">
                <a:solidFill>
                  <a:srgbClr val="1E2430"/>
                </a:solidFill>
                <a:latin typeface="Calibri"/>
              </a:rPr>
              <a:t>• </a:t>
            </a:r>
            <a:r>
              <a:rPr sz="1000" b="1" i="0">
                <a:solidFill>
                  <a:srgbClr val="1E2430"/>
                </a:solidFill>
                <a:latin typeface="Calibri"/>
              </a:rPr>
              <a:t>GitHub Repository:</a:t>
            </a:r>
            <a:r>
              <a:rPr sz="1000" b="0" i="0">
                <a:solidFill>
                  <a:srgbClr val="1E2430"/>
                </a:solidFill>
                <a:latin typeface="Calibri"/>
              </a:rPr>
              <a:t> https://github.com/surnella/QM640-Dialogue-Clustering-Capstone</a:t>
            </a:r>
          </a:p>
          <a:p>
            <a:pPr>
              <a:spcAft>
                <a:spcPts val="400"/>
              </a:spcAft>
            </a:pPr>
            <a:r>
              <a:rPr sz="1000" b="0" i="0">
                <a:solidFill>
                  <a:srgbClr val="1E2430"/>
                </a:solidFill>
                <a:latin typeface="Calibri"/>
              </a:rPr>
              <a:t>• </a:t>
            </a:r>
            <a:r>
              <a:rPr sz="1000" b="1" i="0">
                <a:solidFill>
                  <a:srgbClr val="1E2430"/>
                </a:solidFill>
                <a:latin typeface="Calibri"/>
              </a:rPr>
              <a:t>Final Report Deliverables:</a:t>
            </a:r>
          </a:p>
          <a:p>
            <a:pPr>
              <a:spcAft>
                <a:spcPts val="400"/>
              </a:spcAft>
            </a:pPr>
            <a:r>
              <a:rPr sz="1000" b="0" i="0">
                <a:solidFill>
                  <a:srgbClr val="1E2430"/>
                </a:solidFill>
                <a:latin typeface="Calibri"/>
              </a:rPr>
              <a:t>    ▪ `final/QM_640_Final_Report_Sandeep_Surnella.docx` &amp; `.pdf` (30 Core Report pages; 52 total pages; 104 verified cross-references; 26 APA 7 references).</a:t>
            </a:r>
          </a:p>
          <a:p>
            <a:pPr>
              <a:spcAft>
                <a:spcPts val="400"/>
              </a:spcAft>
            </a:pPr>
            <a:r>
              <a:rPr sz="1000" b="0" i="0">
                <a:solidFill>
                  <a:srgbClr val="1E2430"/>
                </a:solidFill>
                <a:latin typeface="Calibri"/>
              </a:rPr>
              <a:t>• </a:t>
            </a:r>
            <a:r>
              <a:rPr sz="1000" b="1" i="0">
                <a:solidFill>
                  <a:srgbClr val="1E2430"/>
                </a:solidFill>
                <a:latin typeface="Calibri"/>
              </a:rPr>
              <a:t>Empirical Codebase &amp; Cached Data:</a:t>
            </a:r>
          </a:p>
          <a:p>
            <a:pPr>
              <a:spcAft>
                <a:spcPts val="400"/>
              </a:spcAft>
            </a:pPr>
            <a:r>
              <a:rPr sz="1000" b="0" i="0">
                <a:solidFill>
                  <a:srgbClr val="1E2430"/>
                </a:solidFill>
                <a:latin typeface="Calibri"/>
              </a:rPr>
              <a:t>    ▪ `src/interim_pipeline/` (Steps 0–4 &amp; sensitivity Steps 2b–2i)</a:t>
            </a:r>
          </a:p>
          <a:p>
            <a:pPr>
              <a:spcAft>
                <a:spcPts val="400"/>
              </a:spcAft>
            </a:pPr>
            <a:r>
              <a:rPr sz="1000" b="0" i="0">
                <a:solidFill>
                  <a:srgbClr val="1E2430"/>
                </a:solidFill>
                <a:latin typeface="Calibri"/>
              </a:rPr>
              <a:t>    ▪ `src/final_pipeline/` (`common_llm.py`, `routing.py`, `metrics.py`, `step2_rq2_refined.py`, `step3_rq3_experiment.py`, `step4_rq4_simulation.py`, `step5_figures_and_eda.py`)</a:t>
            </a:r>
          </a:p>
          <a:p>
            <a:pPr>
              <a:spcAft>
                <a:spcPts val="400"/>
              </a:spcAft>
            </a:pPr>
            <a:r>
              <a:rPr sz="1000" b="0" i="0">
                <a:solidFill>
                  <a:srgbClr val="1E2430"/>
                </a:solidFill>
                <a:latin typeface="Calibri"/>
              </a:rPr>
              <a:t>    ▪ `notebooks/01_..` to `05_..` (5 executed Jupyter notebooks)</a:t>
            </a:r>
          </a:p>
          <a:p>
            <a:pPr>
              <a:spcAft>
                <a:spcPts val="400"/>
              </a:spcAft>
            </a:pPr>
            <a:r>
              <a:rPr sz="1000" b="0" i="0">
                <a:solidFill>
                  <a:srgbClr val="1E2430"/>
                </a:solidFill>
                <a:latin typeface="Calibri"/>
              </a:rPr>
              <a:t>    ▪ `data/interim/` &amp; `data/final/` (100% cached JSONL responses — full offline replication in &lt; 4 minutes with seed = 42).</a:t>
            </a:r>
          </a:p>
        </p:txBody>
      </p:sp>
      <p:sp>
        <p:nvSpPr>
          <p:cNvPr id="17" name="Rounded Rectangle 16"/>
          <p:cNvSpPr/>
          <p:nvPr/>
        </p:nvSpPr>
        <p:spPr>
          <a:xfrm>
            <a:off x="320040" y="5440680"/>
            <a:ext cx="11548872" cy="1005840"/>
          </a:xfrm>
          <a:prstGeom prst="roundRect">
            <a:avLst>
              <a:gd name="adj" fmla="val 4000"/>
            </a:avLst>
          </a:prstGeom>
          <a:solidFill>
            <a:srgbClr val="FEF8E8"/>
          </a:solidFill>
          <a:ln w="19050">
            <a:solidFill>
              <a:srgbClr val="C58B1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r>
              <a:rPr sz="1300" b="1" i="0">
                <a:solidFill>
                  <a:srgbClr val="1E2430"/>
                </a:solidFill>
                <a:latin typeface="Calibri"/>
              </a:rPr>
              <a:t>Thank You — Open Floor for Defense Committee Questions</a:t>
            </a:r>
            <a:r>
              <a:rPr sz="1300" b="0" i="0">
                <a:solidFill>
                  <a:srgbClr val="1E2430"/>
                </a:solidFill>
                <a:latin typeface="Calibri"/>
              </a:rPr>
              <a:t>
</a:t>
            </a:r>
            <a:r>
              <a:rPr sz="1300" b="0" i="1">
                <a:solidFill>
                  <a:srgbClr val="1E2430"/>
                </a:solidFill>
                <a:latin typeface="Calibri"/>
              </a:rPr>
              <a:t>Surnella Sandeep  |  Department of Data Analytics, Walsh College  |  QM640: Data Analytics Capstone  |  Mentor: Mr. Smitraj Raut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